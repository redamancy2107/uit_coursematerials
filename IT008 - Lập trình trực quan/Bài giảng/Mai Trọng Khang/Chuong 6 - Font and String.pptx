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  <p:sldMasterId id="2147483678" r:id="rId2"/>
  </p:sldMasterIdLst>
  <p:notesMasterIdLst>
    <p:notesMasterId r:id="rId121"/>
  </p:notesMasterIdLst>
  <p:sldIdLst>
    <p:sldId id="413" r:id="rId3"/>
    <p:sldId id="414" r:id="rId4"/>
    <p:sldId id="425" r:id="rId5"/>
    <p:sldId id="307" r:id="rId6"/>
    <p:sldId id="308" r:id="rId7"/>
    <p:sldId id="376" r:id="rId8"/>
    <p:sldId id="424" r:id="rId9"/>
    <p:sldId id="363" r:id="rId10"/>
    <p:sldId id="257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0"/>
    <p:sldId id="272" r:id="rId21"/>
    <p:sldId id="273" r:id="rId22"/>
    <p:sldId id="364" r:id="rId23"/>
    <p:sldId id="270" r:id="rId24"/>
    <p:sldId id="377" r:id="rId25"/>
    <p:sldId id="378" r:id="rId26"/>
    <p:sldId id="281" r:id="rId27"/>
    <p:sldId id="379" r:id="rId28"/>
    <p:sldId id="313" r:id="rId29"/>
    <p:sldId id="417" r:id="rId30"/>
    <p:sldId id="418" r:id="rId31"/>
    <p:sldId id="420" r:id="rId32"/>
    <p:sldId id="314" r:id="rId33"/>
    <p:sldId id="416" r:id="rId34"/>
    <p:sldId id="380" r:id="rId35"/>
    <p:sldId id="382" r:id="rId36"/>
    <p:sldId id="381" r:id="rId37"/>
    <p:sldId id="383" r:id="rId38"/>
    <p:sldId id="332" r:id="rId39"/>
    <p:sldId id="365" r:id="rId40"/>
    <p:sldId id="293" r:id="rId41"/>
    <p:sldId id="294" r:id="rId42"/>
    <p:sldId id="296" r:id="rId43"/>
    <p:sldId id="315" r:id="rId44"/>
    <p:sldId id="384" r:id="rId45"/>
    <p:sldId id="387" r:id="rId46"/>
    <p:sldId id="386" r:id="rId47"/>
    <p:sldId id="388" r:id="rId48"/>
    <p:sldId id="286" r:id="rId49"/>
    <p:sldId id="287" r:id="rId50"/>
    <p:sldId id="421" r:id="rId51"/>
    <p:sldId id="338" r:id="rId52"/>
    <p:sldId id="357" r:id="rId53"/>
    <p:sldId id="339" r:id="rId54"/>
    <p:sldId id="340" r:id="rId55"/>
    <p:sldId id="358" r:id="rId56"/>
    <p:sldId id="359" r:id="rId57"/>
    <p:sldId id="423" r:id="rId58"/>
    <p:sldId id="403" r:id="rId59"/>
    <p:sldId id="399" r:id="rId60"/>
    <p:sldId id="400" r:id="rId61"/>
    <p:sldId id="360" r:id="rId62"/>
    <p:sldId id="401" r:id="rId63"/>
    <p:sldId id="374" r:id="rId64"/>
    <p:sldId id="375" r:id="rId65"/>
    <p:sldId id="422" r:id="rId66"/>
    <p:sldId id="426" r:id="rId67"/>
    <p:sldId id="404" r:id="rId68"/>
    <p:sldId id="348" r:id="rId69"/>
    <p:sldId id="346" r:id="rId70"/>
    <p:sldId id="347" r:id="rId71"/>
    <p:sldId id="373" r:id="rId72"/>
    <p:sldId id="350" r:id="rId73"/>
    <p:sldId id="356" r:id="rId74"/>
    <p:sldId id="351" r:id="rId75"/>
    <p:sldId id="352" r:id="rId76"/>
    <p:sldId id="353" r:id="rId77"/>
    <p:sldId id="354" r:id="rId78"/>
    <p:sldId id="355" r:id="rId79"/>
    <p:sldId id="366" r:id="rId80"/>
    <p:sldId id="318" r:id="rId81"/>
    <p:sldId id="390" r:id="rId82"/>
    <p:sldId id="317" r:id="rId83"/>
    <p:sldId id="320" r:id="rId84"/>
    <p:sldId id="391" r:id="rId85"/>
    <p:sldId id="392" r:id="rId86"/>
    <p:sldId id="321" r:id="rId87"/>
    <p:sldId id="393" r:id="rId88"/>
    <p:sldId id="434" r:id="rId89"/>
    <p:sldId id="435" r:id="rId90"/>
    <p:sldId id="436" r:id="rId91"/>
    <p:sldId id="319" r:id="rId92"/>
    <p:sldId id="394" r:id="rId93"/>
    <p:sldId id="396" r:id="rId94"/>
    <p:sldId id="397" r:id="rId95"/>
    <p:sldId id="395" r:id="rId96"/>
    <p:sldId id="324" r:id="rId97"/>
    <p:sldId id="325" r:id="rId98"/>
    <p:sldId id="406" r:id="rId99"/>
    <p:sldId id="407" r:id="rId100"/>
    <p:sldId id="408" r:id="rId101"/>
    <p:sldId id="367" r:id="rId102"/>
    <p:sldId id="336" r:id="rId103"/>
    <p:sldId id="337" r:id="rId104"/>
    <p:sldId id="402" r:id="rId105"/>
    <p:sldId id="326" r:id="rId106"/>
    <p:sldId id="427" r:id="rId107"/>
    <p:sldId id="428" r:id="rId108"/>
    <p:sldId id="429" r:id="rId109"/>
    <p:sldId id="430" r:id="rId110"/>
    <p:sldId id="431" r:id="rId111"/>
    <p:sldId id="432" r:id="rId112"/>
    <p:sldId id="433" r:id="rId113"/>
    <p:sldId id="327" r:id="rId114"/>
    <p:sldId id="329" r:id="rId115"/>
    <p:sldId id="330" r:id="rId116"/>
    <p:sldId id="328" r:id="rId117"/>
    <p:sldId id="331" r:id="rId118"/>
    <p:sldId id="341" r:id="rId119"/>
    <p:sldId id="342" r:id="rId1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FF"/>
    <a:srgbClr val="DDDDDD"/>
    <a:srgbClr val="C0C0C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53" autoAdjust="0"/>
    <p:restoredTop sz="94721" autoAdjust="0"/>
  </p:normalViewPr>
  <p:slideViewPr>
    <p:cSldViewPr>
      <p:cViewPr varScale="1">
        <p:scale>
          <a:sx n="108" d="100"/>
          <a:sy n="108" d="100"/>
        </p:scale>
        <p:origin x="38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viewProps" Target="viewProp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theme" Target="theme/theme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8EB1F-3CF8-42E6-95DC-CC00064D2325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D6F1F-5C65-4109-83E1-C1E8E72FBF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Serif fonts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have small lines or strokes (serifs) at the ends of letters, making them feel traditional and good for long blocks of text in print.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Sans-serif fonts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meaning "without serif," are plain and modern-looking, ideal for headings and web pages.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Monospace fonts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 a separate category where every character takes up the exact same amount of horizontal space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3D6F1F-5C65-4109-83E1-C1E8E72FBF81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45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TextRenderingHint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D6F1F-5C65-4109-83E1-C1E8E72FBF81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4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use a </a:t>
            </a:r>
            <a:r>
              <a:rPr lang="en-US" dirty="0"/>
              <a:t>Graphics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object’s </a:t>
            </a:r>
            <a:r>
              <a:rPr lang="en-US" dirty="0" err="1"/>
              <a:t>DrawString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to draw text, you can set the its </a:t>
            </a:r>
            <a:r>
              <a:rPr lang="en-US" dirty="0" err="1"/>
              <a:t>TextRenderingHint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property to tell it what method to use when drawing the text. Often the value </a:t>
            </a:r>
            <a:r>
              <a:rPr lang="en-US" dirty="0" err="1"/>
              <a:t>AntiAliasGridFit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produces a nice result efficiently. For small font sizes, however, the grid fitting techniques mess up the anti-aliasing algorithm and produce a terrible result, as shown in the picture above.</a:t>
            </a:r>
            <a:endParaRPr lang="en-US" dirty="0"/>
          </a:p>
          <a:p>
            <a:r>
              <a:rPr lang="en-US" dirty="0" err="1"/>
              <a:t>AntiAlias</a:t>
            </a:r>
            <a:r>
              <a:rPr lang="en-US" dirty="0"/>
              <a:t> : </a:t>
            </a:r>
            <a:r>
              <a:rPr lang="en-US" dirty="0" err="1"/>
              <a:t>Khử</a:t>
            </a:r>
            <a:r>
              <a:rPr lang="en-US" baseline="0" dirty="0"/>
              <a:t> </a:t>
            </a:r>
            <a:r>
              <a:rPr lang="en-US" baseline="0" dirty="0" err="1"/>
              <a:t>răng</a:t>
            </a:r>
            <a:r>
              <a:rPr lang="en-US" baseline="0" dirty="0"/>
              <a:t> </a:t>
            </a:r>
            <a:r>
              <a:rPr lang="en-US" baseline="0" dirty="0" err="1"/>
              <a:t>cưa</a:t>
            </a:r>
            <a:endParaRPr lang="en-US" baseline="0" dirty="0"/>
          </a:p>
          <a:p>
            <a:r>
              <a:rPr lang="en-US" baseline="0" dirty="0" err="1"/>
              <a:t>AntiAliasGridFit</a:t>
            </a:r>
            <a:r>
              <a:rPr lang="en-US" baseline="0" dirty="0"/>
              <a:t> : </a:t>
            </a:r>
            <a:r>
              <a:rPr lang="en-US" baseline="0" dirty="0" err="1"/>
              <a:t>Chất</a:t>
            </a:r>
            <a:r>
              <a:rPr lang="en-US" baseline="0" dirty="0"/>
              <a:t> </a:t>
            </a:r>
            <a:r>
              <a:rPr lang="en-US" baseline="0" dirty="0" err="1"/>
              <a:t>lượng</a:t>
            </a:r>
            <a:r>
              <a:rPr lang="en-US" baseline="0" dirty="0"/>
              <a:t> </a:t>
            </a:r>
            <a:r>
              <a:rPr lang="en-US" baseline="0" dirty="0" err="1"/>
              <a:t>tốt</a:t>
            </a:r>
            <a:r>
              <a:rPr lang="en-US" baseline="0" dirty="0"/>
              <a:t> </a:t>
            </a:r>
            <a:r>
              <a:rPr lang="en-US" baseline="0" dirty="0" err="1"/>
              <a:t>nhất</a:t>
            </a:r>
            <a:r>
              <a:rPr lang="en-US" baseline="0" dirty="0"/>
              <a:t>, </a:t>
            </a:r>
            <a:r>
              <a:rPr lang="en-US" baseline="0" dirty="0" err="1"/>
              <a:t>nhưng</a:t>
            </a:r>
            <a:r>
              <a:rPr lang="en-US" baseline="0" dirty="0"/>
              <a:t> </a:t>
            </a:r>
            <a:r>
              <a:rPr lang="en-US" baseline="0" dirty="0" err="1"/>
              <a:t>với</a:t>
            </a:r>
            <a:r>
              <a:rPr lang="en-US" baseline="0" dirty="0"/>
              <a:t> font </a:t>
            </a:r>
            <a:r>
              <a:rPr lang="en-US" baseline="0" dirty="0" err="1"/>
              <a:t>chữ</a:t>
            </a:r>
            <a:r>
              <a:rPr lang="en-US" baseline="0" dirty="0"/>
              <a:t> </a:t>
            </a:r>
            <a:r>
              <a:rPr lang="en-US" baseline="0" dirty="0" err="1"/>
              <a:t>nhỏ</a:t>
            </a:r>
            <a:r>
              <a:rPr lang="en-US" baseline="0" dirty="0"/>
              <a:t> </a:t>
            </a:r>
            <a:r>
              <a:rPr lang="en-US" baseline="0" dirty="0" err="1"/>
              <a:t>sẽ</a:t>
            </a:r>
            <a:r>
              <a:rPr lang="en-US" baseline="0" dirty="0"/>
              <a:t>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ra</a:t>
            </a:r>
            <a:r>
              <a:rPr lang="en-US" baseline="0" dirty="0"/>
              <a:t> </a:t>
            </a:r>
            <a:r>
              <a:rPr lang="en-US" baseline="0" dirty="0" err="1"/>
              <a:t>kết</a:t>
            </a:r>
            <a:r>
              <a:rPr lang="en-US" baseline="0" dirty="0"/>
              <a:t> </a:t>
            </a:r>
            <a:r>
              <a:rPr lang="en-US" baseline="0" dirty="0" err="1"/>
              <a:t>quả</a:t>
            </a:r>
            <a:r>
              <a:rPr lang="en-US" baseline="0" dirty="0"/>
              <a:t> </a:t>
            </a:r>
            <a:r>
              <a:rPr lang="en-US" baseline="0" dirty="0" err="1"/>
              <a:t>tệ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D6F1F-5C65-4109-83E1-C1E8E72FBF81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16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D6F1F-5C65-4109-83E1-C1E8E72FBF81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37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graphical user interface, a hot key is the underlined letter in a word (usually combined with another key, such as the Alt key) that you can press on the keyboard to activate the functionality that the word represents.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D6F1F-5C65-4109-83E1-C1E8E72FBF81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7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F33054-9027-418E-8F6C-D5251F19870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2C53-DA0A-4667-94D1-A8484CDFEFA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6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>
            <a:lvl1pPr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9E5FC-F9EF-447E-BAE0-5A45D3D8B6F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11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3F142C-1B7D-4B1D-9AA6-DEF35B502721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E41FA7-F0C1-4E8F-9899-177C23133F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4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332DE2-1F85-45E7-9450-CF535D55E58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26C76C-6787-428A-B26F-67D0CD3CBF3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5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7A7A9C-FCC8-4D33-8264-8679FE49B79B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697023-C70A-498A-B23D-ECBA1CE40F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1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D5232B-4486-44A9-9B1D-4F5D67A779EE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7825AE-C80E-4E57-BE08-1B5471A057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6E8CFF-54C5-4B22-9965-0DD0E9EF4C5D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FC49D1-B2C5-4409-ADC7-0BD0EE3BA8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Times New Roman" pitchFamily="18" charset="0"/>
                <a:cs typeface="Times New Roman" pitchFamily="18" charset="0"/>
              </a:defRPr>
            </a:lvl1pPr>
            <a:lvl2pPr>
              <a:defRPr sz="2800">
                <a:latin typeface="Times New Roman" pitchFamily="18" charset="0"/>
                <a:cs typeface="Times New Roman" pitchFamily="18" charset="0"/>
              </a:defRPr>
            </a:lvl2pPr>
            <a:lvl3pPr>
              <a:defRPr sz="2400">
                <a:latin typeface="Times New Roman" pitchFamily="18" charset="0"/>
                <a:cs typeface="Times New Roman" pitchFamily="18" charset="0"/>
              </a:defRPr>
            </a:lvl3pPr>
            <a:lvl4pPr>
              <a:defRPr sz="2000">
                <a:latin typeface="Times New Roman" pitchFamily="18" charset="0"/>
                <a:cs typeface="Times New Roman" pitchFamily="18" charset="0"/>
              </a:defRPr>
            </a:lvl4pPr>
            <a:lvl5pPr>
              <a:defRPr sz="2000">
                <a:latin typeface="Times New Roman" pitchFamily="18" charset="0"/>
                <a:cs typeface="Times New Roman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79872868-50F5-4933-8CC4-99413DF8F1B4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E66D7FE2-92CF-4DA2-ABC8-DF2AE14BCE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5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C71302A1-E3DC-42A4-AE21-82A58F92E451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75F6698E-FB8E-4DF6-AA49-6922EECA29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6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E57F7934-45BC-4691-BEFE-A0AA5F02D6B5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FB1C06C8-FA2B-48FF-A9F0-085353E0D96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33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9CAE6258-B68B-4A0F-8056-23A3BC6581C0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33C5E661-E528-4966-854F-1EDAAA0D86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77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7688"/>
            <a:ext cx="7391400" cy="563562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338263"/>
            <a:ext cx="8229600" cy="50927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81800" y="269875"/>
            <a:ext cx="2133600" cy="246063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4F857678-8148-4B7D-A673-E68426E4D118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91200" y="6530975"/>
            <a:ext cx="2895600" cy="276225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5200" y="6553200"/>
            <a:ext cx="2133600" cy="2540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6A5C3CF0-2F1B-4381-B14B-6F5BEAC02E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16EF4-A273-4E5D-A1AD-2E7AB2B18BB4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5B3A1EE-D76C-44DA-8A62-F032FF4FAE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67DF3-8FDB-45B8-9A7A-512A022181C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A8C08B6-DBBF-418E-9670-E4C2EBFC93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Document 6"/>
          <p:cNvSpPr/>
          <p:nvPr/>
        </p:nvSpPr>
        <p:spPr>
          <a:xfrm rot="10800000">
            <a:off x="1" y="1520731"/>
            <a:ext cx="9144000" cy="3435579"/>
          </a:xfrm>
          <a:custGeom>
            <a:avLst/>
            <a:gdLst>
              <a:gd name="connsiteX0" fmla="*/ 0 w 21600"/>
              <a:gd name="connsiteY0" fmla="*/ 0 h 18805"/>
              <a:gd name="connsiteX1" fmla="*/ 21600 w 21600"/>
              <a:gd name="connsiteY1" fmla="*/ 0 h 18805"/>
              <a:gd name="connsiteX2" fmla="*/ 21600 w 21600"/>
              <a:gd name="connsiteY2" fmla="*/ 17322 h 18805"/>
              <a:gd name="connsiteX3" fmla="*/ 0 w 21600"/>
              <a:gd name="connsiteY3" fmla="*/ 18805 h 18805"/>
              <a:gd name="connsiteX4" fmla="*/ 0 w 21600"/>
              <a:gd name="connsiteY4" fmla="*/ 0 h 18805"/>
              <a:gd name="connsiteX0" fmla="*/ 0 w 21600"/>
              <a:gd name="connsiteY0" fmla="*/ 0 h 18805"/>
              <a:gd name="connsiteX1" fmla="*/ 21600 w 21600"/>
              <a:gd name="connsiteY1" fmla="*/ 0 h 18805"/>
              <a:gd name="connsiteX2" fmla="*/ 21600 w 21600"/>
              <a:gd name="connsiteY2" fmla="*/ 17322 h 18805"/>
              <a:gd name="connsiteX3" fmla="*/ 0 w 21600"/>
              <a:gd name="connsiteY3" fmla="*/ 18805 h 18805"/>
              <a:gd name="connsiteX4" fmla="*/ 0 w 21600"/>
              <a:gd name="connsiteY4" fmla="*/ 0 h 18805"/>
              <a:gd name="connsiteX0" fmla="*/ 0 w 21600"/>
              <a:gd name="connsiteY0" fmla="*/ 0 h 18916"/>
              <a:gd name="connsiteX1" fmla="*/ 21600 w 21600"/>
              <a:gd name="connsiteY1" fmla="*/ 0 h 18916"/>
              <a:gd name="connsiteX2" fmla="*/ 21600 w 21600"/>
              <a:gd name="connsiteY2" fmla="*/ 17322 h 18916"/>
              <a:gd name="connsiteX3" fmla="*/ 0 w 21600"/>
              <a:gd name="connsiteY3" fmla="*/ 18916 h 18916"/>
              <a:gd name="connsiteX4" fmla="*/ 0 w 21600"/>
              <a:gd name="connsiteY4" fmla="*/ 0 h 18916"/>
              <a:gd name="connsiteX0" fmla="*/ 0 w 21600"/>
              <a:gd name="connsiteY0" fmla="*/ 0 h 18916"/>
              <a:gd name="connsiteX1" fmla="*/ 21600 w 21600"/>
              <a:gd name="connsiteY1" fmla="*/ 0 h 18916"/>
              <a:gd name="connsiteX2" fmla="*/ 21600 w 21600"/>
              <a:gd name="connsiteY2" fmla="*/ 17322 h 18916"/>
              <a:gd name="connsiteX3" fmla="*/ 0 w 21600"/>
              <a:gd name="connsiteY3" fmla="*/ 18916 h 18916"/>
              <a:gd name="connsiteX4" fmla="*/ 0 w 21600"/>
              <a:gd name="connsiteY4" fmla="*/ 0 h 18916"/>
              <a:gd name="connsiteX0" fmla="*/ 0 w 21600"/>
              <a:gd name="connsiteY0" fmla="*/ 0 h 18916"/>
              <a:gd name="connsiteX1" fmla="*/ 21600 w 21600"/>
              <a:gd name="connsiteY1" fmla="*/ 0 h 18916"/>
              <a:gd name="connsiteX2" fmla="*/ 21600 w 21600"/>
              <a:gd name="connsiteY2" fmla="*/ 17322 h 18916"/>
              <a:gd name="connsiteX3" fmla="*/ 0 w 21600"/>
              <a:gd name="connsiteY3" fmla="*/ 18916 h 18916"/>
              <a:gd name="connsiteX4" fmla="*/ 0 w 21600"/>
              <a:gd name="connsiteY4" fmla="*/ 0 h 18916"/>
              <a:gd name="connsiteX0" fmla="*/ 0 w 21600"/>
              <a:gd name="connsiteY0" fmla="*/ 0 h 19355"/>
              <a:gd name="connsiteX1" fmla="*/ 21600 w 21600"/>
              <a:gd name="connsiteY1" fmla="*/ 0 h 19355"/>
              <a:gd name="connsiteX2" fmla="*/ 21600 w 21600"/>
              <a:gd name="connsiteY2" fmla="*/ 17322 h 19355"/>
              <a:gd name="connsiteX3" fmla="*/ 0 w 21600"/>
              <a:gd name="connsiteY3" fmla="*/ 19355 h 19355"/>
              <a:gd name="connsiteX4" fmla="*/ 0 w 21600"/>
              <a:gd name="connsiteY4" fmla="*/ 0 h 19355"/>
              <a:gd name="connsiteX0" fmla="*/ 0 w 21600"/>
              <a:gd name="connsiteY0" fmla="*/ 0 h 19355"/>
              <a:gd name="connsiteX1" fmla="*/ 21600 w 21600"/>
              <a:gd name="connsiteY1" fmla="*/ 0 h 19355"/>
              <a:gd name="connsiteX2" fmla="*/ 21600 w 21600"/>
              <a:gd name="connsiteY2" fmla="*/ 17322 h 19355"/>
              <a:gd name="connsiteX3" fmla="*/ 0 w 21600"/>
              <a:gd name="connsiteY3" fmla="*/ 19355 h 19355"/>
              <a:gd name="connsiteX4" fmla="*/ 0 w 21600"/>
              <a:gd name="connsiteY4" fmla="*/ 0 h 19355"/>
              <a:gd name="connsiteX0" fmla="*/ 0 w 21600"/>
              <a:gd name="connsiteY0" fmla="*/ 0 h 19794"/>
              <a:gd name="connsiteX1" fmla="*/ 21600 w 21600"/>
              <a:gd name="connsiteY1" fmla="*/ 0 h 19794"/>
              <a:gd name="connsiteX2" fmla="*/ 21600 w 21600"/>
              <a:gd name="connsiteY2" fmla="*/ 17322 h 19794"/>
              <a:gd name="connsiteX3" fmla="*/ 0 w 21600"/>
              <a:gd name="connsiteY3" fmla="*/ 19794 h 19794"/>
              <a:gd name="connsiteX4" fmla="*/ 0 w 21600"/>
              <a:gd name="connsiteY4" fmla="*/ 0 h 19794"/>
              <a:gd name="connsiteX0" fmla="*/ 0 w 21600"/>
              <a:gd name="connsiteY0" fmla="*/ 0 h 19794"/>
              <a:gd name="connsiteX1" fmla="*/ 21600 w 21600"/>
              <a:gd name="connsiteY1" fmla="*/ 0 h 19794"/>
              <a:gd name="connsiteX2" fmla="*/ 21600 w 21600"/>
              <a:gd name="connsiteY2" fmla="*/ 17322 h 19794"/>
              <a:gd name="connsiteX3" fmla="*/ 0 w 21600"/>
              <a:gd name="connsiteY3" fmla="*/ 19794 h 19794"/>
              <a:gd name="connsiteX4" fmla="*/ 0 w 21600"/>
              <a:gd name="connsiteY4" fmla="*/ 0 h 19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19794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7466" y="25350"/>
                  <a:pt x="0" y="1979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2">
                  <a:tint val="28000"/>
                  <a:satMod val="2000000"/>
                  <a:alpha val="30000"/>
                </a:schemeClr>
              </a:gs>
              <a:gs pos="35000">
                <a:schemeClr val="bg2">
                  <a:shade val="100000"/>
                  <a:satMod val="600000"/>
                  <a:alpha val="0"/>
                </a:schemeClr>
              </a:gs>
            </a:gsLst>
            <a:lin ang="54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02920" y="2775745"/>
            <a:ext cx="8229600" cy="2167128"/>
          </a:xfrm>
        </p:spPr>
        <p:txBody>
          <a:bodyPr tIns="0" bIns="0" anchor="t"/>
          <a:lstStyle>
            <a:lvl1pPr>
              <a:defRPr sz="5000" cap="all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5000" endPos="49000" dist="5000" dir="5400000" sy="-100000" algn="bl" rotWithShape="0"/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00064" y="1559720"/>
            <a:ext cx="5105400" cy="1219200"/>
          </a:xfrm>
        </p:spPr>
        <p:txBody>
          <a:bodyPr lIns="0" tIns="0" rIns="0" bIns="0" anchor="b"/>
          <a:lstStyle>
            <a:lvl1pPr marL="0" indent="0" algn="l">
              <a:buNone/>
              <a:defRPr sz="19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0EC42B-6D2D-4393-8D7F-59308AA91CE8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7AE3CE-19B0-41A3-9898-AD2CAB2CBF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9ACEC-4E53-4F9E-B036-FFA4F9C8A670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8F6725-D91E-415D-8720-601CB0D1C0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990600"/>
            <a:ext cx="7772400" cy="1362456"/>
          </a:xfrm>
        </p:spPr>
        <p:txBody>
          <a:bodyPr>
            <a:noAutofit/>
          </a:bodyPr>
          <a:lstStyle>
            <a:lvl1pPr algn="l">
              <a:buNone/>
              <a:defRPr sz="48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352677"/>
            <a:ext cx="7772400" cy="1509712"/>
          </a:xfrm>
        </p:spPr>
        <p:txBody>
          <a:bodyPr anchor="t"/>
          <a:lstStyle>
            <a:lvl1pPr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38EFB1-E674-4BBE-8D61-3A3DC02117A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3B05DB-05E0-495B-9FE8-50827FBAF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 tIns="9144" bIns="9144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99800"/>
            <a:ext cx="4038600" cy="4160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9800"/>
            <a:ext cx="4038600" cy="4160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9CCAAF-BEAE-45BF-AB85-ACDC41D10881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067D40-E70C-4449-B62D-AE0A00997EC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 tIns="9144" bIns="9144"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12168"/>
            <a:ext cx="4040188" cy="502920"/>
          </a:xfrm>
        </p:spPr>
        <p:txBody>
          <a:bodyPr anchor="b">
            <a:noAutofit/>
          </a:bodyPr>
          <a:lstStyle>
            <a:lvl1pPr>
              <a:buNone/>
              <a:defRPr sz="2200" b="1">
                <a:effectLst>
                  <a:outerShdw blurRad="38000" dist="38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</a:effectLst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2112168"/>
            <a:ext cx="4041775" cy="502920"/>
          </a:xfrm>
        </p:spPr>
        <p:txBody>
          <a:bodyPr anchor="b">
            <a:noAutofit/>
          </a:bodyPr>
          <a:lstStyle>
            <a:lvl1pPr>
              <a:buNone/>
              <a:defRPr sz="2200" b="1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</a:effectLst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667000"/>
            <a:ext cx="4040188" cy="36576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667000"/>
            <a:ext cx="4041775" cy="36576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80AD6C-342A-4A4A-88F9-0E29E1087530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E34FE5-C2BE-4422-8EA4-1E3462DF6F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  <a:effectLst/>
        </p:spPr>
        <p:txBody>
          <a:bodyPr tIns="9144" bIns="9144" anchor="b"/>
          <a:lstStyle>
            <a:lvl1pPr>
              <a:defRPr sz="48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3B9EBD-090C-4E03-BBD2-1FA6D52159CD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06DE59-54BB-4F2C-BFCA-9D772ED300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430D69-5C8F-4AB5-873C-2A29C6BF380B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2ECC29-9F1E-4227-8D30-060C7D4580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40"/>
            <a:ext cx="8229600" cy="914400"/>
          </a:xfrm>
        </p:spPr>
        <p:txBody>
          <a:bodyPr tIns="0" bIns="0" anchor="b"/>
          <a:lstStyle>
            <a:lvl1pPr algn="l">
              <a:buNone/>
              <a:defRPr sz="5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133856"/>
            <a:ext cx="2590800" cy="5181600"/>
          </a:xfrm>
        </p:spPr>
        <p:txBody>
          <a:bodyPr lIns="45720" tIns="45720" rIns="0"/>
          <a:lstStyle>
            <a:lvl1pPr marL="0" indent="0">
              <a:spcBef>
                <a:spcPts val="300"/>
              </a:spcBef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133472"/>
            <a:ext cx="5257800" cy="5191128"/>
          </a:xfrm>
        </p:spPr>
        <p:txBody>
          <a:bodyPr/>
          <a:lstStyle>
            <a:lvl1pPr algn="l">
              <a:defRPr sz="30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010195-FAAD-4C92-BF4D-FD4D002193F6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7F8AD6-4B4F-4145-AE65-B4EC9A9604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240" y="1981200"/>
            <a:ext cx="3429000" cy="522288"/>
          </a:xfrm>
        </p:spPr>
        <p:txBody>
          <a:bodyPr tIns="0" bIns="0" anchor="b"/>
          <a:lstStyle>
            <a:lvl1pPr algn="r">
              <a:buNone/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93368" y="1066800"/>
            <a:ext cx="4572000" cy="4572000"/>
          </a:xfrm>
          <a:solidFill>
            <a:schemeClr val="bg2">
              <a:shade val="75000"/>
            </a:schemeClr>
          </a:solidFill>
          <a:ln w="60325">
            <a:solidFill>
              <a:srgbClr val="FFFFFF"/>
            </a:solidFill>
            <a:miter lim="800000"/>
          </a:ln>
          <a:effectLst>
            <a:outerShdw blurRad="36195" dist="10000" dir="5400000" algn="tl" rotWithShape="0">
              <a:srgbClr val="000000">
                <a:alpha val="75000"/>
              </a:srgbClr>
            </a:outerShdw>
            <a:reflection stA="21000" endA="500" endPos="10000" dist="20000" dir="5400000" sy="-100000" algn="bl" rotWithShape="0"/>
          </a:effectLst>
        </p:spPr>
        <p:txBody>
          <a:bodyPr/>
          <a:lstStyle>
            <a:lvl1pPr>
              <a:buNone/>
              <a:defRPr sz="3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6240" y="2543176"/>
            <a:ext cx="3429000" cy="914400"/>
          </a:xfrm>
        </p:spPr>
        <p:txBody>
          <a:bodyPr lIns="0" tIns="0" rIns="0" bIns="0" anchor="t"/>
          <a:lstStyle>
            <a:lvl1pPr indent="0" algn="r">
              <a:spcBef>
                <a:spcPts val="300"/>
              </a:spcBef>
              <a:buFontTx/>
              <a:buNone/>
              <a:defRPr sz="1400" baseline="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D84771-9565-402F-A621-4FCAF432CF65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533400" cy="365125"/>
          </a:xfrm>
        </p:spPr>
        <p:txBody>
          <a:bodyPr/>
          <a:lstStyle/>
          <a:p>
            <a:pPr>
              <a:defRPr/>
            </a:pPr>
            <a:fld id="{4A5355A0-A7DE-4ACC-B750-1DEEB014EE2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92B1D9-2A48-4D97-AA6C-D3736E8DE43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EC122A-DBF7-4D56-B97A-495C7D2830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EC900D-57D4-469E-BDD4-929E2D6FE444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5A6B67-5385-4098-B10D-BC390A2211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EE409E-3915-4E44-96F5-A9735C5B8270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21A9EDE-86F3-474A-813C-A6F6AEAF78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71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Document 6"/>
          <p:cNvSpPr/>
          <p:nvPr/>
        </p:nvSpPr>
        <p:spPr>
          <a:xfrm rot="10800000">
            <a:off x="1" y="1142899"/>
            <a:ext cx="9144000" cy="5562705"/>
          </a:xfrm>
          <a:custGeom>
            <a:avLst/>
            <a:gdLst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20252"/>
              <a:gd name="connsiteX1" fmla="*/ 21600 w 21600"/>
              <a:gd name="connsiteY1" fmla="*/ 0 h 20252"/>
              <a:gd name="connsiteX2" fmla="*/ 21600 w 21600"/>
              <a:gd name="connsiteY2" fmla="*/ 17322 h 20252"/>
              <a:gd name="connsiteX3" fmla="*/ 0 w 21600"/>
              <a:gd name="connsiteY3" fmla="*/ 20252 h 20252"/>
              <a:gd name="connsiteX4" fmla="*/ 0 w 21600"/>
              <a:gd name="connsiteY4" fmla="*/ 0 h 20252"/>
              <a:gd name="connsiteX0" fmla="*/ 0 w 21600"/>
              <a:gd name="connsiteY0" fmla="*/ 0 h 20252"/>
              <a:gd name="connsiteX1" fmla="*/ 21600 w 21600"/>
              <a:gd name="connsiteY1" fmla="*/ 0 h 20252"/>
              <a:gd name="connsiteX2" fmla="*/ 21600 w 21600"/>
              <a:gd name="connsiteY2" fmla="*/ 17322 h 20252"/>
              <a:gd name="connsiteX3" fmla="*/ 0 w 21600"/>
              <a:gd name="connsiteY3" fmla="*/ 20252 h 20252"/>
              <a:gd name="connsiteX4" fmla="*/ 0 w 21600"/>
              <a:gd name="connsiteY4" fmla="*/ 0 h 2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0252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10056" y="24231"/>
                  <a:pt x="0" y="2025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2">
                  <a:tint val="55000"/>
                  <a:satMod val="1800000"/>
                  <a:alpha val="5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Flowchart: Document 7"/>
          <p:cNvSpPr/>
          <p:nvPr/>
        </p:nvSpPr>
        <p:spPr>
          <a:xfrm rot="10800000">
            <a:off x="1" y="1341133"/>
            <a:ext cx="9144000" cy="4480425"/>
          </a:xfrm>
          <a:custGeom>
            <a:avLst/>
            <a:gdLst>
              <a:gd name="connsiteX0" fmla="*/ 0 w 21600"/>
              <a:gd name="connsiteY0" fmla="*/ 0 h 18944"/>
              <a:gd name="connsiteX1" fmla="*/ 21600 w 21600"/>
              <a:gd name="connsiteY1" fmla="*/ 0 h 18944"/>
              <a:gd name="connsiteX2" fmla="*/ 21600 w 21600"/>
              <a:gd name="connsiteY2" fmla="*/ 17322 h 18944"/>
              <a:gd name="connsiteX3" fmla="*/ 0 w 21600"/>
              <a:gd name="connsiteY3" fmla="*/ 18944 h 18944"/>
              <a:gd name="connsiteX4" fmla="*/ 0 w 21600"/>
              <a:gd name="connsiteY4" fmla="*/ 0 h 18944"/>
              <a:gd name="connsiteX0" fmla="*/ 0 w 21600"/>
              <a:gd name="connsiteY0" fmla="*/ 0 h 18944"/>
              <a:gd name="connsiteX1" fmla="*/ 21600 w 21600"/>
              <a:gd name="connsiteY1" fmla="*/ 0 h 18944"/>
              <a:gd name="connsiteX2" fmla="*/ 21600 w 21600"/>
              <a:gd name="connsiteY2" fmla="*/ 17322 h 18944"/>
              <a:gd name="connsiteX3" fmla="*/ 0 w 21600"/>
              <a:gd name="connsiteY3" fmla="*/ 18944 h 18944"/>
              <a:gd name="connsiteX4" fmla="*/ 0 w 21600"/>
              <a:gd name="connsiteY4" fmla="*/ 0 h 18944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691"/>
              <a:gd name="connsiteX1" fmla="*/ 21600 w 21600"/>
              <a:gd name="connsiteY1" fmla="*/ 0 h 19691"/>
              <a:gd name="connsiteX2" fmla="*/ 21600 w 21600"/>
              <a:gd name="connsiteY2" fmla="*/ 17322 h 19691"/>
              <a:gd name="connsiteX3" fmla="*/ 0 w 21600"/>
              <a:gd name="connsiteY3" fmla="*/ 19691 h 19691"/>
              <a:gd name="connsiteX4" fmla="*/ 0 w 21600"/>
              <a:gd name="connsiteY4" fmla="*/ 0 h 19691"/>
              <a:gd name="connsiteX0" fmla="*/ 0 w 21600"/>
              <a:gd name="connsiteY0" fmla="*/ 0 h 19691"/>
              <a:gd name="connsiteX1" fmla="*/ 21600 w 21600"/>
              <a:gd name="connsiteY1" fmla="*/ 0 h 19691"/>
              <a:gd name="connsiteX2" fmla="*/ 21600 w 21600"/>
              <a:gd name="connsiteY2" fmla="*/ 17322 h 19691"/>
              <a:gd name="connsiteX3" fmla="*/ 0 w 21600"/>
              <a:gd name="connsiteY3" fmla="*/ 19691 h 19691"/>
              <a:gd name="connsiteX4" fmla="*/ 0 w 21600"/>
              <a:gd name="connsiteY4" fmla="*/ 0 h 19691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0032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8684" y="24776"/>
                  <a:pt x="0" y="2003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2">
                  <a:tint val="40000"/>
                  <a:satMod val="1900000"/>
                  <a:alpha val="30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524000"/>
          </a:xfrm>
          <a:prstGeom prst="rect">
            <a:avLst/>
          </a:prstGeom>
        </p:spPr>
        <p:txBody>
          <a:bodyPr vert="horz" lIns="0" tIns="9144" rIns="0" bIns="9144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2179637"/>
            <a:ext cx="8229600" cy="4114800"/>
          </a:xfrm>
          <a:prstGeom prst="rect">
            <a:avLst/>
          </a:prstGeom>
        </p:spPr>
        <p:txBody>
          <a:bodyPr vert="horz" lIns="9144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981200" cy="365125"/>
          </a:xfrm>
          <a:prstGeom prst="rect">
            <a:avLst/>
          </a:prstGeom>
        </p:spPr>
        <p:txBody>
          <a:bodyPr vert="horz" anchor="b"/>
          <a:lstStyle>
            <a:lvl1pPr algn="ctr">
              <a:defRPr sz="12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60931591-DC85-4FEA-A539-A0E87BB82E74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438400" y="6356350"/>
            <a:ext cx="2895600" cy="365125"/>
          </a:xfrm>
          <a:prstGeom prst="rect">
            <a:avLst/>
          </a:prstGeom>
        </p:spPr>
        <p:txBody>
          <a:bodyPr vert="horz" lIns="0" anchor="b"/>
          <a:lstStyle>
            <a:lvl1pPr algn="l">
              <a:defRPr sz="12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356350"/>
            <a:ext cx="533400" cy="365125"/>
          </a:xfrm>
          <a:prstGeom prst="rect">
            <a:avLst/>
          </a:prstGeom>
        </p:spPr>
        <p:txBody>
          <a:bodyPr vert="horz" lIns="91440" rIns="0" anchor="b"/>
          <a:lstStyle>
            <a:lvl1pPr algn="r">
              <a:defRPr sz="14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4F8C8229-0385-4345-AD97-5B046B99A6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/>
  <p:txStyles>
    <p:titleStyle>
      <a:lvl1pPr algn="l" rtl="0" eaLnBrk="1" latinLnBrk="0" hangingPunct="1">
        <a:spcBef>
          <a:spcPct val="0"/>
        </a:spcBef>
        <a:buNone/>
        <a:defRPr sz="4800" b="1" kern="1200">
          <a:ln w="500">
            <a:solidFill>
              <a:schemeClr val="tx2">
                <a:shade val="20000"/>
                <a:satMod val="350000"/>
              </a:schemeClr>
            </a:solidFill>
          </a:ln>
          <a:solidFill>
            <a:schemeClr val="tx2">
              <a:tint val="100000"/>
              <a:satMod val="250000"/>
            </a:schemeClr>
          </a:solidFill>
          <a:effectLst>
            <a:outerShdw blurRad="30000" dist="30000" dir="2700000" algn="tl" rotWithShape="0">
              <a:schemeClr val="bg2">
                <a:shade val="45000"/>
                <a:satMod val="150000"/>
                <a:alpha val="9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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30936" indent="-27432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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544" indent="-274320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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2860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22860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en.wikipedia.org/wiki/Image:Typography_Line_Terms.svg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4348" y="2143116"/>
            <a:ext cx="7772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6000" b="1">
                <a:latin typeface="Arial Narrow" pitchFamily="34" charset="0"/>
              </a:rPr>
              <a:t>FONT VÀ STRING</a:t>
            </a:r>
            <a:endParaRPr lang="vi-VN" sz="6000" b="1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/>
              <a:t>Pham Thi Vuong</a:t>
            </a:r>
            <a:endParaRPr lang="vi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chính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9E5FC-F9EF-447E-BAE0-5A45D3D8B6F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>
            <a:off x="1828800" y="2028832"/>
            <a:ext cx="762000" cy="665163"/>
            <a:chOff x="1110" y="2656"/>
            <a:chExt cx="1549" cy="1351"/>
          </a:xfrm>
        </p:grpSpPr>
        <p:sp>
          <p:nvSpPr>
            <p:cNvPr id="8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1" name="Group 7"/>
          <p:cNvGrpSpPr>
            <a:grpSpLocks/>
          </p:cNvGrpSpPr>
          <p:nvPr/>
        </p:nvGrpSpPr>
        <p:grpSpPr bwMode="auto">
          <a:xfrm>
            <a:off x="1828800" y="2968630"/>
            <a:ext cx="762000" cy="665163"/>
            <a:chOff x="3174" y="2656"/>
            <a:chExt cx="1549" cy="1351"/>
          </a:xfrm>
        </p:grpSpPr>
        <p:sp>
          <p:nvSpPr>
            <p:cNvPr id="12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2438400" y="2638432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2895600" y="2105032"/>
            <a:ext cx="16209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>
                <a:latin typeface="Times New Roman" pitchFamily="18" charset="0"/>
                <a:cs typeface="Times New Roman" pitchFamily="18" charset="0"/>
              </a:rPr>
              <a:t>Unicode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gray">
          <a:xfrm>
            <a:off x="2025650" y="2127257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2438400" y="3552832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2895600" y="3019432"/>
            <a:ext cx="10038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>
                <a:latin typeface="Times New Roman" pitchFamily="18" charset="0"/>
                <a:cs typeface="Times New Roman" pitchFamily="18" charset="0"/>
              </a:rPr>
              <a:t>Font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gray">
          <a:xfrm>
            <a:off x="2025650" y="3139174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grpSp>
        <p:nvGrpSpPr>
          <p:cNvPr id="21" name="Group 17"/>
          <p:cNvGrpSpPr>
            <a:grpSpLocks/>
          </p:cNvGrpSpPr>
          <p:nvPr/>
        </p:nvGrpSpPr>
        <p:grpSpPr bwMode="auto">
          <a:xfrm>
            <a:off x="1828800" y="3835407"/>
            <a:ext cx="762000" cy="665163"/>
            <a:chOff x="1110" y="2656"/>
            <a:chExt cx="1549" cy="1351"/>
          </a:xfrm>
        </p:grpSpPr>
        <p:sp>
          <p:nvSpPr>
            <p:cNvPr id="22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0C0C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2438400" y="4445007"/>
            <a:ext cx="4800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2895600" y="3911607"/>
            <a:ext cx="12779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3200" b="1">
                <a:latin typeface="Times New Roman" pitchFamily="18" charset="0"/>
                <a:cs typeface="Times New Roman" pitchFamily="18" charset="0"/>
              </a:rPr>
              <a:t>String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gray">
          <a:xfrm>
            <a:off x="2025650" y="3933832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/>
              <a:t>UNICODE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Bộ ký tự Unicode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-  Unicode </a:t>
            </a:r>
            <a:r>
              <a:rPr lang="en-US" dirty="0" err="1"/>
              <a:t>là</a:t>
            </a:r>
            <a:r>
              <a:rPr lang="en-US" dirty="0"/>
              <a:t> 1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-  Unicode </a:t>
            </a:r>
            <a:r>
              <a:rPr lang="en-US" dirty="0" err="1"/>
              <a:t>là</a:t>
            </a:r>
            <a:r>
              <a:rPr lang="en-US" dirty="0"/>
              <a:t> 1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ý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, 1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Unicode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-  Unicode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1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,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hay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B73B4-AC69-4E1D-9CCD-A417D7CED228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5" name="Picture 5" descr="fig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388" y="2060575"/>
            <a:ext cx="8785225" cy="2857500"/>
          </a:xfrm>
          <a:prstGeom prst="rect">
            <a:avLst/>
          </a:prstGeom>
          <a:noFill/>
        </p:spPr>
      </p:pic>
      <p:sp>
        <p:nvSpPr>
          <p:cNvPr id="7168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bộ ký tự Unicode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11EB21-BA54-465F-A2DB-2DE605F8A83E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4575" y="1290638"/>
            <a:ext cx="7272338" cy="5378450"/>
          </a:xfrm>
          <a:prstGeom prst="rect">
            <a:avLst/>
          </a:prstGeom>
          <a:noFill/>
        </p:spPr>
      </p:pic>
      <p:sp>
        <p:nvSpPr>
          <p:cNvPr id="1454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bộ ký tự Unicode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8B7746-A7D0-4C87-A31D-82CBC6CD68EA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/>
              <a:t>FONT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khái niệm về Font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 </a:t>
            </a:r>
            <a:r>
              <a:rPr lang="en-US">
                <a:solidFill>
                  <a:schemeClr val="accent2"/>
                </a:solidFill>
              </a:rPr>
              <a:t>-  Định nghĩa Font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Kiểu Font  và Họ Font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Các loại Font trên HĐH Windows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Các thông số Font 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Độ đo Font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107CF2-1498-4311-81CB-4918F5A56686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Định nghĩa Font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507413" cy="5040313"/>
          </a:xfrm>
        </p:spPr>
        <p:txBody>
          <a:bodyPr/>
          <a:lstStyle/>
          <a:p>
            <a:pPr>
              <a:buFontTx/>
              <a:buNone/>
            </a:pPr>
            <a:r>
              <a:rPr lang="en-US" sz="2800" dirty="0"/>
              <a:t> </a:t>
            </a:r>
            <a:r>
              <a:rPr lang="vi-VN" sz="2800" dirty="0"/>
              <a:t>Tập hợp hoàn chỉnh</a:t>
            </a:r>
            <a:endParaRPr lang="en-US" sz="2800" dirty="0"/>
          </a:p>
          <a:p>
            <a:pPr>
              <a:buFontTx/>
              <a:buNone/>
            </a:pPr>
            <a:r>
              <a:rPr lang="en-US" sz="2800" dirty="0"/>
              <a:t>		-</a:t>
            </a:r>
            <a:r>
              <a:rPr lang="vi-VN" sz="2800" dirty="0"/>
              <a:t> các chữ cái</a:t>
            </a:r>
            <a:endParaRPr lang="en-US" sz="2800" dirty="0"/>
          </a:p>
          <a:p>
            <a:pPr>
              <a:buFontTx/>
              <a:buNone/>
            </a:pPr>
            <a:r>
              <a:rPr lang="en-US" sz="2800" dirty="0"/>
              <a:t>		- </a:t>
            </a:r>
            <a:r>
              <a:rPr lang="vi-VN" sz="2800" dirty="0"/>
              <a:t>các dấu câu</a:t>
            </a:r>
            <a:endParaRPr lang="en-US" sz="2800" dirty="0"/>
          </a:p>
          <a:p>
            <a:pPr>
              <a:buFontTx/>
              <a:buNone/>
            </a:pPr>
            <a:r>
              <a:rPr lang="en-US" sz="2800" dirty="0"/>
              <a:t>		-</a:t>
            </a:r>
            <a:r>
              <a:rPr lang="vi-VN" sz="2800" dirty="0"/>
              <a:t> các con số</a:t>
            </a:r>
            <a:endParaRPr lang="en-US" sz="2800" dirty="0"/>
          </a:p>
          <a:p>
            <a:pPr>
              <a:buFontTx/>
              <a:buNone/>
            </a:pPr>
            <a:r>
              <a:rPr lang="en-US" sz="2800" dirty="0"/>
              <a:t>		-</a:t>
            </a:r>
            <a:r>
              <a:rPr lang="vi-VN" sz="2800" dirty="0"/>
              <a:t> các ký tự đặc biệt</a:t>
            </a:r>
            <a:endParaRPr lang="en-US" sz="2800" dirty="0"/>
          </a:p>
          <a:p>
            <a:pPr>
              <a:buFontTx/>
              <a:buNone/>
            </a:pPr>
            <a:r>
              <a:rPr lang="vi-VN" sz="2800" dirty="0"/>
              <a:t> theo</a:t>
            </a:r>
            <a:r>
              <a:rPr lang="en-US" sz="2800" dirty="0"/>
              <a:t> </a:t>
            </a:r>
            <a:r>
              <a:rPr lang="vi-VN" sz="2800" dirty="0"/>
              <a:t>một  </a:t>
            </a:r>
            <a:r>
              <a:rPr lang="en-US" sz="2800" dirty="0"/>
              <a:t>- </a:t>
            </a:r>
            <a:r>
              <a:rPr lang="vi-VN" sz="2800" dirty="0"/>
              <a:t>kiểu loại Font</a:t>
            </a:r>
            <a:endParaRPr lang="en-US" sz="2800" dirty="0"/>
          </a:p>
          <a:p>
            <a:pPr>
              <a:buFontTx/>
              <a:buNone/>
            </a:pPr>
            <a:r>
              <a:rPr lang="en-US" sz="2800" dirty="0"/>
              <a:t>		       - </a:t>
            </a:r>
            <a:r>
              <a:rPr lang="vi-VN" sz="2800" dirty="0"/>
              <a:t>trọng lượng (thường hoặc đậm nét</a:t>
            </a:r>
            <a:r>
              <a:rPr lang="en-US" sz="2800" dirty="0"/>
              <a:t>)</a:t>
            </a:r>
          </a:p>
          <a:p>
            <a:pPr>
              <a:buFontTx/>
              <a:buNone/>
            </a:pPr>
            <a:r>
              <a:rPr lang="en-US" sz="2800" dirty="0"/>
              <a:t>		       - </a:t>
            </a:r>
            <a:r>
              <a:rPr lang="vi-VN" sz="2800" dirty="0"/>
              <a:t>dáng bộ (thẳng hoặc nghiêng)</a:t>
            </a:r>
            <a:endParaRPr lang="en-US" sz="2800" dirty="0"/>
          </a:p>
          <a:p>
            <a:pPr>
              <a:buFontTx/>
              <a:buNone/>
            </a:pPr>
            <a:r>
              <a:rPr lang="vi-VN" sz="2800" dirty="0"/>
              <a:t> v</a:t>
            </a:r>
            <a:r>
              <a:rPr lang="en-US" sz="2800" dirty="0" err="1"/>
              <a:t>ới</a:t>
            </a:r>
            <a:r>
              <a:rPr lang="vi-VN" sz="2800" dirty="0"/>
              <a:t> kích cỡ phù hợp và có thể phân biệt khác nhau.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ED389F-4B96-4CC4-A422-E7740A38123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Định nghĩa Font (tt)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Một</a:t>
            </a:r>
            <a:r>
              <a:rPr lang="en-US" dirty="0"/>
              <a:t> font có </a:t>
            </a:r>
            <a:r>
              <a:rPr lang="en-US" dirty="0" err="1"/>
              <a:t>thê</a:t>
            </a:r>
            <a:r>
              <a:rPr lang="en-US" dirty="0"/>
              <a:t>̉ </a:t>
            </a:r>
            <a:r>
              <a:rPr lang="en-US" dirty="0" err="1"/>
              <a:t>được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cấp</a:t>
            </a:r>
            <a:r>
              <a:rPr lang="en-US" dirty="0"/>
              <a:t> </a:t>
            </a:r>
            <a:r>
              <a:rPr lang="en-US" dirty="0" err="1"/>
              <a:t>bởi</a:t>
            </a:r>
            <a:r>
              <a:rPr lang="en-US" dirty="0"/>
              <a:t> 1 </a:t>
            </a:r>
            <a:r>
              <a:rPr lang="en-US" dirty="0" err="1"/>
              <a:t>hoặc</a:t>
            </a:r>
            <a:r>
              <a:rPr lang="en-US" dirty="0"/>
              <a:t> </a:t>
            </a:r>
            <a:r>
              <a:rPr lang="en-US" dirty="0" err="1"/>
              <a:t>nhiều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mã</a:t>
            </a:r>
          </a:p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Mỗi</a:t>
            </a:r>
            <a:r>
              <a:rPr lang="en-US" dirty="0"/>
              <a:t> font </a:t>
            </a:r>
            <a:r>
              <a:rPr lang="en-US" dirty="0" err="1"/>
              <a:t>thường</a:t>
            </a:r>
            <a:r>
              <a:rPr lang="en-US" dirty="0"/>
              <a:t> </a:t>
            </a:r>
            <a:r>
              <a:rPr lang="en-US" dirty="0" err="1"/>
              <a:t>được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1 file font</a:t>
            </a:r>
          </a:p>
          <a:p>
            <a:pPr>
              <a:buFontTx/>
              <a:buChar char="-"/>
            </a:pPr>
            <a:r>
              <a:rPr lang="en-US" dirty="0" err="1"/>
              <a:t>Mỗi</a:t>
            </a:r>
            <a:r>
              <a:rPr lang="en-US" dirty="0"/>
              <a:t> font </a:t>
            </a:r>
            <a:r>
              <a:rPr lang="en-US" dirty="0" err="1"/>
              <a:t>thường</a:t>
            </a:r>
            <a:r>
              <a:rPr lang="en-US" dirty="0"/>
              <a:t> </a:t>
            </a:r>
            <a:r>
              <a:rPr lang="en-US" dirty="0" err="1"/>
              <a:t>được</a:t>
            </a:r>
            <a:r>
              <a:rPr lang="en-US" dirty="0"/>
              <a:t> </a:t>
            </a:r>
            <a:r>
              <a:rPr lang="en-US" dirty="0" err="1"/>
              <a:t>đặt</a:t>
            </a:r>
            <a:r>
              <a:rPr lang="en-US" dirty="0"/>
              <a:t> 1 </a:t>
            </a:r>
            <a:r>
              <a:rPr lang="en-US" dirty="0" err="1"/>
              <a:t>tên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	Ví dụ font Times New Roman Bold, </a:t>
            </a:r>
          </a:p>
          <a:p>
            <a:pPr>
              <a:buNone/>
            </a:pPr>
            <a:r>
              <a:rPr lang="en-US" dirty="0"/>
              <a:t>		     font Courier New Italic </a:t>
            </a:r>
            <a:endParaRPr lang="vi-VN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BC8A5B-37F8-46D5-AD50-D09B1A8080D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Kiểu Font  và Họ Font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9688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</a:t>
            </a:r>
            <a:r>
              <a:rPr lang="en-US" dirty="0" err="1"/>
              <a:t>Tên</a:t>
            </a:r>
            <a:r>
              <a:rPr lang="en-US" dirty="0"/>
              <a:t> Font = Họ Font + ( </a:t>
            </a:r>
            <a:r>
              <a:rPr lang="en-US" dirty="0" err="1"/>
              <a:t>Kiểu</a:t>
            </a:r>
            <a:r>
              <a:rPr lang="en-US" dirty="0"/>
              <a:t> Font 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i="1" dirty="0"/>
              <a:t>   Font name = Font family + ( Typestyle 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Ví dụ:</a:t>
            </a:r>
            <a:r>
              <a:rPr lang="en-US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Họ font Times New Roman </a:t>
            </a:r>
            <a:r>
              <a:rPr lang="en-US" dirty="0" err="1"/>
              <a:t>chứa</a:t>
            </a:r>
            <a:r>
              <a:rPr lang="en-US" dirty="0"/>
              <a:t> 4 font </a:t>
            </a:r>
            <a:r>
              <a:rPr lang="en-US" dirty="0" err="1"/>
              <a:t>khác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-  Times New Roman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-  Times New Roman Italic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-  Times New Roman Bold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  -  Times New Roman Bold Italic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03CE88-D001-4EA1-805D-D00B3505E56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Kiểu Font  và Họ Font (tt)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968875"/>
          </a:xfrm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Ví dụ:</a:t>
            </a:r>
            <a:r>
              <a:rPr lang="en-US"/>
              <a:t> </a:t>
            </a:r>
          </a:p>
          <a:p>
            <a:pPr>
              <a:buFontTx/>
              <a:buNone/>
            </a:pPr>
            <a:r>
              <a:rPr lang="en-US"/>
              <a:t>   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8BAD47-C904-4760-A18D-3D8AF988C087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25" y="2447925"/>
            <a:ext cx="9037638" cy="2349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Các loại Font trên HĐH Windows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-  Bitmap Font</a:t>
            </a:r>
          </a:p>
          <a:p>
            <a:pPr>
              <a:buFontTx/>
              <a:buNone/>
            </a:pPr>
            <a:r>
              <a:rPr lang="en-US"/>
              <a:t>-  Vector Font</a:t>
            </a:r>
          </a:p>
          <a:p>
            <a:pPr>
              <a:buFontTx/>
              <a:buNone/>
            </a:pPr>
            <a:r>
              <a:rPr lang="en-US"/>
              <a:t>-  TrueType Font</a:t>
            </a:r>
          </a:p>
          <a:p>
            <a:pPr>
              <a:buFontTx/>
              <a:buNone/>
            </a:pPr>
            <a:r>
              <a:rPr lang="en-US"/>
              <a:t>-  OpenType Font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B4E46A-5A03-4A8C-BAEA-EE17AA670A94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Bitmap Font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Dùng</a:t>
            </a:r>
            <a:r>
              <a:rPr lang="en-US" dirty="0"/>
              <a:t> </a:t>
            </a:r>
            <a:r>
              <a:rPr lang="en-US" dirty="0" err="1"/>
              <a:t>hình</a:t>
            </a:r>
            <a:r>
              <a:rPr lang="en-US" dirty="0"/>
              <a:t> </a:t>
            </a:r>
            <a:r>
              <a:rPr lang="en-US" dirty="0" err="1"/>
              <a:t>ảnh</a:t>
            </a:r>
            <a:r>
              <a:rPr lang="en-US" dirty="0"/>
              <a:t> </a:t>
            </a:r>
            <a:r>
              <a:rPr lang="en-US" dirty="0" err="1"/>
              <a:t>đê</a:t>
            </a:r>
            <a:r>
              <a:rPr lang="en-US" dirty="0"/>
              <a:t>̉ </a:t>
            </a:r>
            <a:r>
              <a:rPr lang="en-US" dirty="0" err="1"/>
              <a:t>hiện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̣ </a:t>
            </a:r>
            <a:r>
              <a:rPr lang="en-US" dirty="0" err="1"/>
              <a:t>các</a:t>
            </a:r>
            <a:r>
              <a:rPr lang="en-US" dirty="0"/>
              <a:t> </a:t>
            </a:r>
            <a:r>
              <a:rPr lang="en-US" dirty="0" err="1"/>
              <a:t>điểm</a:t>
            </a:r>
            <a:r>
              <a:rPr lang="en-US" dirty="0"/>
              <a:t> </a:t>
            </a:r>
            <a:r>
              <a:rPr lang="en-US" dirty="0" err="1"/>
              <a:t>ảnh</a:t>
            </a:r>
            <a:r>
              <a:rPr lang="en-US" dirty="0"/>
              <a:t> </a:t>
            </a:r>
            <a:r>
              <a:rPr lang="en-US" dirty="0" err="1"/>
              <a:t>của</a:t>
            </a:r>
            <a:r>
              <a:rPr lang="en-US" dirty="0"/>
              <a:t> 1 </a:t>
            </a:r>
            <a:r>
              <a:rPr lang="en-US" dirty="0" err="1"/>
              <a:t>ky</a:t>
            </a:r>
            <a:r>
              <a:rPr lang="en-US" dirty="0"/>
              <a:t>́ </a:t>
            </a:r>
            <a:r>
              <a:rPr lang="en-US" dirty="0" err="1"/>
              <a:t>tư</a:t>
            </a:r>
            <a:r>
              <a:rPr lang="en-US" dirty="0"/>
              <a:t>̣</a:t>
            </a:r>
          </a:p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Thường</a:t>
            </a:r>
            <a:r>
              <a:rPr lang="en-US" dirty="0"/>
              <a:t> là </a:t>
            </a:r>
            <a:r>
              <a:rPr lang="en-US" dirty="0" err="1"/>
              <a:t>những</a:t>
            </a:r>
            <a:r>
              <a:rPr lang="en-US" dirty="0"/>
              <a:t> file có </a:t>
            </a:r>
            <a:r>
              <a:rPr lang="en-US" dirty="0" err="1"/>
              <a:t>dạng</a:t>
            </a:r>
            <a:r>
              <a:rPr lang="en-US" dirty="0"/>
              <a:t> *.</a:t>
            </a:r>
            <a:r>
              <a:rPr lang="en-US" dirty="0" err="1"/>
              <a:t>fon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hiển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̣ </a:t>
            </a:r>
            <a:r>
              <a:rPr lang="en-US" dirty="0" err="1"/>
              <a:t>ky</a:t>
            </a:r>
            <a:r>
              <a:rPr lang="en-US" dirty="0"/>
              <a:t>́ </a:t>
            </a:r>
            <a:r>
              <a:rPr lang="en-US" dirty="0" err="1"/>
              <a:t>tư</a:t>
            </a:r>
            <a:r>
              <a:rPr lang="en-US" dirty="0"/>
              <a:t>̣ có </a:t>
            </a:r>
            <a:r>
              <a:rPr lang="en-US" dirty="0" err="1"/>
              <a:t>kích</a:t>
            </a:r>
            <a:r>
              <a:rPr lang="en-US" dirty="0"/>
              <a:t> </a:t>
            </a:r>
            <a:r>
              <a:rPr lang="en-US" dirty="0" err="1"/>
              <a:t>thước</a:t>
            </a:r>
            <a:r>
              <a:rPr lang="en-US" dirty="0"/>
              <a:t> </a:t>
            </a:r>
            <a:r>
              <a:rPr lang="en-US" dirty="0" err="1"/>
              <a:t>lớn</a:t>
            </a:r>
            <a:r>
              <a:rPr lang="en-US" dirty="0"/>
              <a:t> </a:t>
            </a:r>
            <a:r>
              <a:rPr lang="en-US" dirty="0" err="1"/>
              <a:t>thường</a:t>
            </a:r>
            <a:r>
              <a:rPr lang="en-US" dirty="0"/>
              <a:t> bị </a:t>
            </a:r>
            <a:r>
              <a:rPr lang="en-US" dirty="0" err="1"/>
              <a:t>nát</a:t>
            </a:r>
            <a:r>
              <a:rPr lang="en-US" dirty="0"/>
              <a:t> </a:t>
            </a:r>
            <a:r>
              <a:rPr lang="en-US" dirty="0" err="1"/>
              <a:t>hình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AC790A-B901-4AF9-A7A8-5626559017BD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975" y="4797425"/>
            <a:ext cx="4762500" cy="1085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Font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Dùng</a:t>
            </a:r>
            <a:r>
              <a:rPr lang="en-US" dirty="0"/>
              <a:t> </a:t>
            </a:r>
            <a:r>
              <a:rPr lang="en-US" dirty="0" err="1"/>
              <a:t>các</a:t>
            </a:r>
            <a:r>
              <a:rPr lang="en-US" dirty="0"/>
              <a:t> </a:t>
            </a:r>
            <a:r>
              <a:rPr lang="en-US" dirty="0" err="1"/>
              <a:t>đoạn</a:t>
            </a:r>
            <a:r>
              <a:rPr lang="en-US" dirty="0"/>
              <a:t> </a:t>
            </a:r>
            <a:r>
              <a:rPr lang="en-US" dirty="0" err="1"/>
              <a:t>thẳng</a:t>
            </a:r>
            <a:r>
              <a:rPr lang="en-US" dirty="0"/>
              <a:t> </a:t>
            </a:r>
            <a:r>
              <a:rPr lang="en-US" dirty="0" err="1"/>
              <a:t>nối</a:t>
            </a:r>
            <a:r>
              <a:rPr lang="en-US" dirty="0"/>
              <a:t> </a:t>
            </a:r>
            <a:r>
              <a:rPr lang="en-US" dirty="0" err="1"/>
              <a:t>với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đê</a:t>
            </a:r>
            <a:r>
              <a:rPr lang="en-US" dirty="0"/>
              <a:t>̉ </a:t>
            </a:r>
            <a:r>
              <a:rPr lang="en-US" dirty="0" err="1"/>
              <a:t>hiển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ky</a:t>
            </a:r>
            <a:r>
              <a:rPr lang="en-US" dirty="0"/>
              <a:t>́ </a:t>
            </a:r>
            <a:r>
              <a:rPr lang="en-US" dirty="0" err="1"/>
              <a:t>tư</a:t>
            </a:r>
            <a:r>
              <a:rPr lang="en-US" dirty="0"/>
              <a:t>̣</a:t>
            </a:r>
          </a:p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Thường</a:t>
            </a:r>
            <a:r>
              <a:rPr lang="en-US" dirty="0"/>
              <a:t> là </a:t>
            </a:r>
            <a:r>
              <a:rPr lang="en-US" dirty="0" err="1"/>
              <a:t>những</a:t>
            </a:r>
            <a:r>
              <a:rPr lang="en-US" dirty="0"/>
              <a:t> file có </a:t>
            </a:r>
            <a:r>
              <a:rPr lang="en-US" dirty="0" err="1"/>
              <a:t>dạng</a:t>
            </a:r>
            <a:r>
              <a:rPr lang="en-US" dirty="0"/>
              <a:t> *.</a:t>
            </a:r>
            <a:r>
              <a:rPr lang="en-US" dirty="0" err="1"/>
              <a:t>fnt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Mặc</a:t>
            </a:r>
            <a:r>
              <a:rPr lang="en-US" dirty="0"/>
              <a:t> dù </a:t>
            </a:r>
            <a:r>
              <a:rPr lang="en-US" dirty="0" err="1"/>
              <a:t>hiển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̣ </a:t>
            </a:r>
            <a:r>
              <a:rPr lang="en-US" dirty="0" err="1"/>
              <a:t>ky</a:t>
            </a:r>
            <a:r>
              <a:rPr lang="en-US" dirty="0"/>
              <a:t>́ </a:t>
            </a:r>
            <a:r>
              <a:rPr lang="en-US" dirty="0" err="1"/>
              <a:t>tư</a:t>
            </a:r>
            <a:r>
              <a:rPr lang="en-US" dirty="0"/>
              <a:t>̣ có </a:t>
            </a:r>
            <a:r>
              <a:rPr lang="en-US" dirty="0" err="1"/>
              <a:t>kích</a:t>
            </a:r>
            <a:r>
              <a:rPr lang="en-US" dirty="0"/>
              <a:t> </a:t>
            </a:r>
            <a:r>
              <a:rPr lang="en-US" dirty="0" err="1"/>
              <a:t>thước</a:t>
            </a:r>
            <a:r>
              <a:rPr lang="en-US" dirty="0"/>
              <a:t> </a:t>
            </a:r>
            <a:r>
              <a:rPr lang="en-US" dirty="0" err="1"/>
              <a:t>lớn</a:t>
            </a:r>
            <a:r>
              <a:rPr lang="en-US" dirty="0"/>
              <a:t> </a:t>
            </a:r>
            <a:r>
              <a:rPr lang="en-US" dirty="0" err="1"/>
              <a:t>tốt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bitmap font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vẫn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có </a:t>
            </a:r>
            <a:r>
              <a:rPr lang="en-US" dirty="0" err="1"/>
              <a:t>được</a:t>
            </a:r>
            <a:r>
              <a:rPr lang="en-US" dirty="0"/>
              <a:t> </a:t>
            </a:r>
            <a:r>
              <a:rPr lang="en-US" dirty="0" err="1"/>
              <a:t>đô</a:t>
            </a:r>
            <a:r>
              <a:rPr lang="en-US" dirty="0"/>
              <a:t>̣ </a:t>
            </a:r>
            <a:r>
              <a:rPr lang="en-US" dirty="0" err="1"/>
              <a:t>sắc</a:t>
            </a:r>
            <a:r>
              <a:rPr lang="en-US" dirty="0"/>
              <a:t> </a:t>
            </a:r>
            <a:r>
              <a:rPr lang="en-US" dirty="0" err="1"/>
              <a:t>nét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BE98B7-5A09-4C05-BD6C-A4652CD0B3A1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1413" y="5013325"/>
            <a:ext cx="4762500" cy="1095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TrueType Font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Dùng</a:t>
            </a:r>
            <a:r>
              <a:rPr lang="en-US" dirty="0"/>
              <a:t> </a:t>
            </a:r>
            <a:r>
              <a:rPr lang="en-US" dirty="0" err="1"/>
              <a:t>các</a:t>
            </a:r>
            <a:r>
              <a:rPr lang="en-US" dirty="0"/>
              <a:t> </a:t>
            </a:r>
            <a:r>
              <a:rPr lang="en-US" dirty="0" err="1"/>
              <a:t>đoạn</a:t>
            </a:r>
            <a:r>
              <a:rPr lang="en-US" dirty="0"/>
              <a:t> </a:t>
            </a:r>
            <a:r>
              <a:rPr lang="en-US" dirty="0" err="1"/>
              <a:t>thẳng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̀ </a:t>
            </a:r>
            <a:r>
              <a:rPr lang="en-US" dirty="0" err="1"/>
              <a:t>đoạn</a:t>
            </a:r>
            <a:r>
              <a:rPr lang="en-US" dirty="0"/>
              <a:t> </a:t>
            </a:r>
            <a:r>
              <a:rPr lang="en-US" dirty="0" err="1"/>
              <a:t>cong</a:t>
            </a:r>
            <a:r>
              <a:rPr lang="en-US" dirty="0"/>
              <a:t> </a:t>
            </a:r>
            <a:r>
              <a:rPr lang="en-US" dirty="0" err="1"/>
              <a:t>nối</a:t>
            </a:r>
            <a:r>
              <a:rPr lang="en-US" dirty="0"/>
              <a:t> </a:t>
            </a:r>
            <a:r>
              <a:rPr lang="en-US" dirty="0" err="1"/>
              <a:t>với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đê</a:t>
            </a:r>
            <a:r>
              <a:rPr lang="en-US" dirty="0"/>
              <a:t>̉ </a:t>
            </a:r>
            <a:r>
              <a:rPr lang="en-US" dirty="0" err="1"/>
              <a:t>hiển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̣ </a:t>
            </a:r>
            <a:r>
              <a:rPr lang="en-US" dirty="0" err="1"/>
              <a:t>ky</a:t>
            </a:r>
            <a:r>
              <a:rPr lang="en-US" dirty="0"/>
              <a:t>́ </a:t>
            </a:r>
            <a:r>
              <a:rPr lang="en-US" dirty="0" err="1"/>
              <a:t>tư</a:t>
            </a:r>
            <a:r>
              <a:rPr lang="en-US" dirty="0"/>
              <a:t>̣</a:t>
            </a:r>
          </a:p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Thường</a:t>
            </a:r>
            <a:r>
              <a:rPr lang="en-US" dirty="0"/>
              <a:t> là </a:t>
            </a:r>
            <a:r>
              <a:rPr lang="en-US" dirty="0" err="1"/>
              <a:t>những</a:t>
            </a:r>
            <a:r>
              <a:rPr lang="en-US" dirty="0"/>
              <a:t> file có </a:t>
            </a:r>
            <a:r>
              <a:rPr lang="en-US" dirty="0" err="1"/>
              <a:t>dạng</a:t>
            </a:r>
            <a:r>
              <a:rPr lang="en-US" dirty="0"/>
              <a:t> *.</a:t>
            </a:r>
            <a:r>
              <a:rPr lang="en-US" dirty="0" err="1"/>
              <a:t>ttf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Hiển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̣ </a:t>
            </a:r>
            <a:r>
              <a:rPr lang="en-US" dirty="0" err="1"/>
              <a:t>ky</a:t>
            </a:r>
            <a:r>
              <a:rPr lang="en-US" dirty="0"/>
              <a:t>́ </a:t>
            </a:r>
            <a:r>
              <a:rPr lang="en-US" dirty="0" err="1"/>
              <a:t>tư</a:t>
            </a:r>
            <a:r>
              <a:rPr lang="en-US" dirty="0"/>
              <a:t>̣ có </a:t>
            </a:r>
            <a:r>
              <a:rPr lang="en-US" dirty="0" err="1"/>
              <a:t>kích</a:t>
            </a:r>
            <a:r>
              <a:rPr lang="en-US" dirty="0"/>
              <a:t> </a:t>
            </a:r>
            <a:r>
              <a:rPr lang="en-US" dirty="0" err="1"/>
              <a:t>thước</a:t>
            </a:r>
            <a:r>
              <a:rPr lang="en-US" dirty="0"/>
              <a:t> </a:t>
            </a:r>
            <a:r>
              <a:rPr lang="en-US" dirty="0" err="1"/>
              <a:t>lớn</a:t>
            </a:r>
            <a:r>
              <a:rPr lang="en-US" dirty="0"/>
              <a:t> </a:t>
            </a:r>
            <a:r>
              <a:rPr lang="en-US" dirty="0" err="1"/>
              <a:t>với</a:t>
            </a:r>
            <a:r>
              <a:rPr lang="en-US" dirty="0"/>
              <a:t> </a:t>
            </a:r>
            <a:r>
              <a:rPr lang="en-US" dirty="0" err="1"/>
              <a:t>đô</a:t>
            </a:r>
            <a:r>
              <a:rPr lang="en-US" dirty="0"/>
              <a:t>̣ </a:t>
            </a:r>
            <a:r>
              <a:rPr lang="en-US" dirty="0" err="1"/>
              <a:t>sắc</a:t>
            </a:r>
            <a:r>
              <a:rPr lang="en-US" dirty="0"/>
              <a:t> </a:t>
            </a:r>
            <a:r>
              <a:rPr lang="en-US" dirty="0" err="1"/>
              <a:t>nét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4B65ED-91AE-45FF-9E43-01FAD8DA8D4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1275" y="3860800"/>
            <a:ext cx="2854325" cy="2659063"/>
          </a:xfrm>
          <a:prstGeom prst="rect">
            <a:avLst/>
          </a:prstGeom>
          <a:noFill/>
        </p:spPr>
      </p:pic>
      <p:pic>
        <p:nvPicPr>
          <p:cNvPr id="28679" name="Picture 7" descr="b-outl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32588" y="3789363"/>
            <a:ext cx="1754187" cy="2736850"/>
          </a:xfrm>
          <a:prstGeom prst="rect">
            <a:avLst/>
          </a:prstGeom>
          <a:noFill/>
        </p:spPr>
      </p:pic>
      <p:pic>
        <p:nvPicPr>
          <p:cNvPr id="28681" name="Picture 9" descr="question460-truetyp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0113" y="5229225"/>
            <a:ext cx="2466975" cy="1304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OpenType Font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-  Là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font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2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font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: Type 1 (PostScript) font </a:t>
            </a:r>
            <a:r>
              <a:rPr lang="en-US" dirty="0" err="1"/>
              <a:t>và</a:t>
            </a:r>
            <a:r>
              <a:rPr lang="en-US" dirty="0"/>
              <a:t> TrueType font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(cross-platform)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1 font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Thường</a:t>
            </a:r>
            <a:r>
              <a:rPr lang="en-US" dirty="0"/>
              <a:t> là </a:t>
            </a:r>
            <a:r>
              <a:rPr lang="en-US" dirty="0" err="1"/>
              <a:t>những</a:t>
            </a:r>
            <a:r>
              <a:rPr lang="en-US" dirty="0"/>
              <a:t> file có </a:t>
            </a:r>
            <a:r>
              <a:rPr lang="en-US" dirty="0" err="1"/>
              <a:t>dạng</a:t>
            </a:r>
            <a:r>
              <a:rPr lang="en-US" dirty="0"/>
              <a:t> *.</a:t>
            </a:r>
            <a:r>
              <a:rPr lang="en-US" dirty="0" err="1"/>
              <a:t>otf</a:t>
            </a: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Trong</a:t>
            </a:r>
            <a:r>
              <a:rPr lang="en-US" dirty="0"/>
              <a:t> Windows, TrueType Font có </a:t>
            </a:r>
            <a:r>
              <a:rPr lang="en-US" dirty="0" err="1"/>
              <a:t>biểu</a:t>
            </a:r>
            <a:r>
              <a:rPr lang="en-US" dirty="0"/>
              <a:t> </a:t>
            </a:r>
            <a:r>
              <a:rPr lang="en-US" dirty="0" err="1"/>
              <a:t>tượng</a:t>
            </a:r>
            <a:r>
              <a:rPr lang="en-US" dirty="0"/>
              <a:t> là </a:t>
            </a:r>
            <a:r>
              <a:rPr lang="en-US" dirty="0" err="1"/>
              <a:t>chư</a:t>
            </a:r>
            <a:r>
              <a:rPr lang="en-US" dirty="0"/>
              <a:t>̃ TT, </a:t>
            </a:r>
            <a:r>
              <a:rPr lang="en-US" dirty="0" err="1"/>
              <a:t>còn</a:t>
            </a:r>
            <a:r>
              <a:rPr lang="en-US" dirty="0"/>
              <a:t> OpenType Font là </a:t>
            </a:r>
            <a:r>
              <a:rPr lang="en-US" dirty="0" err="1"/>
              <a:t>chư</a:t>
            </a:r>
            <a:r>
              <a:rPr lang="en-US" dirty="0"/>
              <a:t>̃ O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C0731D-B1BC-411D-9786-7270CA70C7CE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3575" y="5719763"/>
            <a:ext cx="2676525" cy="752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Các thông số Font (Font metrics 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8B11CB-0E6D-4DC7-8C6B-5074CD234AA1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31749" name="Picture 5" descr="The word Sphinx, set in Adobe Caslon Pro to illustrate the concepts of baseline, x-height, body size, descent and ascent.">
            <a:hlinkClick r:id="rId2" tooltip="The word Sphinx, set in Adobe Caslon Pro to illustrate the concepts of baseline, x-height, body size, descent and ascent.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2636838"/>
            <a:ext cx="8064500" cy="2165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Font metrics (tt)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4EAABC-610B-4831-9064-D3432171AB4E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2773" name="AutoShape 5" descr="graphics/14fig17.gif"/>
          <p:cNvSpPr>
            <a:spLocks noChangeAspect="1" noChangeArrowheads="1"/>
          </p:cNvSpPr>
          <p:nvPr/>
        </p:nvSpPr>
        <p:spPr bwMode="auto">
          <a:xfrm>
            <a:off x="155575" y="46038"/>
            <a:ext cx="4762500" cy="359092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2775" name="AutoShape 7" descr="graphics/14fig17.gif"/>
          <p:cNvSpPr>
            <a:spLocks noChangeAspect="1" noChangeArrowheads="1"/>
          </p:cNvSpPr>
          <p:nvPr/>
        </p:nvSpPr>
        <p:spPr bwMode="auto">
          <a:xfrm>
            <a:off x="155575" y="46038"/>
            <a:ext cx="4762500" cy="359092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32777" name="AutoShape 9" descr="graphics/14fig17.gif"/>
          <p:cNvSpPr>
            <a:spLocks noChangeAspect="1" noChangeArrowheads="1"/>
          </p:cNvSpPr>
          <p:nvPr/>
        </p:nvSpPr>
        <p:spPr bwMode="auto">
          <a:xfrm>
            <a:off x="155575" y="46038"/>
            <a:ext cx="4762500" cy="359092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pic>
        <p:nvPicPr>
          <p:cNvPr id="32778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663" y="1698625"/>
            <a:ext cx="4762500" cy="3590925"/>
          </a:xfrm>
          <a:prstGeom prst="rect">
            <a:avLst/>
          </a:prstGeom>
          <a:noFill/>
        </p:spPr>
      </p:pic>
      <p:pic>
        <p:nvPicPr>
          <p:cNvPr id="32780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3800" y="2673350"/>
            <a:ext cx="4038600" cy="1495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Font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dirty="0"/>
              <a:t>Design unit: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cỡ</a:t>
            </a:r>
            <a:r>
              <a:rPr lang="en-US" dirty="0"/>
              <a:t> 1 </a:t>
            </a:r>
            <a:r>
              <a:rPr lang="en-US" dirty="0" err="1"/>
              <a:t>họ</a:t>
            </a:r>
            <a:r>
              <a:rPr lang="en-US" dirty="0"/>
              <a:t> font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point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Font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: </a:t>
            </a:r>
          </a:p>
          <a:p>
            <a:pPr>
              <a:buFontTx/>
              <a:buNone/>
            </a:pPr>
            <a:r>
              <a:rPr lang="en-US" dirty="0"/>
              <a:t>-  pixel: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1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(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, </a:t>
            </a:r>
            <a:r>
              <a:rPr lang="en-US" dirty="0" err="1"/>
              <a:t>máy</a:t>
            </a:r>
            <a:r>
              <a:rPr lang="en-US" dirty="0"/>
              <a:t> in)</a:t>
            </a:r>
          </a:p>
          <a:p>
            <a:pPr>
              <a:buFontTx/>
              <a:buNone/>
            </a:pPr>
            <a:r>
              <a:rPr lang="en-US" dirty="0"/>
              <a:t>-  point: 1 </a:t>
            </a:r>
            <a:r>
              <a:rPr lang="vi-VN" dirty="0"/>
              <a:t>point </a:t>
            </a:r>
            <a:r>
              <a:rPr lang="en-US" dirty="0"/>
              <a:t>=</a:t>
            </a:r>
            <a:r>
              <a:rPr lang="vi-VN" dirty="0"/>
              <a:t> 1/72 inch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in </a:t>
            </a:r>
            <a:r>
              <a:rPr lang="en-US" dirty="0" err="1"/>
              <a:t>ấn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-  </a:t>
            </a:r>
            <a:r>
              <a:rPr lang="en-US" dirty="0" err="1"/>
              <a:t>em</a:t>
            </a:r>
            <a:r>
              <a:rPr lang="en-US" dirty="0"/>
              <a:t>:  </a:t>
            </a:r>
            <a:r>
              <a:rPr lang="vi-VN" dirty="0"/>
              <a:t>độ rộng của chữ M ứng với kiểu chữ đang dùng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7A5CAF-88ED-460B-A1D7-EBC09489097D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Font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	</a:t>
            </a:r>
            <a:r>
              <a:rPr lang="en-US">
                <a:solidFill>
                  <a:schemeClr val="accent2"/>
                </a:solidFill>
              </a:rPr>
              <a:t>-  Mô tả lớp Font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-  Các thuộc tính lớp Font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	-  Các hàm khởi tạo lớp Font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   + Tập hợp FontStyle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   + Tập hợp GraphicsUnit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	-  Các phương thức lớp Font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-  Các ví dụ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EF3BB8-93EF-4CD9-B8DE-65B53E6ED044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Mô tả lớp Font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dirty="0"/>
              <a:t>-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  <a:p>
            <a:pPr>
              <a:buFontTx/>
              <a:buNone/>
            </a:pPr>
            <a:r>
              <a:rPr lang="en-US" dirty="0"/>
              <a:t>-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,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,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dáng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sz="2600" b="1" dirty="0"/>
              <a:t>Namespace:</a:t>
            </a:r>
            <a:r>
              <a:rPr lang="en-US" sz="2600" dirty="0"/>
              <a:t> </a:t>
            </a:r>
            <a:r>
              <a:rPr lang="en-US" sz="2600" dirty="0" err="1"/>
              <a:t>System.Drawing</a:t>
            </a:r>
            <a:endParaRPr lang="en-US" sz="2600" dirty="0"/>
          </a:p>
          <a:p>
            <a:pPr>
              <a:buFontTx/>
              <a:buChar char="-"/>
            </a:pPr>
            <a:r>
              <a:rPr lang="en-US" sz="2600" b="1" dirty="0"/>
              <a:t>Assembly:</a:t>
            </a:r>
            <a:r>
              <a:rPr lang="en-US" sz="2600" dirty="0"/>
              <a:t> </a:t>
            </a:r>
            <a:r>
              <a:rPr lang="en-US" sz="2600" dirty="0" err="1"/>
              <a:t>System.Drawing</a:t>
            </a:r>
            <a:r>
              <a:rPr lang="en-US" sz="2600" dirty="0"/>
              <a:t> (in </a:t>
            </a:r>
            <a:r>
              <a:rPr lang="en-US" sz="2600" dirty="0" err="1"/>
              <a:t>dll</a:t>
            </a:r>
            <a:r>
              <a:rPr lang="en-US" sz="2600" dirty="0"/>
              <a:t>)</a:t>
            </a:r>
            <a:r>
              <a:rPr lang="en-US" sz="240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B624D3-E8A6-4B02-8CD9-24E55972667B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-100013"/>
            <a:ext cx="8229600" cy="1143001"/>
          </a:xfrm>
          <a:noFill/>
          <a:ln/>
        </p:spPr>
        <p:txBody>
          <a:bodyPr/>
          <a:lstStyle/>
          <a:p>
            <a:r>
              <a:rPr lang="en-US"/>
              <a:t>Font Properties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74A280-5E90-40B2-8327-4A38D77A719F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C3CF0-2F1B-4381-B14B-6F5BEAC02EE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146476" name="Picture 4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908050"/>
            <a:ext cx="8850312" cy="5848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561975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/>
              <a:t>Font Properties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44CE23-171B-44BF-8784-978EF5BBFF6F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14746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793750"/>
            <a:ext cx="8850312" cy="595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Font Constructor 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idx="1"/>
          </p:nvPr>
        </p:nvSpPr>
        <p:spPr>
          <a:xfrm>
            <a:off x="423863" y="1341438"/>
            <a:ext cx="4752975" cy="604837"/>
          </a:xfrm>
          <a:noFill/>
          <a:ln/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Public Constructors</a:t>
            </a:r>
            <a:r>
              <a:rPr lang="en-US" altLang="zh-CN" sz="1400">
                <a:ea typeface="宋体" pitchFamily="2" charset="-122"/>
              </a:rPr>
              <a:t> </a:t>
            </a:r>
            <a:br>
              <a:rPr lang="en-US" sz="1400"/>
            </a:br>
            <a:endParaRPr lang="en-US" sz="14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6ECB2B-53FB-4D6F-B960-0E64099C9F9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44041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1650" y="1974850"/>
            <a:ext cx="8142288" cy="2390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71421"/>
            <a:ext cx="8229600" cy="1143001"/>
          </a:xfrm>
          <a:noFill/>
          <a:ln/>
        </p:spPr>
        <p:txBody>
          <a:bodyPr/>
          <a:lstStyle/>
          <a:p>
            <a:r>
              <a:rPr lang="en-US"/>
              <a:t>Font Constructor (tt)</a:t>
            </a:r>
          </a:p>
        </p:txBody>
      </p:sp>
      <p:graphicFrame>
        <p:nvGraphicFramePr>
          <p:cNvPr id="149650" name="Group 146"/>
          <p:cNvGraphicFramePr>
            <a:graphicFrameLocks noGrp="1"/>
          </p:cNvGraphicFramePr>
          <p:nvPr>
            <p:ph type="tbl" idx="1"/>
          </p:nvPr>
        </p:nvGraphicFramePr>
        <p:xfrm>
          <a:off x="755650" y="1410674"/>
          <a:ext cx="7705725" cy="5090160"/>
        </p:xfrm>
        <a:graphic>
          <a:graphicData uri="http://schemas.openxmlformats.org/drawingml/2006/table">
            <a:tbl>
              <a:tblPr/>
              <a:tblGrid>
                <a:gridCol w="770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Font(string, float)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Font(string, float, FontStyle)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Font(FontFamily, float)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Font(FontFamily, float, FontStyle)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Font(string, float, GraphicsUnit)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Font(string, float, FontStyle, GraphicsUnit)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Font(FontFamily, float, GraphicsUnit)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Font(string, float, FontStyle, GraphicsUnit, byte, bool)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Font(string, float, FontStyle, GraphicsUnit, byte)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Font(Font, FontStyle)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Font(FontFamily, float, FontStyle, GraphicsUnit)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81B8E2-8FE3-4CD1-8BCF-8B176121CA6E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C3CF0-2F1B-4381-B14B-6F5BEAC02EE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FontStyle</a:t>
            </a:r>
            <a:endParaRPr lang="en-US" dirty="0"/>
          </a:p>
        </p:txBody>
      </p:sp>
      <p:graphicFrame>
        <p:nvGraphicFramePr>
          <p:cNvPr id="77860" name="Group 36"/>
          <p:cNvGraphicFramePr>
            <a:graphicFrameLocks noGrp="1"/>
          </p:cNvGraphicFramePr>
          <p:nvPr>
            <p:ph sz="half" idx="2"/>
          </p:nvPr>
        </p:nvGraphicFramePr>
        <p:xfrm>
          <a:off x="463550" y="2349500"/>
          <a:ext cx="8280400" cy="2743200"/>
        </p:xfrm>
        <a:graphic>
          <a:graphicData uri="http://schemas.openxmlformats.org/drawingml/2006/table">
            <a:tbl>
              <a:tblPr/>
              <a:tblGrid>
                <a:gridCol w="2303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Member Name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Description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Bold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Bold text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Italic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Italic text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Regular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Normal text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Strikeout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Text with a line through the middle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Underline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Underlined text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Date Placeholder 3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A290A3-13D8-4E05-8F63-27CBBA7433DB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B3A1EE-D76C-44DA-8A62-F032FF4FAEE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/>
          <a:lstStyle/>
          <a:p>
            <a:r>
              <a:rPr lang="en-US"/>
              <a:t>Ví dụ FontStyle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6762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Hiển thị tất cả các dạng FontStyle</a:t>
            </a:r>
            <a:r>
              <a:rPr lang="en-US"/>
              <a:t>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7682AC-A579-4A55-AF3F-74F3D53464C4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4711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50" y="2708275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Font Sizes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9E5FC-F9EF-447E-BAE0-5A45D3D8B6F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2037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928670"/>
            <a:ext cx="5116655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Font Names</a:t>
            </a:r>
          </a:p>
        </p:txBody>
      </p:sp>
      <p:pic>
        <p:nvPicPr>
          <p:cNvPr id="2048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00562" y="500042"/>
            <a:ext cx="3897941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9E5FC-F9EF-447E-BAE0-5A45D3D8B6F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en-US"/>
              <a:t>Tập hợp GraphicsUnit</a:t>
            </a:r>
          </a:p>
        </p:txBody>
      </p:sp>
      <p:graphicFrame>
        <p:nvGraphicFramePr>
          <p:cNvPr id="78907" name="Group 59"/>
          <p:cNvGraphicFramePr>
            <a:graphicFrameLocks noGrp="1"/>
          </p:cNvGraphicFramePr>
          <p:nvPr>
            <p:ph sz="half" idx="2"/>
          </p:nvPr>
        </p:nvGraphicFramePr>
        <p:xfrm>
          <a:off x="463550" y="1989138"/>
          <a:ext cx="8280400" cy="3657600"/>
        </p:xfrm>
        <a:graphic>
          <a:graphicData uri="http://schemas.openxmlformats.org/drawingml/2006/table">
            <a:tbl>
              <a:tblPr/>
              <a:tblGrid>
                <a:gridCol w="2303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Member Name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Description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World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Units of world coordinates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Display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Won’t work with font constructor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Pixel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Units of pixels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Point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Units of 1/72 inch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Inch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Units of inch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Document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Units of 1/300 inch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Milimeter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Units of milimeters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Date Placeholder 4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9149BD-F5C2-4938-AE34-C333B177F94C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43" name="Footer Placeholder 4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B3A1EE-D76C-44DA-8A62-F032FF4FAEE3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9E5FC-F9EF-447E-BAE0-5A45D3D8B6F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00034" y="3643314"/>
            <a:ext cx="8001056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/>
              <a:t>new Font(strFamily, 72)</a:t>
            </a:r>
          </a:p>
          <a:p>
            <a:r>
              <a:rPr lang="en-US" sz="2400"/>
              <a:t>new Font(strFamily, 72,    GraphicsUnit.Point)</a:t>
            </a:r>
          </a:p>
          <a:p>
            <a:r>
              <a:rPr lang="en-US" sz="2400"/>
              <a:t>new Font(strFamily, 1,     GraphicsUnit.Inch)</a:t>
            </a:r>
          </a:p>
          <a:p>
            <a:r>
              <a:rPr lang="en-US" sz="2400"/>
              <a:t>new Font(strFamily, 25.4f, GraphicsUnit.Millimeter)</a:t>
            </a:r>
          </a:p>
          <a:p>
            <a:r>
              <a:rPr lang="en-US" sz="2400"/>
              <a:t>new Font(strFamily, 300,   GraphicsUnit.Document)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472" y="1785926"/>
            <a:ext cx="7500990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/>
              <a:t>new Font(strFamily, float fSize)</a:t>
            </a:r>
          </a:p>
          <a:p>
            <a:r>
              <a:rPr lang="en-US" sz="2400"/>
              <a:t>new Font(strFamily, float fSize, GraphicsUnit.Point)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Rectangle 4"/>
          <p:cNvSpPr>
            <a:spLocks noChangeArrowheads="1"/>
          </p:cNvSpPr>
          <p:nvPr/>
        </p:nvSpPr>
        <p:spPr bwMode="auto">
          <a:xfrm>
            <a:off x="71406" y="1281101"/>
            <a:ext cx="82296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zh-CN" sz="3200">
                <a:solidFill>
                  <a:schemeClr val="accent2"/>
                </a:solidFill>
                <a:ea typeface="宋体" pitchFamily="2" charset="-122"/>
              </a:rPr>
              <a:t>Public Methods</a:t>
            </a:r>
            <a:endParaRPr lang="en-US" sz="3200">
              <a:solidFill>
                <a:schemeClr val="accent2"/>
              </a:solidFill>
            </a:endParaRPr>
          </a:p>
        </p:txBody>
      </p:sp>
      <p:sp>
        <p:nvSpPr>
          <p:cNvPr id="153605" name="Rectangle 5"/>
          <p:cNvSpPr>
            <a:spLocks noChangeArrowheads="1"/>
          </p:cNvSpPr>
          <p:nvPr/>
        </p:nvSpPr>
        <p:spPr bwMode="auto">
          <a:xfrm>
            <a:off x="457200" y="274638"/>
            <a:ext cx="82296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/>
              <a:t>Font Methods</a:t>
            </a:r>
          </a:p>
        </p:txBody>
      </p:sp>
      <p:pic>
        <p:nvPicPr>
          <p:cNvPr id="15360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1819299"/>
            <a:ext cx="8850312" cy="5038725"/>
          </a:xfrm>
          <a:prstGeom prst="rect">
            <a:avLst/>
          </a:prstGeom>
          <a:noFill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7F18A5-7899-41A0-92E0-29E5A178EBD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ChangeArrowheads="1"/>
          </p:cNvSpPr>
          <p:nvPr/>
        </p:nvSpPr>
        <p:spPr bwMode="auto">
          <a:xfrm>
            <a:off x="71406" y="1281101"/>
            <a:ext cx="82296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zh-CN" sz="3200">
                <a:solidFill>
                  <a:schemeClr val="accent2"/>
                </a:solidFill>
                <a:ea typeface="宋体" pitchFamily="2" charset="-122"/>
              </a:rPr>
              <a:t>Public Methods</a:t>
            </a:r>
            <a:endParaRPr lang="en-US" sz="3200">
              <a:solidFill>
                <a:schemeClr val="accent2"/>
              </a:solidFill>
            </a:endParaRPr>
          </a:p>
        </p:txBody>
      </p:sp>
      <p:sp>
        <p:nvSpPr>
          <p:cNvPr id="157699" name="Rectangle 3"/>
          <p:cNvSpPr>
            <a:spLocks noChangeArrowheads="1"/>
          </p:cNvSpPr>
          <p:nvPr/>
        </p:nvSpPr>
        <p:spPr bwMode="auto">
          <a:xfrm>
            <a:off x="457200" y="274638"/>
            <a:ext cx="82296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/>
              <a:t>Font Methods (tt)</a:t>
            </a:r>
          </a:p>
        </p:txBody>
      </p:sp>
      <p:pic>
        <p:nvPicPr>
          <p:cNvPr id="157703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1785926"/>
            <a:ext cx="8850312" cy="5081585"/>
          </a:xfrm>
          <a:prstGeom prst="rect">
            <a:avLst/>
          </a:prstGeom>
          <a:noFill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2F36F1-9444-4DA1-AB31-BAF6429EFC2C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ChangeArrowheads="1"/>
          </p:cNvSpPr>
          <p:nvPr/>
        </p:nvSpPr>
        <p:spPr bwMode="auto">
          <a:xfrm>
            <a:off x="71406" y="1357298"/>
            <a:ext cx="82296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zh-CN" sz="3200">
                <a:solidFill>
                  <a:schemeClr val="accent2"/>
                </a:solidFill>
                <a:ea typeface="宋体" pitchFamily="2" charset="-122"/>
              </a:rPr>
              <a:t>Public Methods</a:t>
            </a:r>
            <a:endParaRPr lang="en-US" sz="3200">
              <a:solidFill>
                <a:schemeClr val="accent2"/>
              </a:solidFill>
            </a:endParaRPr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457200" y="274638"/>
            <a:ext cx="82296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/>
              <a:t>Font Methods (tt)</a:t>
            </a:r>
          </a:p>
        </p:txBody>
      </p:sp>
      <p:pic>
        <p:nvPicPr>
          <p:cNvPr id="1566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1966934"/>
            <a:ext cx="8850312" cy="4533900"/>
          </a:xfrm>
          <a:prstGeom prst="rect">
            <a:avLst/>
          </a:prstGeom>
          <a:noFill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5E090A-5564-463A-87CB-108E912653BF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57176" y="1423977"/>
            <a:ext cx="82296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zh-CN" sz="3200">
                <a:solidFill>
                  <a:schemeClr val="accent2"/>
                </a:solidFill>
                <a:ea typeface="宋体" pitchFamily="2" charset="-122"/>
              </a:rPr>
              <a:t>Public Methods</a:t>
            </a:r>
            <a:endParaRPr lang="en-US" sz="3200">
              <a:solidFill>
                <a:schemeClr val="accent2"/>
              </a:solidFill>
            </a:endParaRPr>
          </a:p>
        </p:txBody>
      </p:sp>
      <p:sp>
        <p:nvSpPr>
          <p:cNvPr id="158725" name="Rectangle 5"/>
          <p:cNvSpPr>
            <a:spLocks noChangeArrowheads="1"/>
          </p:cNvSpPr>
          <p:nvPr/>
        </p:nvSpPr>
        <p:spPr bwMode="auto">
          <a:xfrm>
            <a:off x="457200" y="274638"/>
            <a:ext cx="82296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/>
              <a:t>Font Methods (tt)</a:t>
            </a:r>
          </a:p>
        </p:txBody>
      </p:sp>
      <p:pic>
        <p:nvPicPr>
          <p:cNvPr id="15872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1928815"/>
            <a:ext cx="8850312" cy="1857375"/>
          </a:xfrm>
          <a:prstGeom prst="rect">
            <a:avLst/>
          </a:prstGeom>
          <a:noFill/>
        </p:spPr>
      </p:pic>
      <p:sp>
        <p:nvSpPr>
          <p:cNvPr id="158727" name="Rectangle 7"/>
          <p:cNvSpPr>
            <a:spLocks noGrp="1" noChangeArrowheads="1"/>
          </p:cNvSpPr>
          <p:nvPr>
            <p:ph type="title"/>
          </p:nvPr>
        </p:nvSpPr>
        <p:spPr>
          <a:xfrm>
            <a:off x="71406" y="3865571"/>
            <a:ext cx="8229600" cy="777875"/>
          </a:xfrm>
          <a:noFill/>
          <a:ln/>
        </p:spPr>
        <p:txBody>
          <a:bodyPr/>
          <a:lstStyle/>
          <a:p>
            <a:pPr algn="l"/>
            <a:r>
              <a:rPr lang="en-US" altLang="zh-CN" sz="3200">
                <a:solidFill>
                  <a:schemeClr val="accent2"/>
                </a:solidFill>
                <a:ea typeface="宋体" pitchFamily="2" charset="-122"/>
              </a:rPr>
              <a:t>Protected Methods</a:t>
            </a:r>
            <a:endParaRPr lang="en-US" sz="3200">
              <a:solidFill>
                <a:schemeClr val="accent2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C3BA0F-83FE-4BB8-94DE-14B4F2EF032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158729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638" y="4481513"/>
            <a:ext cx="8850312" cy="19716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Ví dụ về Font</a:t>
            </a:r>
          </a:p>
        </p:txBody>
      </p:sp>
      <p:sp>
        <p:nvSpPr>
          <p:cNvPr id="9830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341438"/>
            <a:ext cx="8229600" cy="676275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Lấy thông tin về font</a:t>
            </a:r>
            <a:r>
              <a:rPr lang="en-US"/>
              <a:t>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2A361B-D33E-444D-91B3-DBAFF417840C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98312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1928802"/>
            <a:ext cx="4010025" cy="4143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FontFamily Class 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	</a:t>
            </a:r>
            <a:r>
              <a:rPr lang="en-US">
                <a:solidFill>
                  <a:schemeClr val="accent2"/>
                </a:solidFill>
              </a:rPr>
              <a:t>-  Mô tả lớp FontFamily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-  Các thuộc tính lớp FontFamily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	-  Các hàm khởi tạo lớp FontFamily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   + Tập hợp GenericFontFamilies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	-  Các phương thức lớp FontFamily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-  Các ví dụ</a:t>
            </a:r>
          </a:p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9DEBEF-9B75-457F-888E-F7708AF7DC95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Mô tả lớp FontFamily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font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dáng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thừa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sz="2600" b="1" dirty="0"/>
              <a:t>Namespace:</a:t>
            </a:r>
            <a:r>
              <a:rPr lang="en-US" sz="2600" dirty="0"/>
              <a:t> </a:t>
            </a:r>
            <a:r>
              <a:rPr lang="en-US" sz="2600" dirty="0" err="1"/>
              <a:t>System.Drawing</a:t>
            </a:r>
            <a:endParaRPr lang="en-US" sz="2600" dirty="0"/>
          </a:p>
          <a:p>
            <a:pPr>
              <a:buFontTx/>
              <a:buChar char="-"/>
            </a:pPr>
            <a:r>
              <a:rPr lang="en-US" sz="2600" b="1" dirty="0"/>
              <a:t>Assembly:</a:t>
            </a:r>
            <a:r>
              <a:rPr lang="en-US" sz="2600" dirty="0"/>
              <a:t> </a:t>
            </a:r>
            <a:r>
              <a:rPr lang="en-US" sz="2600" dirty="0" err="1"/>
              <a:t>System.Drawing</a:t>
            </a:r>
            <a:r>
              <a:rPr lang="en-US" sz="2600" dirty="0"/>
              <a:t> (in </a:t>
            </a:r>
            <a:r>
              <a:rPr lang="en-US" sz="2600" dirty="0" err="1"/>
              <a:t>dll</a:t>
            </a:r>
            <a:r>
              <a:rPr lang="en-US" sz="2600" dirty="0"/>
              <a:t>)</a:t>
            </a:r>
            <a:r>
              <a:rPr lang="en-US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A8B79B-832D-4911-80C3-865A7CC9F090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FontFamily Properties</a:t>
            </a:r>
          </a:p>
        </p:txBody>
      </p:sp>
      <p:sp>
        <p:nvSpPr>
          <p:cNvPr id="57349" name="Rectangle 5"/>
          <p:cNvSpPr>
            <a:spLocks noGrp="1" noChangeArrowheads="1"/>
          </p:cNvSpPr>
          <p:nvPr>
            <p:ph idx="1"/>
          </p:nvPr>
        </p:nvSpPr>
        <p:spPr>
          <a:xfrm>
            <a:off x="142844" y="1538279"/>
            <a:ext cx="8218487" cy="604837"/>
          </a:xfrm>
          <a:noFill/>
          <a:ln/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Public </a:t>
            </a:r>
            <a:r>
              <a:rPr lang="en-US">
                <a:solidFill>
                  <a:schemeClr val="accent2"/>
                </a:solidFill>
              </a:rPr>
              <a:t>Properties</a:t>
            </a:r>
            <a:r>
              <a:rPr lang="en-US" altLang="zh-CN" sz="2800">
                <a:ea typeface="宋体" pitchFamily="2" charset="-122"/>
              </a:rPr>
              <a:t> </a:t>
            </a:r>
            <a:br>
              <a:rPr lang="en-US" sz="2800"/>
            </a:br>
            <a:endParaRPr lang="en-US" sz="2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8F51BC-81DD-4175-8B5C-1AE5EBEFEDFD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pic>
        <p:nvPicPr>
          <p:cNvPr id="57352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425" y="1989138"/>
            <a:ext cx="8694738" cy="4429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en-US"/>
              <a:t>FontFamily Constructor</a:t>
            </a: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388935" y="1500174"/>
            <a:ext cx="3754437" cy="533400"/>
          </a:xfrm>
          <a:noFill/>
          <a:ln/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chemeClr val="accent2"/>
                </a:solidFill>
                <a:ea typeface="宋体" pitchFamily="2" charset="-122"/>
              </a:rPr>
              <a:t>Public Constructors</a:t>
            </a:r>
            <a:r>
              <a:rPr lang="en-US" altLang="zh-CN" sz="2400">
                <a:ea typeface="宋体" pitchFamily="2" charset="-122"/>
              </a:rPr>
              <a:t> </a:t>
            </a:r>
            <a:br>
              <a:rPr lang="en-US" sz="2400"/>
            </a:br>
            <a:endParaRPr lang="en-US" sz="2400"/>
          </a:p>
        </p:txBody>
      </p:sp>
      <p:graphicFrame>
        <p:nvGraphicFramePr>
          <p:cNvPr id="59435" name="Group 43"/>
          <p:cNvGraphicFramePr>
            <a:graphicFrameLocks noGrp="1"/>
          </p:cNvGraphicFramePr>
          <p:nvPr>
            <p:ph sz="half" idx="2"/>
          </p:nvPr>
        </p:nvGraphicFramePr>
        <p:xfrm>
          <a:off x="468313" y="2060575"/>
          <a:ext cx="8351837" cy="1508760"/>
        </p:xfrm>
        <a:graphic>
          <a:graphicData uri="http://schemas.openxmlformats.org/drawingml/2006/table">
            <a:tbl>
              <a:tblPr/>
              <a:tblGrid>
                <a:gridCol w="201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5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Name</a:t>
                      </a:r>
                      <a:r>
                        <a:rPr kumimoji="0" lang="en-US" altLang="zh-CN" sz="29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9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9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Description</a:t>
                      </a:r>
                      <a:r>
                        <a:rPr kumimoji="0" lang="en-US" altLang="zh-CN" sz="29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9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9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FontFamily</a:t>
                      </a:r>
                      <a:r>
                        <a:rPr kumimoji="0" lang="en-US" altLang="zh-CN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Overloaded. Initializes a new FontFamily that uses the specified name. </a:t>
                      </a:r>
                      <a:endParaRPr kumimoji="0" lang="en-US" sz="2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C74567-7D21-46EB-9BDF-CBACA6C9AF0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B3A1EE-D76C-44DA-8A62-F032FF4FAEE3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395288" y="4005263"/>
            <a:ext cx="8218487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3200">
                <a:solidFill>
                  <a:schemeClr val="accent2"/>
                </a:solidFill>
              </a:rPr>
              <a:t>Overload List</a:t>
            </a:r>
            <a:endParaRPr lang="en-US" sz="1400"/>
          </a:p>
        </p:txBody>
      </p:sp>
      <p:graphicFrame>
        <p:nvGraphicFramePr>
          <p:cNvPr id="59461" name="Group 69"/>
          <p:cNvGraphicFramePr>
            <a:graphicFrameLocks noGrp="1"/>
          </p:cNvGraphicFramePr>
          <p:nvPr/>
        </p:nvGraphicFramePr>
        <p:xfrm>
          <a:off x="511175" y="4581525"/>
          <a:ext cx="6148388" cy="1645920"/>
        </p:xfrm>
        <a:graphic>
          <a:graphicData uri="http://schemas.openxmlformats.org/drawingml/2006/table">
            <a:tbl>
              <a:tblPr/>
              <a:tblGrid>
                <a:gridCol w="61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FontFamily (GenericFontFamilies) </a:t>
                      </a:r>
                      <a:endParaRPr kumimoji="0" lang="en-US" sz="3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FontFamily (String) </a:t>
                      </a:r>
                      <a:endParaRPr kumimoji="0" lang="en-US" sz="3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FontFamily (String, FontCollection) </a:t>
                      </a:r>
                      <a:endParaRPr kumimoji="0" lang="en-US" sz="3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en-US"/>
              <a:t>Tập hợp GenericFontFamilies</a:t>
            </a:r>
          </a:p>
        </p:txBody>
      </p:sp>
      <p:graphicFrame>
        <p:nvGraphicFramePr>
          <p:cNvPr id="79911" name="Group 39"/>
          <p:cNvGraphicFramePr>
            <a:graphicFrameLocks noGrp="1"/>
          </p:cNvGraphicFramePr>
          <p:nvPr>
            <p:ph sz="half" idx="2"/>
          </p:nvPr>
        </p:nvGraphicFramePr>
        <p:xfrm>
          <a:off x="463550" y="2717800"/>
          <a:ext cx="8280400" cy="2011680"/>
        </p:xfrm>
        <a:graphic>
          <a:graphicData uri="http://schemas.openxmlformats.org/drawingml/2006/table">
            <a:tbl>
              <a:tblPr/>
              <a:tblGrid>
                <a:gridCol w="2303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Member Name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Description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Serif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Ví dụ như font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Times New Roman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SansSerif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Ví dụ như font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Arial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Monospace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Ví dụ như font </a:t>
                      </a: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Courier New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E48C5A-0C9F-48E6-8473-E4DA4E4550F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B3A1EE-D76C-44DA-8A62-F032FF4FAEE3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1143000"/>
          </a:xfrm>
        </p:spPr>
        <p:txBody>
          <a:bodyPr/>
          <a:lstStyle/>
          <a:p>
            <a:r>
              <a:rPr lang="en-US"/>
              <a:t>FontFamily Methods</a:t>
            </a:r>
          </a:p>
        </p:txBody>
      </p:sp>
      <p:sp>
        <p:nvSpPr>
          <p:cNvPr id="16179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71406" y="1325551"/>
            <a:ext cx="4038600" cy="460375"/>
          </a:xfrm>
          <a:noFill/>
          <a:ln/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Public Methods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374D8E-9A8F-4806-89BB-B5CD5C4D98A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B3A1EE-D76C-44DA-8A62-F032FF4FAEE3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pic>
        <p:nvPicPr>
          <p:cNvPr id="161895" name="Picture 10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785926"/>
            <a:ext cx="8723312" cy="5048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975"/>
            <a:ext cx="8229600" cy="1143000"/>
          </a:xfrm>
        </p:spPr>
        <p:txBody>
          <a:bodyPr/>
          <a:lstStyle/>
          <a:p>
            <a:r>
              <a:rPr lang="en-US"/>
              <a:t>FontFamily Methods (tt)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2844" y="1428736"/>
            <a:ext cx="4038600" cy="460375"/>
          </a:xfrm>
          <a:noFill/>
          <a:ln/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Public Methods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703FB2-20FF-4184-B605-24E04B8003BC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B3A1EE-D76C-44DA-8A62-F032FF4FAEE3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166941" name="Picture 2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138" y="1800249"/>
            <a:ext cx="8723312" cy="5057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en-US"/>
              <a:t>FontFamily Methods (tt)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2844" y="1539865"/>
            <a:ext cx="4038600" cy="460375"/>
          </a:xfrm>
          <a:noFill/>
          <a:ln/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Public Methods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030911"/>
            <a:ext cx="2133600" cy="476250"/>
          </a:xfrm>
        </p:spPr>
        <p:txBody>
          <a:bodyPr/>
          <a:lstStyle/>
          <a:p>
            <a:pPr>
              <a:defRPr/>
            </a:pPr>
            <a:fld id="{A0E1DE22-5876-443A-BC21-7F8ACD31D528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030911"/>
            <a:ext cx="2895600" cy="476250"/>
          </a:xfrm>
        </p:spPr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030911"/>
            <a:ext cx="2133600" cy="476250"/>
          </a:xfrm>
        </p:spPr>
        <p:txBody>
          <a:bodyPr/>
          <a:lstStyle/>
          <a:p>
            <a:pPr>
              <a:defRPr/>
            </a:pPr>
            <a:fld id="{C5B3A1EE-D76C-44DA-8A62-F032FF4FAEE3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pic>
        <p:nvPicPr>
          <p:cNvPr id="165952" name="Picture 6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1138" y="1957410"/>
            <a:ext cx="8723312" cy="4686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00013"/>
            <a:ext cx="8229600" cy="1143001"/>
          </a:xfrm>
        </p:spPr>
        <p:txBody>
          <a:bodyPr/>
          <a:lstStyle/>
          <a:p>
            <a:r>
              <a:rPr lang="en-US"/>
              <a:t>FontFamily Methods (tt)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648" y="1396989"/>
            <a:ext cx="4038600" cy="460375"/>
          </a:xfrm>
          <a:noFill/>
          <a:ln/>
        </p:spPr>
        <p:txBody>
          <a:bodyPr>
            <a:normAutofit fontScale="92500" lnSpcReduction="20000"/>
          </a:bodyPr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Public Methods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6D4612-AA55-44D0-9418-A9E8C890686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B3A1EE-D76C-44DA-8A62-F032FF4FAEE3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pic>
        <p:nvPicPr>
          <p:cNvPr id="16794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282" y="1747837"/>
            <a:ext cx="8723312" cy="1609725"/>
          </a:xfrm>
          <a:prstGeom prst="rect">
            <a:avLst/>
          </a:prstGeom>
          <a:noFill/>
        </p:spPr>
      </p:pic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250825" y="3536956"/>
            <a:ext cx="8229600" cy="82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>
                <a:solidFill>
                  <a:schemeClr val="accent2"/>
                </a:solidFill>
              </a:rPr>
              <a:t>Protected Methods</a:t>
            </a:r>
          </a:p>
        </p:txBody>
      </p:sp>
      <p:pic>
        <p:nvPicPr>
          <p:cNvPr id="167943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4019574"/>
            <a:ext cx="8535988" cy="2838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về Font Family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CB1123-8321-4487-B606-1AF04AF544C4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2051050" y="1557338"/>
            <a:ext cx="5184775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3200">
                <a:solidFill>
                  <a:schemeClr val="accent2"/>
                </a:solidFill>
              </a:rPr>
              <a:t>Lấy thông tin về font family</a:t>
            </a:r>
          </a:p>
        </p:txBody>
      </p:sp>
      <p:pic>
        <p:nvPicPr>
          <p:cNvPr id="49159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781300"/>
            <a:ext cx="45720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571472" y="214290"/>
            <a:ext cx="800105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4000" b="1"/>
              <a:t>Lấy thông tin về font family (tt)</a:t>
            </a:r>
          </a:p>
        </p:txBody>
      </p:sp>
      <p:pic>
        <p:nvPicPr>
          <p:cNvPr id="50185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43784"/>
            <a:ext cx="9143999" cy="5814216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DE3086-363A-43B1-A58A-B9E9DED2230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/>
              <a:t>Font Families List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9E5FC-F9EF-447E-BAE0-5A45D3D8B6F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pic>
        <p:nvPicPr>
          <p:cNvPr id="2058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714356"/>
            <a:ext cx="3143272" cy="5596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các thông số Họ Font (tt)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1252538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   </a:t>
            </a:r>
            <a:r>
              <a:rPr lang="en-US">
                <a:solidFill>
                  <a:schemeClr val="accent2"/>
                </a:solidFill>
              </a:rPr>
              <a:t>Vẽ các đường thẳng tại các nơi ascent, descent, baseline, line space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355FD2-EC7A-44D2-8881-B910E3233751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pic>
        <p:nvPicPr>
          <p:cNvPr id="10445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0750" y="3019425"/>
            <a:ext cx="4762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942" name="Group 14"/>
          <p:cNvGrpSpPr>
            <a:grpSpLocks/>
          </p:cNvGrpSpPr>
          <p:nvPr/>
        </p:nvGrpSpPr>
        <p:grpSpPr bwMode="auto">
          <a:xfrm>
            <a:off x="539750" y="1142984"/>
            <a:ext cx="8032750" cy="5715000"/>
            <a:chOff x="340" y="360"/>
            <a:chExt cx="5060" cy="3600"/>
          </a:xfrm>
        </p:grpSpPr>
        <p:pic>
          <p:nvPicPr>
            <p:cNvPr id="124938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40" y="360"/>
              <a:ext cx="2520" cy="1800"/>
            </a:xfrm>
            <a:prstGeom prst="rect">
              <a:avLst/>
            </a:prstGeom>
            <a:noFill/>
          </p:spPr>
        </p:pic>
        <p:pic>
          <p:nvPicPr>
            <p:cNvPr id="124939" name="Picture 1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880" y="360"/>
              <a:ext cx="2520" cy="1800"/>
            </a:xfrm>
            <a:prstGeom prst="rect">
              <a:avLst/>
            </a:prstGeom>
            <a:noFill/>
          </p:spPr>
        </p:pic>
        <p:pic>
          <p:nvPicPr>
            <p:cNvPr id="124940" name="Picture 1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40" y="2160"/>
              <a:ext cx="2520" cy="1800"/>
            </a:xfrm>
            <a:prstGeom prst="rect">
              <a:avLst/>
            </a:prstGeom>
            <a:noFill/>
          </p:spPr>
        </p:pic>
        <p:pic>
          <p:nvPicPr>
            <p:cNvPr id="124941" name="Picture 1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880" y="2160"/>
              <a:ext cx="2520" cy="1800"/>
            </a:xfrm>
            <a:prstGeom prst="rect">
              <a:avLst/>
            </a:prstGeom>
            <a:noFill/>
          </p:spPr>
        </p:pic>
      </p:grpSp>
      <p:sp>
        <p:nvSpPr>
          <p:cNvPr id="124943" name="Rectangle 15"/>
          <p:cNvSpPr>
            <a:spLocks noGrp="1" noChangeArrowheads="1"/>
          </p:cNvSpPr>
          <p:nvPr>
            <p:ph idx="1"/>
          </p:nvPr>
        </p:nvSpPr>
        <p:spPr>
          <a:xfrm>
            <a:off x="1979613" y="260350"/>
            <a:ext cx="4906962" cy="720725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/>
              <a:t>   </a:t>
            </a:r>
            <a:r>
              <a:rPr lang="en-US">
                <a:solidFill>
                  <a:schemeClr val="accent2"/>
                </a:solidFill>
              </a:rPr>
              <a:t>Vẽ các đường thẳng (tt)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591284"/>
            <a:ext cx="2133600" cy="365125"/>
          </a:xfrm>
        </p:spPr>
        <p:txBody>
          <a:bodyPr/>
          <a:lstStyle/>
          <a:p>
            <a:pPr>
              <a:defRPr/>
            </a:pPr>
            <a:fld id="{E886098F-B972-42AA-9DC5-3CC923F973BE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124200" y="6591284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91284"/>
            <a:ext cx="2133600" cy="365125"/>
          </a:xfrm>
        </p:spPr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2950" y="1071563"/>
            <a:ext cx="7659688" cy="5381625"/>
          </a:xfrm>
          <a:prstGeom prst="rect">
            <a:avLst/>
          </a:prstGeom>
          <a:noFill/>
        </p:spPr>
      </p:pic>
      <p:sp>
        <p:nvSpPr>
          <p:cNvPr id="105476" name="Rectangle 4"/>
          <p:cNvSpPr>
            <a:spLocks noGrp="1" noChangeArrowheads="1"/>
          </p:cNvSpPr>
          <p:nvPr>
            <p:ph idx="1"/>
          </p:nvPr>
        </p:nvSpPr>
        <p:spPr>
          <a:xfrm>
            <a:off x="1979613" y="260350"/>
            <a:ext cx="4906962" cy="720725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/>
              <a:t>   </a:t>
            </a:r>
            <a:r>
              <a:rPr lang="en-US">
                <a:solidFill>
                  <a:schemeClr val="accent2"/>
                </a:solidFill>
              </a:rPr>
              <a:t>Vẽ các đường thẳng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DDCD32-FB74-45F5-A29F-75CB61300441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825" y="1381146"/>
            <a:ext cx="8732838" cy="5048250"/>
          </a:xfrm>
          <a:prstGeom prst="rect">
            <a:avLst/>
          </a:prstGeom>
          <a:noFill/>
        </p:spPr>
      </p:pic>
      <p:sp>
        <p:nvSpPr>
          <p:cNvPr id="106500" name="Rectangle 4"/>
          <p:cNvSpPr>
            <a:spLocks noGrp="1" noChangeArrowheads="1"/>
          </p:cNvSpPr>
          <p:nvPr>
            <p:ph idx="1"/>
          </p:nvPr>
        </p:nvSpPr>
        <p:spPr>
          <a:xfrm>
            <a:off x="1979613" y="260350"/>
            <a:ext cx="4906962" cy="720725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/>
              <a:t>   </a:t>
            </a:r>
            <a:r>
              <a:rPr lang="en-US">
                <a:solidFill>
                  <a:schemeClr val="accent2"/>
                </a:solidFill>
              </a:rPr>
              <a:t>Vẽ các đường thẳng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896E41-1DC1-4C0E-95C2-7DA593D2FEAB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6713" y="1076325"/>
            <a:ext cx="8412162" cy="5448300"/>
          </a:xfrm>
          <a:prstGeom prst="rect">
            <a:avLst/>
          </a:prstGeom>
          <a:noFill/>
        </p:spPr>
      </p:pic>
      <p:sp>
        <p:nvSpPr>
          <p:cNvPr id="125957" name="Rectangle 5"/>
          <p:cNvSpPr>
            <a:spLocks noGrp="1" noChangeArrowheads="1"/>
          </p:cNvSpPr>
          <p:nvPr>
            <p:ph idx="1"/>
          </p:nvPr>
        </p:nvSpPr>
        <p:spPr>
          <a:xfrm>
            <a:off x="1979613" y="260350"/>
            <a:ext cx="4906962" cy="720725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/>
              <a:t>   </a:t>
            </a:r>
            <a:r>
              <a:rPr lang="en-US">
                <a:solidFill>
                  <a:schemeClr val="accent2"/>
                </a:solidFill>
              </a:rPr>
              <a:t>Vẽ các đường thẳng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1A4A1B-9C2D-414F-88B9-0961A4B2797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8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5" y="1125538"/>
            <a:ext cx="8923338" cy="5248275"/>
          </a:xfrm>
          <a:prstGeom prst="rect">
            <a:avLst/>
          </a:prstGeom>
          <a:noFill/>
        </p:spPr>
      </p:pic>
      <p:sp>
        <p:nvSpPr>
          <p:cNvPr id="126983" name="Rectangle 7"/>
          <p:cNvSpPr>
            <a:spLocks noGrp="1" noChangeArrowheads="1"/>
          </p:cNvSpPr>
          <p:nvPr>
            <p:ph idx="1"/>
          </p:nvPr>
        </p:nvSpPr>
        <p:spPr>
          <a:xfrm>
            <a:off x="1979613" y="260350"/>
            <a:ext cx="4906962" cy="720725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/>
              <a:t>   </a:t>
            </a:r>
            <a:r>
              <a:rPr lang="en-US">
                <a:solidFill>
                  <a:schemeClr val="accent2"/>
                </a:solidFill>
              </a:rPr>
              <a:t>Vẽ các đường thẳng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87EF18-9CC9-4C5C-A1AA-DF41853C9CA7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/>
              <a:t>String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/>
              <a:t>Một số thành phần liên quan đến </a:t>
            </a:r>
            <a:br>
              <a:rPr lang="en-US" sz="4000"/>
            </a:br>
            <a:r>
              <a:rPr lang="en-US" sz="4000"/>
              <a:t>chuỗi ký tự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44675"/>
            <a:ext cx="8229600" cy="4281488"/>
          </a:xfrm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Tập hợp TextRenderingHint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Tập hợp TextFormatFlags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Thuộc tính Graphics.TextContrast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Phương thức Graphics.MeasureString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Lớp StringFormat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Lớp TextRenderer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E13CA4-4509-4694-81D5-B03EFA06AEF6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Tập hợp TextRenderingHint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1628775"/>
            <a:ext cx="8856663" cy="4708525"/>
          </a:xfrm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-  Mô tả tập hợp TextRenderingHint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-  Các thành viên tập hợp TextRenderingHint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-  Các ví dụ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1FED69-FAB3-4548-A094-EB749F925ABD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1414"/>
            <a:ext cx="8785225" cy="1143000"/>
          </a:xfrm>
        </p:spPr>
        <p:txBody>
          <a:bodyPr/>
          <a:lstStyle/>
          <a:p>
            <a:r>
              <a:rPr lang="en-US"/>
              <a:t>Mô tả tập hợp TextRenderingHint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-  Quy định việc hiện thị chuỗi văn bản theo một chất lượng cụ thể</a:t>
            </a:r>
          </a:p>
          <a:p>
            <a:pPr>
              <a:buFontTx/>
              <a:buNone/>
            </a:pPr>
            <a:endParaRPr lang="en-US"/>
          </a:p>
          <a:p>
            <a:pPr>
              <a:buFontTx/>
              <a:buChar char="-"/>
            </a:pPr>
            <a:r>
              <a:rPr lang="en-US" sz="2600" b="1"/>
              <a:t>Namespace:</a:t>
            </a:r>
            <a:r>
              <a:rPr lang="en-US" sz="2600"/>
              <a:t> Text</a:t>
            </a:r>
            <a:r>
              <a:rPr lang="en-US"/>
              <a:t> </a:t>
            </a:r>
            <a:endParaRPr lang="en-US" sz="2600"/>
          </a:p>
          <a:p>
            <a:pPr>
              <a:buFontTx/>
              <a:buChar char="-"/>
            </a:pPr>
            <a:r>
              <a:rPr lang="en-US" sz="2600" b="1"/>
              <a:t>Assembly:</a:t>
            </a:r>
            <a:r>
              <a:rPr lang="en-US" sz="2600"/>
              <a:t> System.Drawing (in dll)</a:t>
            </a:r>
            <a:r>
              <a:rPr lang="en-US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B26EAF-39AF-4D18-ABC1-EE297BDC01C7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209532"/>
            <a:ext cx="9036050" cy="647700"/>
          </a:xfrm>
        </p:spPr>
        <p:txBody>
          <a:bodyPr/>
          <a:lstStyle/>
          <a:p>
            <a:r>
              <a:rPr lang="en-US" sz="3600"/>
              <a:t>Các thành viên tập hợp TextRenderingHint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FEBDB8-02F8-48BD-B81F-CDB8865FCCA8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C3CF0-2F1B-4381-B14B-6F5BEAC02EED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pic>
        <p:nvPicPr>
          <p:cNvPr id="12800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875" y="1071546"/>
            <a:ext cx="8351838" cy="57546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-142900"/>
            <a:ext cx="9036050" cy="1296987"/>
          </a:xfrm>
        </p:spPr>
        <p:txBody>
          <a:bodyPr>
            <a:normAutofit fontScale="90000"/>
          </a:bodyPr>
          <a:lstStyle/>
          <a:p>
            <a:r>
              <a:rPr lang="en-US"/>
              <a:t>Các thành viên tập hợp TextRenderingHint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E9F50C-90C3-4FD4-85D3-CF7DCB26BED5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C3CF0-2F1B-4381-B14B-6F5BEAC02EED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pic>
        <p:nvPicPr>
          <p:cNvPr id="1873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875" y="1587500"/>
            <a:ext cx="8351838" cy="5010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1896"/>
            <a:ext cx="8229600" cy="1009650"/>
          </a:xfrm>
        </p:spPr>
        <p:txBody>
          <a:bodyPr/>
          <a:lstStyle/>
          <a:p>
            <a:r>
              <a:rPr lang="en-US"/>
              <a:t>Ví dụ về TextRenderingHint</a:t>
            </a:r>
          </a:p>
        </p:txBody>
      </p:sp>
      <p:sp>
        <p:nvSpPr>
          <p:cNvPr id="143364" name="Rectangle 4"/>
          <p:cNvSpPr>
            <a:spLocks noGrp="1" noChangeArrowheads="1"/>
          </p:cNvSpPr>
          <p:nvPr>
            <p:ph idx="1"/>
          </p:nvPr>
        </p:nvSpPr>
        <p:spPr>
          <a:xfrm>
            <a:off x="107950" y="1322378"/>
            <a:ext cx="8856663" cy="7493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600"/>
              <a:t>	</a:t>
            </a:r>
            <a:r>
              <a:rPr lang="en-US" sz="2400">
                <a:solidFill>
                  <a:schemeClr val="accent2"/>
                </a:solidFill>
              </a:rPr>
              <a:t>Hiển thị chuỗi theo các định dạng của TextRenderingHint</a:t>
            </a:r>
            <a:r>
              <a:rPr lang="en-US" sz="200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10A747-E2BC-4831-A629-313626302FB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pic>
        <p:nvPicPr>
          <p:cNvPr id="14336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713" y="1643050"/>
            <a:ext cx="8666162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9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9144000" cy="5467350"/>
          </a:xfrm>
          <a:prstGeom prst="rect">
            <a:avLst/>
          </a:prstGeom>
          <a:noFill/>
        </p:spPr>
      </p:pic>
      <p:sp>
        <p:nvSpPr>
          <p:cNvPr id="144391" name="Rectangle 7"/>
          <p:cNvSpPr>
            <a:spLocks noGrp="1" noChangeArrowheads="1"/>
          </p:cNvSpPr>
          <p:nvPr>
            <p:ph idx="1"/>
          </p:nvPr>
        </p:nvSpPr>
        <p:spPr>
          <a:xfrm>
            <a:off x="179388" y="447675"/>
            <a:ext cx="8785225" cy="7493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	</a:t>
            </a:r>
            <a:r>
              <a:rPr lang="en-US" sz="2400">
                <a:solidFill>
                  <a:schemeClr val="accent2"/>
                </a:solidFill>
              </a:rPr>
              <a:t>Hiển thị chuỗi theo các định dạng của TextRenderingHint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122D58-41CB-4D3B-8D4C-96B725438C85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9E5FC-F9EF-447E-BAE0-5A45D3D8B6F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pic>
        <p:nvPicPr>
          <p:cNvPr id="2068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357298"/>
            <a:ext cx="4786346" cy="4866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fonts 14 point or greater, use </a:t>
            </a:r>
            <a:r>
              <a:rPr lang="en-US" dirty="0" err="1"/>
              <a:t>AntiAliasGridFit</a:t>
            </a:r>
            <a:r>
              <a:rPr lang="en-US" dirty="0"/>
              <a:t>.</a:t>
            </a:r>
          </a:p>
          <a:p>
            <a:r>
              <a:rPr lang="en-US" dirty="0"/>
              <a:t>For fonts between around 8 and 14 point, use </a:t>
            </a:r>
            <a:r>
              <a:rPr lang="en-US" dirty="0" err="1"/>
              <a:t>AntiAlias</a:t>
            </a:r>
            <a:r>
              <a:rPr lang="en-US" dirty="0"/>
              <a:t>.</a:t>
            </a:r>
          </a:p>
          <a:p>
            <a:r>
              <a:rPr lang="en-US" dirty="0"/>
              <a:t>For fonts smaller than 8 point, use </a:t>
            </a:r>
            <a:r>
              <a:rPr lang="en-US" dirty="0" err="1"/>
              <a:t>ClearTypeGridFit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9E5FC-F9EF-447E-BAE0-5A45D3D8B6F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74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Thuộc tính Graphics.TextContrast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 </a:t>
            </a:r>
            <a:r>
              <a:rPr lang="en-US">
                <a:solidFill>
                  <a:schemeClr val="accent2"/>
                </a:solidFill>
              </a:rPr>
              <a:t>-  Mô tả thuộc tính TextContrast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Ví dụ về thuộc tính TextContrast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752462-3F51-4748-A760-377502BF672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Mô tả thuộc tính TextContrast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2620963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Char char="-"/>
            </a:pPr>
            <a:r>
              <a:rPr lang="en-US" sz="2800" dirty="0" err="1"/>
              <a:t>Graphics.TextContrast</a:t>
            </a:r>
            <a:r>
              <a:rPr lang="en-US" sz="2800" dirty="0"/>
              <a:t> Property gets or sets the gamma correction value for rendering text.</a:t>
            </a:r>
          </a:p>
          <a:p>
            <a:pPr>
              <a:buFontTx/>
              <a:buChar char="-"/>
            </a:pPr>
            <a:r>
              <a:rPr lang="en-US" sz="2800" dirty="0" err="1"/>
              <a:t>Graphics.TextContrast</a:t>
            </a:r>
            <a:r>
              <a:rPr lang="en-US" sz="2800" dirty="0"/>
              <a:t> </a:t>
            </a:r>
            <a:r>
              <a:rPr lang="en-US" sz="2800" dirty="0" err="1"/>
              <a:t>lấy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thiết</a:t>
            </a:r>
            <a:r>
              <a:rPr lang="en-US" sz="2800" dirty="0"/>
              <a:t> </a:t>
            </a:r>
            <a:r>
              <a:rPr lang="en-US" sz="2800" dirty="0" err="1"/>
              <a:t>lập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đúng</a:t>
            </a:r>
            <a:r>
              <a:rPr lang="en-US" sz="2800" dirty="0"/>
              <a:t> gamma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việc</a:t>
            </a:r>
            <a:r>
              <a:rPr lang="en-US" sz="2800" dirty="0"/>
              <a:t> </a:t>
            </a:r>
            <a:r>
              <a:rPr lang="en-US" sz="2800" dirty="0" err="1"/>
              <a:t>hiển</a:t>
            </a:r>
            <a:r>
              <a:rPr lang="en-US" sz="2800" dirty="0"/>
              <a:t> </a:t>
            </a:r>
            <a:r>
              <a:rPr lang="en-US" sz="2800" dirty="0" err="1"/>
              <a:t>thị</a:t>
            </a:r>
            <a:r>
              <a:rPr lang="en-US" sz="2800" dirty="0"/>
              <a:t> text</a:t>
            </a:r>
          </a:p>
          <a:p>
            <a:pPr>
              <a:buFontTx/>
              <a:buNone/>
            </a:pPr>
            <a:endParaRPr lang="en-US" sz="2800" dirty="0"/>
          </a:p>
          <a:p>
            <a:pPr>
              <a:buFontTx/>
              <a:buChar char="-"/>
            </a:pPr>
            <a:r>
              <a:rPr lang="en-US" sz="2400" b="1" dirty="0"/>
              <a:t>Namespace:</a:t>
            </a:r>
            <a:r>
              <a:rPr lang="en-US" sz="2400" dirty="0"/>
              <a:t> </a:t>
            </a:r>
            <a:r>
              <a:rPr lang="en-US" sz="2400" dirty="0" err="1"/>
              <a:t>System.Drawing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b="1" dirty="0"/>
              <a:t>Assembly:</a:t>
            </a:r>
            <a:r>
              <a:rPr lang="en-US" sz="2400" dirty="0"/>
              <a:t> </a:t>
            </a:r>
            <a:r>
              <a:rPr lang="en-US" sz="2400" dirty="0" err="1"/>
              <a:t>System.Drawing</a:t>
            </a:r>
            <a:r>
              <a:rPr lang="en-US" sz="2400" dirty="0"/>
              <a:t> (in </a:t>
            </a:r>
            <a:r>
              <a:rPr lang="en-US" sz="2400" dirty="0" err="1"/>
              <a:t>dll</a:t>
            </a:r>
            <a:r>
              <a:rPr lang="en-US" sz="2400" dirty="0"/>
              <a:t>)</a:t>
            </a:r>
            <a:r>
              <a:rPr lang="en-US" sz="280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44854B-E66E-43AD-A6D7-DC19D8BA00DA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về thuộc tính TextContrast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889000" y="1455738"/>
            <a:ext cx="7499350" cy="604837"/>
          </a:xfrm>
        </p:spPr>
        <p:txBody>
          <a:bodyPr/>
          <a:lstStyle/>
          <a:p>
            <a:pPr>
              <a:buFontTx/>
              <a:buNone/>
            </a:pPr>
            <a:r>
              <a:rPr lang="en-US" sz="2800">
                <a:solidFill>
                  <a:schemeClr val="accent2"/>
                </a:solidFill>
              </a:rPr>
              <a:t>Change TextRenderingHint And TextContrast</a:t>
            </a:r>
            <a:r>
              <a:rPr lang="en-US" sz="2800"/>
              <a:t>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3D429B-185B-49D2-A421-B749FA1F3B46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  <p:pic>
        <p:nvPicPr>
          <p:cNvPr id="1126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47988" y="2781300"/>
            <a:ext cx="3248025" cy="2933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331788"/>
            <a:ext cx="8229600" cy="50482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>
                <a:solidFill>
                  <a:schemeClr val="accent2"/>
                </a:solidFill>
              </a:rPr>
              <a:t>Change TextRenderingHint And TextContrast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B33DD0-4F55-4587-81DC-9BA79EE764D9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9144000" cy="58578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Phương thức Graphics.MeasureString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 </a:t>
            </a:r>
            <a:r>
              <a:rPr lang="en-US">
                <a:solidFill>
                  <a:schemeClr val="accent2"/>
                </a:solidFill>
              </a:rPr>
              <a:t>-  Mô tả các hàm MeasureString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-  Ví dụ về hàm MeasureString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A5B26B-74D2-4C92-8DD8-56003A478AFA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Mô tả các hàm MeasureString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>
              <a:buFontTx/>
              <a:buChar char="-"/>
            </a:pPr>
            <a:r>
              <a:rPr lang="en-US" sz="2800" dirty="0" err="1"/>
              <a:t>Đo</a:t>
            </a:r>
            <a:r>
              <a:rPr lang="en-US" sz="2800" dirty="0"/>
              <a:t> </a:t>
            </a:r>
            <a:r>
              <a:rPr lang="en-US" sz="2800" dirty="0" err="1"/>
              <a:t>chuỗi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chuỗi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vẽ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1 </a:t>
            </a:r>
            <a:r>
              <a:rPr lang="en-US" sz="2800" dirty="0" err="1"/>
              <a:t>loại</a:t>
            </a:r>
            <a:r>
              <a:rPr lang="en-US" sz="2800" dirty="0"/>
              <a:t> font </a:t>
            </a:r>
            <a:r>
              <a:rPr lang="en-US" sz="2800" dirty="0" err="1"/>
              <a:t>cụ</a:t>
            </a:r>
            <a:r>
              <a:rPr lang="en-US" sz="2800" dirty="0"/>
              <a:t> </a:t>
            </a:r>
            <a:r>
              <a:rPr lang="en-US" sz="2800" dirty="0" err="1"/>
              <a:t>thể</a:t>
            </a:r>
            <a:r>
              <a:rPr lang="en-US" dirty="0"/>
              <a:t>.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None/>
            </a:pPr>
            <a:r>
              <a:rPr lang="en-US" sz="2800" dirty="0"/>
              <a:t>-  </a:t>
            </a:r>
            <a:r>
              <a:rPr lang="en-US" sz="2400" b="1" dirty="0"/>
              <a:t>Namespace:</a:t>
            </a:r>
            <a:r>
              <a:rPr lang="en-US" sz="2400" dirty="0"/>
              <a:t> </a:t>
            </a:r>
            <a:r>
              <a:rPr lang="en-US" sz="2400" dirty="0" err="1"/>
              <a:t>System.Drawing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b="1" dirty="0"/>
              <a:t>Assembly:</a:t>
            </a:r>
            <a:r>
              <a:rPr lang="en-US" sz="2400" dirty="0"/>
              <a:t> </a:t>
            </a:r>
            <a:r>
              <a:rPr lang="en-US" sz="2400" dirty="0" err="1"/>
              <a:t>System.Drawing</a:t>
            </a:r>
            <a:r>
              <a:rPr lang="en-US" sz="2400" dirty="0"/>
              <a:t> (in </a:t>
            </a:r>
            <a:r>
              <a:rPr lang="en-US" sz="2400" dirty="0" err="1"/>
              <a:t>dll</a:t>
            </a:r>
            <a:r>
              <a:rPr lang="en-US" sz="2400" dirty="0"/>
              <a:t>) </a:t>
            </a:r>
          </a:p>
          <a:p>
            <a:pPr>
              <a:buFontTx/>
              <a:buNone/>
            </a:pPr>
            <a:r>
              <a:rPr lang="en-US" sz="2400" dirty="0">
                <a:solidFill>
                  <a:schemeClr val="accent2"/>
                </a:solidFill>
              </a:rPr>
              <a:t>                     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E5DC3D-B691-4B7C-A46F-37765C27990E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  <a:noFill/>
          <a:ln/>
        </p:spPr>
        <p:txBody>
          <a:bodyPr/>
          <a:lstStyle/>
          <a:p>
            <a:r>
              <a:rPr lang="en-US"/>
              <a:t>Mô tả các hàm MeasureString (tt)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/>
              <a:t>Đo chuỗi khi được vẽ với 1 loại font cụ thể. </a:t>
            </a:r>
          </a:p>
          <a:p>
            <a:pPr>
              <a:buFontTx/>
              <a:buNone/>
            </a:pPr>
            <a:r>
              <a:rPr lang="en-US"/>
              <a:t>	</a:t>
            </a: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MeasureString Method (String, Font)</a:t>
            </a: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MeasureString Method (String, Font, int)</a:t>
            </a:r>
          </a:p>
          <a:p>
            <a:pPr>
              <a:buFontTx/>
              <a:buChar char="-"/>
            </a:pPr>
            <a:r>
              <a:rPr lang="en-US"/>
              <a:t>Đo chuỗi khi được vẽ với 1 loại font cụ thể  trong 1 vùng thể hiện. </a:t>
            </a:r>
            <a:r>
              <a:rPr lang="en-US" altLang="zh-CN">
                <a:ea typeface="宋体" pitchFamily="2" charset="-122"/>
              </a:rPr>
              <a:t> </a:t>
            </a:r>
          </a:p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	MeasureString Method (String, Font, SizeF)</a:t>
            </a:r>
            <a:endParaRPr lang="en-US">
              <a:solidFill>
                <a:schemeClr val="accent2"/>
              </a:solidFill>
              <a:ea typeface="宋体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C4DE670-B0E8-49EB-A820-573467741A7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/>
              <a:t>Mô tả các hàm MeasureString (tt)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92075" y="1600200"/>
            <a:ext cx="8964613" cy="4205288"/>
          </a:xfrm>
        </p:spPr>
        <p:txBody>
          <a:bodyPr/>
          <a:lstStyle/>
          <a:p>
            <a:pPr>
              <a:buFontTx/>
              <a:buChar char="-"/>
            </a:pPr>
            <a:r>
              <a:rPr lang="en-US"/>
              <a:t>Đo chuỗi khi được vẽ với 1 loại font cụ thể và được định dạng bởi 1 đối tượng StringFormat. </a:t>
            </a:r>
          </a:p>
          <a:p>
            <a:pPr>
              <a:buFontTx/>
              <a:buNone/>
            </a:pPr>
            <a:r>
              <a:rPr lang="en-US"/>
              <a:t>	</a:t>
            </a:r>
            <a:r>
              <a:rPr lang="en-US" altLang="zh-CN" sz="2500">
                <a:solidFill>
                  <a:schemeClr val="accent2"/>
                </a:solidFill>
                <a:ea typeface="宋体" pitchFamily="2" charset="-122"/>
              </a:rPr>
              <a:t>MeasureString Method (String, Font, int,StringFormat)</a:t>
            </a:r>
            <a:r>
              <a:rPr lang="en-US" altLang="zh-CN" sz="2500">
                <a:ea typeface="宋体" pitchFamily="2" charset="-122"/>
              </a:rPr>
              <a:t> </a:t>
            </a:r>
          </a:p>
          <a:p>
            <a:pPr>
              <a:buFontTx/>
              <a:buNone/>
            </a:pPr>
            <a:r>
              <a:rPr lang="en-US" altLang="zh-CN" sz="2500">
                <a:ea typeface="宋体" pitchFamily="2" charset="-122"/>
              </a:rPr>
              <a:t>	</a:t>
            </a:r>
            <a:r>
              <a:rPr lang="en-US" altLang="zh-CN" sz="2500">
                <a:solidFill>
                  <a:schemeClr val="accent2"/>
                </a:solidFill>
                <a:ea typeface="宋体" pitchFamily="2" charset="-122"/>
              </a:rPr>
              <a:t>MeasureString Method (String, Font, PointF, StringFormat) </a:t>
            </a:r>
          </a:p>
          <a:p>
            <a:pPr>
              <a:buFontTx/>
              <a:buNone/>
            </a:pPr>
            <a:r>
              <a:rPr lang="en-US" altLang="zh-CN" sz="2500">
                <a:solidFill>
                  <a:schemeClr val="accent2"/>
                </a:solidFill>
                <a:ea typeface="宋体" pitchFamily="2" charset="-122"/>
              </a:rPr>
              <a:t>	MeasureString Method (String, Font, SizeF, StringFormat)</a:t>
            </a:r>
            <a:r>
              <a:rPr lang="en-US" altLang="zh-CN" sz="2500">
                <a:ea typeface="宋体" pitchFamily="2" charset="-122"/>
              </a:rPr>
              <a:t> </a:t>
            </a:r>
          </a:p>
          <a:p>
            <a:pPr>
              <a:buFontTx/>
              <a:buNone/>
            </a:pPr>
            <a:r>
              <a:rPr lang="en-US" sz="2500"/>
              <a:t>	</a:t>
            </a:r>
            <a:r>
              <a:rPr lang="en-US" altLang="zh-CN" sz="2500">
                <a:solidFill>
                  <a:schemeClr val="accent2"/>
                </a:solidFill>
                <a:ea typeface="宋体" pitchFamily="2" charset="-122"/>
              </a:rPr>
              <a:t>MeasureString Method (String, Font, SizeF, StringFormat,</a:t>
            </a:r>
          </a:p>
          <a:p>
            <a:pPr>
              <a:buFontTx/>
              <a:buNone/>
            </a:pPr>
            <a:r>
              <a:rPr lang="en-US" altLang="zh-CN" sz="2500">
                <a:solidFill>
                  <a:schemeClr val="accent2"/>
                </a:solidFill>
                <a:ea typeface="宋体" pitchFamily="2" charset="-122"/>
              </a:rPr>
              <a:t>									    int, int) </a:t>
            </a:r>
            <a:endParaRPr lang="en-US" sz="2500">
              <a:solidFill>
                <a:schemeClr val="accent2"/>
              </a:solidFill>
              <a:ea typeface="宋体" pitchFamily="2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5D1378-07E0-4482-B707-0175E3F1C160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32138" y="2659063"/>
            <a:ext cx="2857500" cy="2857500"/>
          </a:xfrm>
          <a:prstGeom prst="rect">
            <a:avLst/>
          </a:prstGeom>
          <a:noFill/>
        </p:spPr>
      </p:pic>
      <p:sp>
        <p:nvSpPr>
          <p:cNvPr id="11981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Ví dụ về hàm MeasureString</a:t>
            </a:r>
          </a:p>
        </p:txBody>
      </p:sp>
      <p:sp>
        <p:nvSpPr>
          <p:cNvPr id="119812" name="Rectangle 4"/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229600" cy="574675"/>
          </a:xfrm>
          <a:noFill/>
          <a:ln/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Hiện thị chuỗi chính giữa form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9CABA8-ED11-4833-9F2D-5CACDB8119CA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75" y="1293813"/>
            <a:ext cx="8097838" cy="5448300"/>
          </a:xfrm>
          <a:prstGeom prst="rect">
            <a:avLst/>
          </a:prstGeom>
          <a:noFill/>
        </p:spPr>
      </p:pic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549275"/>
            <a:ext cx="8229600" cy="574675"/>
          </a:xfrm>
          <a:noFill/>
          <a:ln/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Hiện thị chuỗi chính giữa form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205703-D35B-419F-9635-ADCB65FDE8D7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về hàm MeasureString (tt)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xfrm>
            <a:off x="1970088" y="1600200"/>
            <a:ext cx="5194300" cy="604838"/>
          </a:xfrm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Vẽ hình chữ nhật bọc chuỗi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901D5A-AE27-49C0-A845-DF9B9E9658EA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pic>
        <p:nvPicPr>
          <p:cNvPr id="121862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6900" y="2852738"/>
            <a:ext cx="5410200" cy="2819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7" name="Rectangle 7"/>
          <p:cNvSpPr>
            <a:spLocks noGrp="1" noChangeArrowheads="1"/>
          </p:cNvSpPr>
          <p:nvPr>
            <p:ph idx="1"/>
          </p:nvPr>
        </p:nvSpPr>
        <p:spPr>
          <a:xfrm>
            <a:off x="1681163" y="231775"/>
            <a:ext cx="5843587" cy="604838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Vẽ hình chữ nhật bọc chuỗi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2C343B-A2AF-4CC4-B201-7783A256A4B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pic>
        <p:nvPicPr>
          <p:cNvPr id="122890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00" y="1052513"/>
            <a:ext cx="8942388" cy="5353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StringFormat Class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924425"/>
          </a:xfrm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-  Mô tả lớp StringFormat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-  Các thuộc tính lớp StringFormat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   + Tập hợp StringFormatFlags 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   + Tập hợp StringTrimming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   + Tập hợp HotkeyPrefix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	-  Các hàm khởi tạo lớp StringFormat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	-  Các phương thức lớp StringFormat</a:t>
            </a:r>
          </a:p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   -  Các ví dụ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6984A1-3B3D-47EF-8841-973A266D9A4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Mô tả lớp StringFormat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-  Chứa tất cả các thông tin cách thể hiện (layout) của văn bản (như canh dòng, hướng thể hiện, tab stop)</a:t>
            </a:r>
          </a:p>
          <a:p>
            <a:pPr>
              <a:buFontTx/>
              <a:buChar char="-"/>
            </a:pPr>
            <a:r>
              <a:rPr lang="en-US"/>
              <a:t>Không cho phép kế thừa</a:t>
            </a:r>
          </a:p>
          <a:p>
            <a:pPr>
              <a:buFontTx/>
              <a:buChar char="-"/>
            </a:pPr>
            <a:endParaRPr lang="en-US"/>
          </a:p>
          <a:p>
            <a:pPr>
              <a:buFontTx/>
              <a:buChar char="-"/>
            </a:pPr>
            <a:r>
              <a:rPr lang="en-US" sz="2600" b="1"/>
              <a:t>Namespace:</a:t>
            </a:r>
            <a:r>
              <a:rPr lang="en-US" sz="2600"/>
              <a:t> System.Drawing</a:t>
            </a:r>
          </a:p>
          <a:p>
            <a:pPr>
              <a:buFontTx/>
              <a:buChar char="-"/>
            </a:pPr>
            <a:r>
              <a:rPr lang="en-US" sz="2600" b="1"/>
              <a:t>Assembly:</a:t>
            </a:r>
            <a:r>
              <a:rPr lang="en-US" sz="2600"/>
              <a:t> System.Drawing (in dll)</a:t>
            </a:r>
            <a:r>
              <a:rPr lang="en-US"/>
              <a:t> </a:t>
            </a:r>
          </a:p>
          <a:p>
            <a:pPr>
              <a:buFontTx/>
              <a:buChar char="-"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56B4E6-025C-49CF-B4FA-76F825D78016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  <a:noFill/>
          <a:ln/>
        </p:spPr>
        <p:txBody>
          <a:bodyPr/>
          <a:lstStyle/>
          <a:p>
            <a:r>
              <a:rPr lang="en-US" dirty="0" err="1"/>
              <a:t>StringFormat</a:t>
            </a:r>
            <a:r>
              <a:rPr lang="en-US" dirty="0"/>
              <a:t> Properties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285720" y="1500174"/>
            <a:ext cx="8218487" cy="604838"/>
          </a:xfrm>
          <a:noFill/>
          <a:ln/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Public </a:t>
            </a:r>
            <a:r>
              <a:rPr lang="en-US">
                <a:solidFill>
                  <a:schemeClr val="accent2"/>
                </a:solidFill>
              </a:rPr>
              <a:t>Properties</a:t>
            </a: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 </a:t>
            </a:r>
            <a:br>
              <a:rPr lang="en-US">
                <a:solidFill>
                  <a:schemeClr val="accent2"/>
                </a:solidFill>
              </a:rPr>
            </a:br>
            <a:endParaRPr lang="en-US">
              <a:solidFill>
                <a:schemeClr val="accent2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9DB05A-287E-469C-A465-2C14B4655021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  <p:pic>
        <p:nvPicPr>
          <p:cNvPr id="16999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875" y="1833586"/>
            <a:ext cx="8351838" cy="495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-100013"/>
            <a:ext cx="8229600" cy="1143001"/>
          </a:xfrm>
          <a:noFill/>
          <a:ln/>
        </p:spPr>
        <p:txBody>
          <a:bodyPr/>
          <a:lstStyle/>
          <a:p>
            <a:r>
              <a:rPr lang="en-US"/>
              <a:t>StringFormat Properties (tt)</a:t>
            </a:r>
          </a:p>
        </p:txBody>
      </p:sp>
      <p:sp>
        <p:nvSpPr>
          <p:cNvPr id="81925" name="Rectangle 5"/>
          <p:cNvSpPr>
            <a:spLocks noGrp="1" noChangeArrowheads="1"/>
          </p:cNvSpPr>
          <p:nvPr>
            <p:ph idx="1"/>
          </p:nvPr>
        </p:nvSpPr>
        <p:spPr>
          <a:xfrm>
            <a:off x="214282" y="1428736"/>
            <a:ext cx="8218487" cy="604838"/>
          </a:xfrm>
          <a:noFill/>
          <a:ln/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Public </a:t>
            </a:r>
            <a:r>
              <a:rPr lang="en-US">
                <a:solidFill>
                  <a:schemeClr val="accent2"/>
                </a:solidFill>
              </a:rPr>
              <a:t>Properties</a:t>
            </a:r>
            <a:r>
              <a:rPr lang="en-US" altLang="zh-CN" sz="2800">
                <a:ea typeface="宋体" pitchFamily="2" charset="-122"/>
              </a:rPr>
              <a:t> </a:t>
            </a:r>
            <a:br>
              <a:rPr lang="en-US" sz="2800"/>
            </a:br>
            <a:endParaRPr lang="en-US" sz="2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07543A-23DE-4915-AD81-3F87B0C0C6B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  <p:pic>
        <p:nvPicPr>
          <p:cNvPr id="8192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785926"/>
            <a:ext cx="8535988" cy="50720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Tập hợp StringFormatFlags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01F7FB-C2C1-4ABF-85D9-C24C2B7E7EC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  <p:pic>
        <p:nvPicPr>
          <p:cNvPr id="85000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900" y="1504950"/>
            <a:ext cx="8713788" cy="43719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00013"/>
            <a:ext cx="8229600" cy="1143001"/>
          </a:xfrm>
        </p:spPr>
        <p:txBody>
          <a:bodyPr/>
          <a:lstStyle/>
          <a:p>
            <a:r>
              <a:rPr lang="en-US"/>
              <a:t>Tập hợp StringFormatFlags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9343E5-6F22-47D5-9570-B4C76DE3EC90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pic>
        <p:nvPicPr>
          <p:cNvPr id="17101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900" y="1011238"/>
            <a:ext cx="8713788" cy="5629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en-US"/>
              <a:t>Tập hợp StringFormatFlags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84F4D6-2A3A-48F3-995C-7F0E7EC5F76C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  <p:pic>
        <p:nvPicPr>
          <p:cNvPr id="17203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900" y="1235075"/>
            <a:ext cx="8713788" cy="5362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en-US"/>
              <a:t>Tập hợp StringTrimming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918787-8023-46EE-B1B5-C5B140B68A65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pic>
        <p:nvPicPr>
          <p:cNvPr id="86023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875" y="1038225"/>
            <a:ext cx="8351838" cy="548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Tập hợp StringTrimming (tt) </a:t>
            </a:r>
          </a:p>
        </p:txBody>
      </p:sp>
      <p:graphicFrame>
        <p:nvGraphicFramePr>
          <p:cNvPr id="173153" name="Group 97"/>
          <p:cNvGraphicFramePr>
            <a:graphicFrameLocks noGrp="1"/>
          </p:cNvGraphicFramePr>
          <p:nvPr>
            <p:ph sz="half" idx="1"/>
          </p:nvPr>
        </p:nvGraphicFramePr>
        <p:xfrm>
          <a:off x="457200" y="1336675"/>
          <a:ext cx="8218488" cy="1737360"/>
        </p:xfrm>
        <a:graphic>
          <a:graphicData uri="http://schemas.openxmlformats.org/drawingml/2006/table">
            <a:tbl>
              <a:tblPr/>
              <a:tblGrid>
                <a:gridCol w="217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Member Name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Description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None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Specifies no trimming. 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Word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Specifies that text is trimmed to the nearest word. 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Date Placeholder 3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003FA3-C4A6-44F4-A211-B6DF4927D4ED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37" name="Footer Placeholder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26C76C-6787-428A-B26F-67D0CD3CBF38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101FD"/>
                </a:solidFill>
                <a:latin typeface="SFMono-Regular"/>
              </a:rPr>
              <a:t>private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 </a:t>
            </a:r>
            <a:r>
              <a:rPr lang="en-US" sz="2000" dirty="0">
                <a:solidFill>
                  <a:srgbClr val="0101FD"/>
                </a:solidFill>
                <a:latin typeface="SFMono-Regular"/>
              </a:rPr>
              <a:t>void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 </a:t>
            </a:r>
            <a:r>
              <a:rPr lang="en-US" sz="2000" dirty="0" err="1">
                <a:solidFill>
                  <a:srgbClr val="007D9A"/>
                </a:solidFill>
                <a:latin typeface="SFMono-Regular"/>
              </a:rPr>
              <a:t>ShowStringTrimming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(</a:t>
            </a:r>
            <a:r>
              <a:rPr lang="en-US" sz="2000" dirty="0" err="1">
                <a:solidFill>
                  <a:srgbClr val="171717"/>
                </a:solidFill>
                <a:latin typeface="SFMono-Regular"/>
              </a:rPr>
              <a:t>PaintEventArgs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 e) {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 err="1">
                <a:solidFill>
                  <a:srgbClr val="171717"/>
                </a:solidFill>
                <a:latin typeface="SFMono-Regular"/>
              </a:rPr>
              <a:t>StringFormat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 format1 = </a:t>
            </a:r>
            <a:r>
              <a:rPr lang="en-US" sz="2000" dirty="0">
                <a:solidFill>
                  <a:srgbClr val="0101FD"/>
                </a:solidFill>
                <a:latin typeface="SFMono-Regular"/>
              </a:rPr>
              <a:t>new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SFMono-Regular"/>
              </a:rPr>
              <a:t>StringFormat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();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0101FD"/>
                </a:solidFill>
                <a:latin typeface="SFMono-Regular"/>
              </a:rPr>
              <a:t>string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 quote = </a:t>
            </a:r>
            <a:r>
              <a:rPr lang="en-US" sz="2000" dirty="0">
                <a:solidFill>
                  <a:srgbClr val="A31515"/>
                </a:solidFill>
                <a:latin typeface="SFMono-Regular"/>
              </a:rPr>
              <a:t>"Not everything that can be counted counts,"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 + </a:t>
            </a:r>
            <a:r>
              <a:rPr lang="en-US" sz="2000" dirty="0">
                <a:solidFill>
                  <a:srgbClr val="A31515"/>
                </a:solidFill>
                <a:latin typeface="SFMono-Regular"/>
              </a:rPr>
              <a:t>" and not everything that counts can be counted."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;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171717"/>
                </a:solidFill>
                <a:latin typeface="SFMono-Regular"/>
              </a:rPr>
              <a:t>format1.Trimming = </a:t>
            </a:r>
            <a:r>
              <a:rPr lang="en-US" sz="2000" u="sng" dirty="0" err="1">
                <a:solidFill>
                  <a:srgbClr val="171717"/>
                </a:solidFill>
                <a:latin typeface="SFMono-Regular"/>
              </a:rPr>
              <a:t>StringTrimming.</a:t>
            </a:r>
            <a:r>
              <a:rPr lang="en-US" sz="2000" u="sng" dirty="0" err="1">
                <a:solidFill>
                  <a:srgbClr val="FF0000"/>
                </a:solidFill>
                <a:latin typeface="SFMono-Regular"/>
              </a:rPr>
              <a:t>EllipsisWord</a:t>
            </a:r>
            <a:r>
              <a:rPr lang="en-US" sz="2000" u="sng" dirty="0">
                <a:solidFill>
                  <a:srgbClr val="171717"/>
                </a:solidFill>
                <a:latin typeface="SFMono-Regular"/>
              </a:rPr>
              <a:t>;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 err="1">
                <a:solidFill>
                  <a:srgbClr val="171717"/>
                </a:solidFill>
                <a:latin typeface="SFMono-Regular"/>
              </a:rPr>
              <a:t>e.Graphics.DrawString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(quote, </a:t>
            </a:r>
            <a:r>
              <a:rPr lang="en-US" sz="2000" dirty="0" err="1">
                <a:solidFill>
                  <a:srgbClr val="0101FD"/>
                </a:solidFill>
                <a:latin typeface="SFMono-Regular"/>
              </a:rPr>
              <a:t>this</a:t>
            </a:r>
            <a:r>
              <a:rPr lang="en-US" sz="2000" dirty="0" err="1">
                <a:solidFill>
                  <a:srgbClr val="171717"/>
                </a:solidFill>
                <a:latin typeface="SFMono-Regular"/>
              </a:rPr>
              <a:t>.Font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, </a:t>
            </a:r>
            <a:r>
              <a:rPr lang="en-US" sz="2000" dirty="0" err="1">
                <a:solidFill>
                  <a:srgbClr val="171717"/>
                </a:solidFill>
                <a:latin typeface="SFMono-Regular"/>
              </a:rPr>
              <a:t>Brushes.Black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, </a:t>
            </a:r>
            <a:r>
              <a:rPr lang="en-US" sz="2000" dirty="0">
                <a:solidFill>
                  <a:srgbClr val="0101FD"/>
                </a:solidFill>
                <a:latin typeface="SFMono-Regular"/>
              </a:rPr>
              <a:t>new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SFMono-Regular"/>
              </a:rPr>
              <a:t>RectangleF</a:t>
            </a:r>
            <a:r>
              <a:rPr lang="en-US" sz="2000" dirty="0">
                <a:solidFill>
                  <a:srgbClr val="171717"/>
                </a:solidFill>
                <a:latin typeface="SFMono-Regular"/>
              </a:rPr>
              <a:t>(10.0F, 10.0F, 90.0F, 50.0F), format1);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>
                <a:solidFill>
                  <a:srgbClr val="171717"/>
                </a:solidFill>
                <a:latin typeface="SFMono-Regular"/>
              </a:rPr>
              <a:t>}</a:t>
            </a:r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332DE2-1F85-45E7-9450-CF535D55E58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26C76C-6787-428A-B26F-67D0CD3CBF38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126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332DE2-1F85-45E7-9450-CF535D55E58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26C76C-6787-428A-B26F-67D0CD3CBF38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  <p:graphicFrame>
        <p:nvGraphicFramePr>
          <p:cNvPr id="10" name="Group 9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096028"/>
              </p:ext>
            </p:extLst>
          </p:nvPr>
        </p:nvGraphicFramePr>
        <p:xfrm>
          <a:off x="468313" y="4221163"/>
          <a:ext cx="8218487" cy="1828800"/>
        </p:xfrm>
        <a:graphic>
          <a:graphicData uri="http://schemas.openxmlformats.org/drawingml/2006/table">
            <a:tbl>
              <a:tblPr/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9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Member Name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Description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Hide 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Do not display the hot-key prefix.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None 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No hot-key prefix.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Show 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Display the hot-key prefix.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55613" y="3149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dirty="0" err="1">
                <a:solidFill>
                  <a:srgbClr val="FF0000"/>
                </a:solidFill>
              </a:rPr>
              <a:t>Tập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hợp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HotkeyPrefix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2793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solidFill>
                  <a:srgbClr val="0101FD"/>
                </a:solidFill>
                <a:latin typeface="SFMono-Regular"/>
              </a:rPr>
              <a:t>private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 </a:t>
            </a:r>
            <a:r>
              <a:rPr lang="en-US" sz="2500" dirty="0">
                <a:solidFill>
                  <a:srgbClr val="0101FD"/>
                </a:solidFill>
                <a:latin typeface="SFMono-Regular"/>
              </a:rPr>
              <a:t>void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 </a:t>
            </a:r>
            <a:r>
              <a:rPr lang="en-US" sz="2500" dirty="0" err="1">
                <a:solidFill>
                  <a:srgbClr val="007D9A"/>
                </a:solidFill>
                <a:latin typeface="SFMono-Regular"/>
              </a:rPr>
              <a:t>ShowHotKey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(</a:t>
            </a:r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PaintEventArgs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 e) {</a:t>
            </a:r>
          </a:p>
          <a:p>
            <a:r>
              <a:rPr lang="en-US" sz="2500" dirty="0">
                <a:solidFill>
                  <a:srgbClr val="0101FD"/>
                </a:solidFill>
                <a:latin typeface="SFMono-Regular"/>
              </a:rPr>
              <a:t>string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 text = </a:t>
            </a:r>
            <a:r>
              <a:rPr lang="en-US" sz="2500" dirty="0">
                <a:solidFill>
                  <a:srgbClr val="A31515"/>
                </a:solidFill>
                <a:latin typeface="SFMono-Regular"/>
              </a:rPr>
              <a:t>"&amp;Click Here"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; </a:t>
            </a:r>
            <a:endParaRPr lang="en-US" sz="2500" dirty="0">
              <a:solidFill>
                <a:srgbClr val="008000"/>
              </a:solidFill>
              <a:latin typeface="SFMono-Regular"/>
            </a:endParaRPr>
          </a:p>
          <a:p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StringFormat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 format = </a:t>
            </a:r>
            <a:r>
              <a:rPr lang="en-US" sz="2500" dirty="0">
                <a:solidFill>
                  <a:srgbClr val="0101FD"/>
                </a:solidFill>
                <a:latin typeface="SFMono-Regular"/>
              </a:rPr>
              <a:t>new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 </a:t>
            </a:r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StringFormat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(); </a:t>
            </a:r>
          </a:p>
          <a:p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format.HotkeyPrefix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 = </a:t>
            </a:r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System.Drawing.Text.HotkeyPrefix.Show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; </a:t>
            </a:r>
          </a:p>
          <a:p>
            <a:r>
              <a:rPr lang="en-US" sz="2500" dirty="0">
                <a:solidFill>
                  <a:srgbClr val="171717"/>
                </a:solidFill>
                <a:latin typeface="SFMono-Regular"/>
              </a:rPr>
              <a:t>Brush </a:t>
            </a:r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theBrush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 = </a:t>
            </a:r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SystemBrushes.FromSystemColor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(</a:t>
            </a:r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SystemColors.Highlight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); </a:t>
            </a:r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e.Graphics.DrawString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(text, </a:t>
            </a:r>
            <a:r>
              <a:rPr lang="en-US" sz="2500" dirty="0" err="1">
                <a:solidFill>
                  <a:srgbClr val="0101FD"/>
                </a:solidFill>
                <a:latin typeface="SFMono-Regular"/>
              </a:rPr>
              <a:t>this</a:t>
            </a:r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.Font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, </a:t>
            </a:r>
            <a:r>
              <a:rPr lang="en-US" sz="2500" dirty="0" err="1">
                <a:solidFill>
                  <a:srgbClr val="171717"/>
                </a:solidFill>
                <a:latin typeface="SFMono-Regular"/>
              </a:rPr>
              <a:t>theBrush</a:t>
            </a:r>
            <a:r>
              <a:rPr lang="en-US" sz="2500" dirty="0">
                <a:solidFill>
                  <a:srgbClr val="171717"/>
                </a:solidFill>
                <a:latin typeface="SFMono-Regular"/>
              </a:rPr>
              <a:t>, 30, 40, format); }</a:t>
            </a:r>
            <a:endParaRPr lang="en-US" sz="25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9E5FC-F9EF-447E-BAE0-5A45D3D8B6F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164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42852"/>
            <a:ext cx="8229600" cy="1143000"/>
          </a:xfrm>
          <a:noFill/>
          <a:ln/>
        </p:spPr>
        <p:txBody>
          <a:bodyPr/>
          <a:lstStyle/>
          <a:p>
            <a:r>
              <a:rPr lang="en-US"/>
              <a:t>StringFormat Constructor</a:t>
            </a:r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176338" y="1384300"/>
            <a:ext cx="4038600" cy="604838"/>
          </a:xfrm>
          <a:noFill/>
          <a:ln/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Public Constructors</a:t>
            </a:r>
            <a:r>
              <a:rPr lang="en-US" altLang="zh-CN" sz="2800">
                <a:ea typeface="宋体" pitchFamily="2" charset="-122"/>
              </a:rPr>
              <a:t> </a:t>
            </a:r>
            <a:br>
              <a:rPr lang="en-US" sz="2800"/>
            </a:br>
            <a:endParaRPr lang="en-US" sz="2800"/>
          </a:p>
        </p:txBody>
      </p:sp>
      <p:graphicFrame>
        <p:nvGraphicFramePr>
          <p:cNvPr id="84040" name="Group 72"/>
          <p:cNvGraphicFramePr>
            <a:graphicFrameLocks noGrp="1"/>
          </p:cNvGraphicFramePr>
          <p:nvPr>
            <p:ph sz="quarter" idx="2"/>
          </p:nvPr>
        </p:nvGraphicFramePr>
        <p:xfrm>
          <a:off x="1258888" y="1884363"/>
          <a:ext cx="6553200" cy="1402080"/>
        </p:xfrm>
        <a:graphic>
          <a:graphicData uri="http://schemas.openxmlformats.org/drawingml/2006/table">
            <a:tbl>
              <a:tblPr/>
              <a:tblGrid>
                <a:gridCol w="2160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Name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Description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StringFormat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Overloaded. Initializes a new 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StringFormat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object.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4037" name="Group 69"/>
          <p:cNvGraphicFramePr>
            <a:graphicFrameLocks noGrp="1"/>
          </p:cNvGraphicFramePr>
          <p:nvPr>
            <p:ph sz="quarter" idx="3"/>
          </p:nvPr>
        </p:nvGraphicFramePr>
        <p:xfrm>
          <a:off x="1258888" y="4167188"/>
          <a:ext cx="6553200" cy="2072640"/>
        </p:xfrm>
        <a:graphic>
          <a:graphicData uri="http://schemas.openxmlformats.org/drawingml/2006/table">
            <a:tbl>
              <a:tblPr/>
              <a:tblGrid>
                <a:gridCol w="655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StringFormat ()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StringFormat (StringFormat )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StringFormat (StringFormatFlags )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StringFormat (StringFormatFlags, Int32)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7FC257-9981-49BC-90E7-A0617B12491B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8C08B6-DBBF-418E-9670-E4C2EBFC9302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1114425" y="3616325"/>
            <a:ext cx="3671888" cy="604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3200">
                <a:solidFill>
                  <a:schemeClr val="accent2"/>
                </a:solidFill>
              </a:rPr>
              <a:t>Overload List</a:t>
            </a:r>
            <a:endParaRPr lang="en-US" sz="14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  <a:noFill/>
          <a:ln/>
        </p:spPr>
        <p:txBody>
          <a:bodyPr/>
          <a:lstStyle/>
          <a:p>
            <a:r>
              <a:rPr lang="en-US"/>
              <a:t>StringFormat Methods</a:t>
            </a:r>
          </a:p>
        </p:txBody>
      </p:sp>
      <p:sp>
        <p:nvSpPr>
          <p:cNvPr id="179202" name="Rectangle 2"/>
          <p:cNvSpPr>
            <a:spLocks noGrp="1" noChangeArrowheads="1"/>
          </p:cNvSpPr>
          <p:nvPr>
            <p:ph idx="1"/>
          </p:nvPr>
        </p:nvSpPr>
        <p:spPr>
          <a:xfrm>
            <a:off x="303213" y="1322379"/>
            <a:ext cx="8229600" cy="820737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Public Methods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464FC9-672C-4722-B897-8D8561024FC0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91</a:t>
            </a:fld>
            <a:endParaRPr lang="en-US"/>
          </a:p>
        </p:txBody>
      </p:sp>
      <p:pic>
        <p:nvPicPr>
          <p:cNvPr id="17920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875" y="1847873"/>
            <a:ext cx="8351838" cy="4867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  <a:noFill/>
          <a:ln/>
        </p:spPr>
        <p:txBody>
          <a:bodyPr/>
          <a:lstStyle/>
          <a:p>
            <a:r>
              <a:rPr lang="en-US"/>
              <a:t>StringFormat Methods (tt)</a:t>
            </a:r>
          </a:p>
        </p:txBody>
      </p:sp>
      <p:sp>
        <p:nvSpPr>
          <p:cNvPr id="181250" name="Rectangle 2"/>
          <p:cNvSpPr>
            <a:spLocks noGrp="1" noChangeArrowheads="1"/>
          </p:cNvSpPr>
          <p:nvPr>
            <p:ph idx="1"/>
          </p:nvPr>
        </p:nvSpPr>
        <p:spPr>
          <a:xfrm>
            <a:off x="303213" y="1393817"/>
            <a:ext cx="8229600" cy="820737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Public Methods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D4031B-B6A2-4F46-91B3-8C4B1656E9D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92</a:t>
            </a:fld>
            <a:endParaRPr lang="en-US"/>
          </a:p>
        </p:txBody>
      </p:sp>
      <p:pic>
        <p:nvPicPr>
          <p:cNvPr id="18125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875" y="1971698"/>
            <a:ext cx="8351838" cy="4743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-90488"/>
            <a:ext cx="8229600" cy="1143001"/>
          </a:xfrm>
          <a:noFill/>
          <a:ln/>
        </p:spPr>
        <p:txBody>
          <a:bodyPr/>
          <a:lstStyle/>
          <a:p>
            <a:r>
              <a:rPr lang="en-US"/>
              <a:t>StringFormat Methods (tt)</a:t>
            </a:r>
          </a:p>
        </p:txBody>
      </p:sp>
      <p:sp>
        <p:nvSpPr>
          <p:cNvPr id="182274" name="Rectangle 2"/>
          <p:cNvSpPr>
            <a:spLocks noGrp="1" noChangeArrowheads="1"/>
          </p:cNvSpPr>
          <p:nvPr>
            <p:ph idx="1"/>
          </p:nvPr>
        </p:nvSpPr>
        <p:spPr>
          <a:xfrm>
            <a:off x="303213" y="1250940"/>
            <a:ext cx="8229600" cy="820738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Public Methods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EF94F4-42D0-48FB-89AC-72452B87FBA5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93</a:t>
            </a:fld>
            <a:endParaRPr lang="en-US"/>
          </a:p>
        </p:txBody>
      </p:sp>
      <p:pic>
        <p:nvPicPr>
          <p:cNvPr id="18227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875" y="1714488"/>
            <a:ext cx="8351838" cy="51149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StringFormat Methods (tt)</a:t>
            </a:r>
          </a:p>
        </p:txBody>
      </p:sp>
      <p:sp>
        <p:nvSpPr>
          <p:cNvPr id="180226" name="Rectangle 2"/>
          <p:cNvSpPr>
            <a:spLocks noGrp="1" noChangeArrowheads="1"/>
          </p:cNvSpPr>
          <p:nvPr>
            <p:ph idx="1"/>
          </p:nvPr>
        </p:nvSpPr>
        <p:spPr>
          <a:xfrm>
            <a:off x="250825" y="1528763"/>
            <a:ext cx="8229600" cy="820737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Protected Methods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C66344-8070-4ED5-92DD-670B56AE658E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94</a:t>
            </a:fld>
            <a:endParaRPr lang="en-US"/>
          </a:p>
        </p:txBody>
      </p:sp>
      <p:pic>
        <p:nvPicPr>
          <p:cNvPr id="1802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390775"/>
            <a:ext cx="8535988" cy="2838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về StringFormat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210425" cy="74930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	</a:t>
            </a:r>
            <a:r>
              <a:rPr lang="en-US">
                <a:solidFill>
                  <a:schemeClr val="accent2"/>
                </a:solidFill>
              </a:rPr>
              <a:t>Hiển thị chuỗi theo chiều thẳng đứng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232DB9-F2DF-4609-AE16-B27C069490B6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95</a:t>
            </a:fld>
            <a:endParaRPr lang="en-US"/>
          </a:p>
        </p:txBody>
      </p:sp>
      <p:pic>
        <p:nvPicPr>
          <p:cNvPr id="8909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50" y="287655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457200" y="476250"/>
            <a:ext cx="8229600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/>
              <a:t>	</a:t>
            </a:r>
            <a:r>
              <a:rPr lang="en-US" sz="3200">
                <a:solidFill>
                  <a:schemeClr val="accent2"/>
                </a:solidFill>
              </a:rPr>
              <a:t>Hiển thị chuỗi theo chiều thẳng đứng (tt)</a:t>
            </a:r>
          </a:p>
        </p:txBody>
      </p:sp>
      <p:pic>
        <p:nvPicPr>
          <p:cNvPr id="90120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" y="1268413"/>
            <a:ext cx="9012238" cy="5191125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CA7E66-2384-48A4-9E4C-B5534FD7D47E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Ví dụ về StringFormat</a:t>
            </a:r>
          </a:p>
        </p:txBody>
      </p:sp>
      <p:sp>
        <p:nvSpPr>
          <p:cNvPr id="196613" name="Rectangle 5"/>
          <p:cNvSpPr>
            <a:spLocks noGrp="1" noChangeArrowheads="1"/>
          </p:cNvSpPr>
          <p:nvPr>
            <p:ph idx="1"/>
          </p:nvPr>
        </p:nvSpPr>
        <p:spPr>
          <a:xfrm>
            <a:off x="1763713" y="1600200"/>
            <a:ext cx="5329237" cy="7493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/>
              <a:t>	</a:t>
            </a:r>
            <a:r>
              <a:rPr lang="en-US">
                <a:solidFill>
                  <a:schemeClr val="accent2"/>
                </a:solidFill>
              </a:rPr>
              <a:t>Hiển thị chuỗi và canh lề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D3639F-7818-49E7-B57E-B7AD5B3931F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97</a:t>
            </a:fld>
            <a:endParaRPr lang="en-US"/>
          </a:p>
        </p:txBody>
      </p:sp>
      <p:pic>
        <p:nvPicPr>
          <p:cNvPr id="19661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00338" y="2403475"/>
            <a:ext cx="3705225" cy="3905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3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8800" y="981075"/>
            <a:ext cx="8027988" cy="5495925"/>
          </a:xfrm>
          <a:prstGeom prst="rect">
            <a:avLst/>
          </a:prstGeom>
          <a:noFill/>
        </p:spPr>
      </p:pic>
      <p:sp>
        <p:nvSpPr>
          <p:cNvPr id="197638" name="Rectangle 6"/>
          <p:cNvSpPr>
            <a:spLocks noGrp="1" noChangeArrowheads="1"/>
          </p:cNvSpPr>
          <p:nvPr>
            <p:ph idx="1"/>
          </p:nvPr>
        </p:nvSpPr>
        <p:spPr>
          <a:xfrm>
            <a:off x="1763713" y="260350"/>
            <a:ext cx="5761037" cy="7493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/>
              <a:t>	</a:t>
            </a:r>
            <a:r>
              <a:rPr lang="en-US">
                <a:solidFill>
                  <a:schemeClr val="accent2"/>
                </a:solidFill>
              </a:rPr>
              <a:t>Hiển thị chuỗi và canh lề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D724D2-66FD-43EA-B347-3CF4648D8DD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0" name="Rectangle 4"/>
          <p:cNvSpPr>
            <a:spLocks noGrp="1" noChangeArrowheads="1"/>
          </p:cNvSpPr>
          <p:nvPr>
            <p:ph idx="1"/>
          </p:nvPr>
        </p:nvSpPr>
        <p:spPr>
          <a:xfrm>
            <a:off x="1763713" y="447675"/>
            <a:ext cx="5761037" cy="7493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/>
              <a:t>	</a:t>
            </a:r>
            <a:r>
              <a:rPr lang="en-US">
                <a:solidFill>
                  <a:schemeClr val="accent2"/>
                </a:solidFill>
              </a:rPr>
              <a:t>Hiển thị chuỗi và canh lề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EFB82F-9744-4D50-8729-817A495B638B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99</a:t>
            </a:fld>
            <a:endParaRPr lang="en-US"/>
          </a:p>
        </p:txBody>
      </p:sp>
      <p:pic>
        <p:nvPicPr>
          <p:cNvPr id="19866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6263" y="2163763"/>
            <a:ext cx="7993062" cy="2705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TextRenderer Class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600200"/>
            <a:ext cx="836295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	 </a:t>
            </a:r>
            <a:r>
              <a:rPr lang="en-US" dirty="0">
                <a:solidFill>
                  <a:schemeClr val="accent2"/>
                </a:solidFill>
              </a:rPr>
              <a:t>-  </a:t>
            </a:r>
            <a:r>
              <a:rPr lang="en-US" dirty="0" err="1">
                <a:solidFill>
                  <a:schemeClr val="accent2"/>
                </a:solidFill>
              </a:rPr>
              <a:t>Mô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tả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lớp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TextRenderer</a:t>
            </a:r>
            <a:r>
              <a:rPr lang="en-US" dirty="0">
                <a:solidFill>
                  <a:schemeClr val="accent2"/>
                </a:solidFill>
              </a:rPr>
              <a:t> </a:t>
            </a:r>
          </a:p>
          <a:p>
            <a:pPr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	 -  </a:t>
            </a:r>
            <a:r>
              <a:rPr lang="en-US" dirty="0" err="1">
                <a:solidFill>
                  <a:schemeClr val="accent2"/>
                </a:solidFill>
              </a:rPr>
              <a:t>Đặc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điểm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của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lớp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TextRenderer</a:t>
            </a:r>
            <a:endParaRPr lang="en-US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	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CF272A-7B51-49E2-9463-67D51DAFDFEA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Mô tả lớp TextRenderer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600200"/>
            <a:ext cx="8640763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-  Cung cấp phương thức cho việc đo lường và thay đổi hình thức hiển thị của chuỗi văn bản</a:t>
            </a:r>
          </a:p>
          <a:p>
            <a:pPr>
              <a:buFontTx/>
              <a:buNone/>
            </a:pPr>
            <a:r>
              <a:rPr lang="en-US"/>
              <a:t>-  Không cho phép kế thừa</a:t>
            </a:r>
          </a:p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r>
              <a:rPr lang="en-US"/>
              <a:t>-  </a:t>
            </a:r>
            <a:r>
              <a:rPr lang="en-US" b="1"/>
              <a:t>Namespace</a:t>
            </a:r>
            <a:r>
              <a:rPr lang="en-US"/>
              <a:t>: System.Windows.Forms</a:t>
            </a:r>
          </a:p>
          <a:p>
            <a:pPr>
              <a:buFontTx/>
              <a:buNone/>
            </a:pPr>
            <a:r>
              <a:rPr lang="en-US"/>
              <a:t>-  </a:t>
            </a:r>
            <a:r>
              <a:rPr lang="en-US" b="1"/>
              <a:t>Assembly</a:t>
            </a:r>
            <a:r>
              <a:rPr lang="en-US"/>
              <a:t>: System.Windows.Forms </a:t>
            </a:r>
          </a:p>
          <a:p>
            <a:pPr>
              <a:buFontTx/>
              <a:buNone/>
            </a:pPr>
            <a:r>
              <a:rPr lang="en-US"/>
              <a:t>                      (in system.windows.forms.dll)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656D31-6A84-4952-99F4-D3DD698A2DC7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en-US"/>
              <a:t>Lớp TextRenderer</a:t>
            </a:r>
          </a:p>
        </p:txBody>
      </p:sp>
      <p:sp>
        <p:nvSpPr>
          <p:cNvPr id="103430" name="Rectangle 6"/>
          <p:cNvSpPr>
            <a:spLocks noGrp="1" noChangeArrowheads="1"/>
          </p:cNvSpPr>
          <p:nvPr>
            <p:ph idx="1"/>
          </p:nvPr>
        </p:nvSpPr>
        <p:spPr>
          <a:xfrm>
            <a:off x="303213" y="1322379"/>
            <a:ext cx="8229600" cy="820737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Public Methods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B6619E-7F16-47D4-B02E-1E6965B1D30B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102</a:t>
            </a:fld>
            <a:endParaRPr lang="en-US"/>
          </a:p>
        </p:txBody>
      </p:sp>
      <p:pic>
        <p:nvPicPr>
          <p:cNvPr id="10343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866923"/>
            <a:ext cx="8351838" cy="48482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Lớp TextRenderer (tt)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528763"/>
            <a:ext cx="8229600" cy="820737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Public Methods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0817F1-FB83-403F-BD29-6FF512A106A6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103</a:t>
            </a:fld>
            <a:endParaRPr lang="en-US"/>
          </a:p>
        </p:txBody>
      </p:sp>
      <p:pic>
        <p:nvPicPr>
          <p:cNvPr id="18842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875" y="2276475"/>
            <a:ext cx="8351838" cy="2305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94" name="Rectangle 58"/>
          <p:cNvSpPr>
            <a:spLocks noChangeArrowheads="1"/>
          </p:cNvSpPr>
          <p:nvPr/>
        </p:nvSpPr>
        <p:spPr bwMode="auto">
          <a:xfrm>
            <a:off x="457200" y="-24"/>
            <a:ext cx="847251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/>
              <a:t>Sự khác biệt của Text Rendering</a:t>
            </a:r>
          </a:p>
        </p:txBody>
      </p:sp>
      <p:pic>
        <p:nvPicPr>
          <p:cNvPr id="91195" name="Picture 5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5038" y="2555875"/>
            <a:ext cx="7275512" cy="1952625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BC8A3A-7B72-49A5-AAED-B0ECD59AACD7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C3CF0-2F1B-4381-B14B-6F5BEAC02EED}" type="slidenum">
              <a:rPr lang="en-US" smtClean="0"/>
              <a:pPr>
                <a:defRPr/>
              </a:pPr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Tập hợp TextFormatFlags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1628775"/>
            <a:ext cx="8856663" cy="4708525"/>
          </a:xfrm>
        </p:spPr>
        <p:txBody>
          <a:bodyPr/>
          <a:lstStyle/>
          <a:p>
            <a:pPr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   -  </a:t>
            </a:r>
            <a:r>
              <a:rPr lang="en-US" dirty="0" err="1">
                <a:solidFill>
                  <a:schemeClr val="accent2"/>
                </a:solidFill>
              </a:rPr>
              <a:t>Mô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tả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tập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hợp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TextFormatFlags</a:t>
            </a:r>
            <a:endParaRPr lang="en-US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   -  </a:t>
            </a:r>
            <a:r>
              <a:rPr lang="en-US" dirty="0" err="1">
                <a:solidFill>
                  <a:schemeClr val="accent2"/>
                </a:solidFill>
              </a:rPr>
              <a:t>Các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thành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viên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tập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hợp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TextFormatFlags</a:t>
            </a:r>
            <a:endParaRPr lang="en-US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   -  Minh </a:t>
            </a:r>
            <a:r>
              <a:rPr lang="en-US" dirty="0" err="1">
                <a:solidFill>
                  <a:schemeClr val="accent2"/>
                </a:solidFill>
              </a:rPr>
              <a:t>họa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về</a:t>
            </a:r>
            <a:r>
              <a:rPr lang="en-US" dirty="0">
                <a:solidFill>
                  <a:schemeClr val="accent2"/>
                </a:solidFill>
              </a:rPr>
              <a:t> Padding Flags</a:t>
            </a:r>
          </a:p>
          <a:p>
            <a:pPr>
              <a:buFontTx/>
              <a:buNone/>
            </a:pPr>
            <a:r>
              <a:rPr lang="en-US" dirty="0">
                <a:solidFill>
                  <a:schemeClr val="accent2"/>
                </a:solidFill>
              </a:rPr>
              <a:t>   -  </a:t>
            </a:r>
            <a:r>
              <a:rPr lang="en-US" dirty="0" err="1">
                <a:solidFill>
                  <a:schemeClr val="accent2"/>
                </a:solidFill>
              </a:rPr>
              <a:t>Các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ví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dụ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90DC7D-7663-477A-8A73-F00C0F7B284A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926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Mô tả tập hợp TextFormatFlags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/>
              <a:t>Quy định sự hiển thị và bố cục của chuỗi ký tự</a:t>
            </a:r>
          </a:p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r>
              <a:rPr lang="en-US" sz="2800" b="1"/>
              <a:t>-  Namespace: </a:t>
            </a:r>
            <a:r>
              <a:rPr lang="en-US" sz="2800"/>
              <a:t>System.Windows.Forms</a:t>
            </a:r>
          </a:p>
          <a:p>
            <a:pPr>
              <a:buFontTx/>
              <a:buNone/>
            </a:pPr>
            <a:r>
              <a:rPr lang="en-US" sz="2800" b="1"/>
              <a:t>-  Assembly: </a:t>
            </a:r>
            <a:r>
              <a:rPr lang="en-US" sz="2800"/>
              <a:t>System.Windows.Forms </a:t>
            </a:r>
          </a:p>
          <a:p>
            <a:pPr>
              <a:buFontTx/>
              <a:buNone/>
            </a:pPr>
            <a:r>
              <a:rPr lang="en-US" sz="2800"/>
              <a:t>                       (in system.windows.forms.dll)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F0C855-348B-442C-AF5D-4FC8422B7A0D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34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93670"/>
            <a:ext cx="7391400" cy="563562"/>
          </a:xfrm>
        </p:spPr>
        <p:txBody>
          <a:bodyPr>
            <a:normAutofit fontScale="90000"/>
          </a:bodyPr>
          <a:lstStyle/>
          <a:p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thành</a:t>
            </a:r>
            <a:r>
              <a:rPr lang="en-US" sz="4000" dirty="0"/>
              <a:t> </a:t>
            </a:r>
            <a:r>
              <a:rPr lang="en-US" sz="4000" dirty="0" err="1"/>
              <a:t>viên</a:t>
            </a:r>
            <a:r>
              <a:rPr lang="en-US" sz="4000" dirty="0"/>
              <a:t> </a:t>
            </a:r>
            <a:r>
              <a:rPr lang="en-US" sz="4000" dirty="0" err="1"/>
              <a:t>tập</a:t>
            </a:r>
            <a:r>
              <a:rPr lang="en-US" sz="4000" dirty="0"/>
              <a:t> </a:t>
            </a:r>
            <a:r>
              <a:rPr lang="en-US" sz="4000" dirty="0" err="1"/>
              <a:t>hợp</a:t>
            </a:r>
            <a:r>
              <a:rPr lang="en-US" sz="4000" dirty="0"/>
              <a:t> </a:t>
            </a:r>
            <a:r>
              <a:rPr lang="en-US" sz="4000" dirty="0" err="1"/>
              <a:t>TextFormatFlags</a:t>
            </a:r>
            <a:endParaRPr lang="en-US" sz="4000" dirty="0"/>
          </a:p>
        </p:txBody>
      </p:sp>
      <p:graphicFrame>
        <p:nvGraphicFramePr>
          <p:cNvPr id="137367" name="Group 151"/>
          <p:cNvGraphicFramePr>
            <a:graphicFrameLocks noGrp="1"/>
          </p:cNvGraphicFramePr>
          <p:nvPr>
            <p:ph type="tbl" idx="1"/>
          </p:nvPr>
        </p:nvGraphicFramePr>
        <p:xfrm>
          <a:off x="539750" y="1711325"/>
          <a:ext cx="8064500" cy="4525964"/>
        </p:xfrm>
        <a:graphic>
          <a:graphicData uri="http://schemas.openxmlformats.org/drawingml/2006/table">
            <a:tbl>
              <a:tblPr/>
              <a:tblGrid>
                <a:gridCol w="367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Bottom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Internal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Default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Left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EndEllipsis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LeftAndRightPadding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ExpandTabs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ModifyString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ExternalLeading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NoClipping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GlyphOverhangPadding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NoFullWidthCharacterBreak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HidePrefix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NoPadding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HorizontalCenter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NoPrefix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1CD6C7-CE74-4AFC-8FB7-581F7FB0972A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34" name="Footer Placeholder 3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C3CF0-2F1B-4381-B14B-6F5BEAC02EED}" type="slidenum">
              <a:rPr lang="en-US" smtClean="0"/>
              <a:pPr>
                <a:defRPr/>
              </a:pPr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0955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93670"/>
            <a:ext cx="7391400" cy="563562"/>
          </a:xfrm>
        </p:spPr>
        <p:txBody>
          <a:bodyPr>
            <a:noAutofit/>
          </a:bodyPr>
          <a:lstStyle/>
          <a:p>
            <a:r>
              <a:rPr lang="en-US" sz="3600"/>
              <a:t>Các thành viên tập hợp TextFormatFlags (tt)</a:t>
            </a:r>
          </a:p>
        </p:txBody>
      </p:sp>
      <p:graphicFrame>
        <p:nvGraphicFramePr>
          <p:cNvPr id="138296" name="Group 56"/>
          <p:cNvGraphicFramePr>
            <a:graphicFrameLocks noGrp="1"/>
          </p:cNvGraphicFramePr>
          <p:nvPr>
            <p:ph type="tbl" idx="1"/>
          </p:nvPr>
        </p:nvGraphicFramePr>
        <p:xfrm>
          <a:off x="611188" y="1946275"/>
          <a:ext cx="7921625" cy="4219575"/>
        </p:xfrm>
        <a:graphic>
          <a:graphicData uri="http://schemas.openxmlformats.org/drawingml/2006/table">
            <a:tbl>
              <a:tblPr/>
              <a:tblGrid>
                <a:gridCol w="561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PathEllipsis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Top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PrefixOnly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VerticalCenter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PreserveGraphicsClipping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WordBreak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PreserveGraphicsTranslateTransform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WordEllipsis </a:t>
                      </a: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Right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RightToLeft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SingleLine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TextBoxControl</a:t>
                      </a: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 </a:t>
                      </a: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6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89D80C-9C4E-4304-AA0A-A3E02590DD3A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34" name="Footer Placeholder 3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C3CF0-2F1B-4381-B14B-6F5BEAC02EED}" type="slidenum">
              <a:rPr lang="en-US" smtClean="0"/>
              <a:pPr>
                <a:defRPr/>
              </a:pPr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6467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Minh họa về Padding Flags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37F1AC-16E1-4DDA-8E72-363CA5D9A2DB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109</a:t>
            </a:fld>
            <a:endParaRPr lang="en-US"/>
          </a:p>
        </p:txBody>
      </p:sp>
      <p:pic>
        <p:nvPicPr>
          <p:cNvPr id="1955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420938"/>
            <a:ext cx="7164388" cy="2181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756118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về TextFormatFlags</a:t>
            </a:r>
          </a:p>
        </p:txBody>
      </p:sp>
      <p:sp>
        <p:nvSpPr>
          <p:cNvPr id="199684" name="Rectangle 4"/>
          <p:cNvSpPr>
            <a:spLocks noGrp="1" noChangeArrowheads="1"/>
          </p:cNvSpPr>
          <p:nvPr>
            <p:ph idx="1"/>
          </p:nvPr>
        </p:nvSpPr>
        <p:spPr>
          <a:xfrm>
            <a:off x="1042988" y="1412875"/>
            <a:ext cx="6851650" cy="604838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Hiển thị chuỗi với các Padding Flags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DD4814-4EE4-4931-9D2D-66BEDA6D774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110</a:t>
            </a:fld>
            <a:endParaRPr lang="en-US"/>
          </a:p>
        </p:txBody>
      </p:sp>
      <p:pic>
        <p:nvPicPr>
          <p:cNvPr id="19968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2420938"/>
            <a:ext cx="5181600" cy="3571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5691240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0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6413" y="620713"/>
            <a:ext cx="8132762" cy="6107112"/>
          </a:xfrm>
          <a:prstGeom prst="rect">
            <a:avLst/>
          </a:prstGeom>
          <a:noFill/>
        </p:spPr>
      </p:pic>
      <p:sp>
        <p:nvSpPr>
          <p:cNvPr id="200710" name="Rectangle 6"/>
          <p:cNvSpPr>
            <a:spLocks noGrp="1" noChangeArrowheads="1"/>
          </p:cNvSpPr>
          <p:nvPr>
            <p:ph idx="1"/>
          </p:nvPr>
        </p:nvSpPr>
        <p:spPr>
          <a:xfrm>
            <a:off x="539750" y="44450"/>
            <a:ext cx="7920038" cy="604838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accent2"/>
                </a:solidFill>
              </a:rPr>
              <a:t>Hiển thị chuỗi với các Padding Flags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276E83-2F8B-4134-98EA-895C3BA137F6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7081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en-US" sz="2800"/>
              <a:t>Ánh xạ giá trị các thuộc tính từ lớpStringFormat</a:t>
            </a:r>
            <a:br>
              <a:rPr lang="en-US" sz="2800"/>
            </a:br>
            <a:r>
              <a:rPr lang="en-US" sz="2800"/>
              <a:t>vào tập hợp TextFormatFlags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7F4C57-C998-4413-9C4C-477541A47E4E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112</a:t>
            </a:fld>
            <a:endParaRPr lang="en-US"/>
          </a:p>
        </p:txBody>
      </p:sp>
      <p:pic>
        <p:nvPicPr>
          <p:cNvPr id="9318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2063" y="1196975"/>
            <a:ext cx="6621462" cy="548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en-US" sz="2800"/>
              <a:t>Ánh xạ giá trị các thuộc tính từ lớpStringFormat</a:t>
            </a:r>
            <a:br>
              <a:rPr lang="en-US" sz="2800"/>
            </a:br>
            <a:r>
              <a:rPr lang="en-US" sz="2800"/>
              <a:t>vào tập hợp TextFormatFlags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174EBC-F3E0-47D0-85D3-CD2CC14F0EF6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113</a:t>
            </a:fld>
            <a:endParaRPr lang="en-US"/>
          </a:p>
        </p:txBody>
      </p:sp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2063" y="1544638"/>
            <a:ext cx="6621462" cy="4476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4450"/>
            <a:ext cx="8229600" cy="1143000"/>
          </a:xfrm>
        </p:spPr>
        <p:txBody>
          <a:bodyPr/>
          <a:lstStyle/>
          <a:p>
            <a:r>
              <a:rPr lang="en-US" sz="2800"/>
              <a:t>Ánh xạ giá trị các thuộc tính từ lớpStringFormat</a:t>
            </a:r>
            <a:br>
              <a:rPr lang="en-US" sz="2800"/>
            </a:br>
            <a:r>
              <a:rPr lang="en-US" sz="2800"/>
              <a:t>vào tập hợp TextFormatFlags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2A4227-AC38-4E3D-823B-B3609BB0A1B8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114</a:t>
            </a:fld>
            <a:endParaRPr lang="en-US"/>
          </a:p>
        </p:txBody>
      </p:sp>
      <p:pic>
        <p:nvPicPr>
          <p:cNvPr id="962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8888" y="1498600"/>
            <a:ext cx="6627812" cy="4810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về </a:t>
            </a:r>
            <a:r>
              <a:rPr lang="en-US" noProof="1"/>
              <a:t>Rendering Text</a:t>
            </a:r>
            <a:endParaRPr 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1476375" y="1484313"/>
            <a:ext cx="6275388" cy="749300"/>
          </a:xfrm>
        </p:spPr>
        <p:txBody>
          <a:bodyPr/>
          <a:lstStyle/>
          <a:p>
            <a:pPr>
              <a:buFontTx/>
              <a:buNone/>
            </a:pPr>
            <a:r>
              <a:rPr lang="en-US" noProof="1">
                <a:solidFill>
                  <a:schemeClr val="accent2"/>
                </a:solidFill>
              </a:rPr>
              <a:t>Rendering Text </a:t>
            </a:r>
            <a:r>
              <a:rPr lang="en-US">
                <a:solidFill>
                  <a:schemeClr val="accent2"/>
                </a:solidFill>
              </a:rPr>
              <a:t>với</a:t>
            </a:r>
            <a:r>
              <a:rPr lang="en-US" noProof="1">
                <a:solidFill>
                  <a:schemeClr val="accent2"/>
                </a:solidFill>
              </a:rPr>
              <a:t> TextRenderer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E40895-49DA-45BD-8554-2024B1B00163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115</a:t>
            </a:fld>
            <a:endParaRPr lang="en-US"/>
          </a:p>
        </p:txBody>
      </p:sp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59113" y="2587625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2200" y="1436688"/>
            <a:ext cx="6961188" cy="4800600"/>
          </a:xfrm>
          <a:prstGeom prst="rect">
            <a:avLst/>
          </a:prstGeom>
          <a:noFill/>
        </p:spPr>
      </p:pic>
      <p:sp>
        <p:nvSpPr>
          <p:cNvPr id="97286" name="Rectangle 6"/>
          <p:cNvSpPr>
            <a:spLocks noGrp="1" noChangeArrowheads="1"/>
          </p:cNvSpPr>
          <p:nvPr>
            <p:ph idx="1"/>
          </p:nvPr>
        </p:nvSpPr>
        <p:spPr>
          <a:xfrm>
            <a:off x="1187450" y="404813"/>
            <a:ext cx="6840538" cy="7493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noProof="1">
                <a:solidFill>
                  <a:schemeClr val="accent2"/>
                </a:solidFill>
              </a:rPr>
              <a:t>Rendering Text </a:t>
            </a:r>
            <a:r>
              <a:rPr lang="en-US">
                <a:solidFill>
                  <a:schemeClr val="accent2"/>
                </a:solidFill>
              </a:rPr>
              <a:t>với</a:t>
            </a:r>
            <a:r>
              <a:rPr lang="en-US" noProof="1">
                <a:solidFill>
                  <a:schemeClr val="accent2"/>
                </a:solidFill>
              </a:rPr>
              <a:t> TextRenderer</a:t>
            </a:r>
            <a:r>
              <a:rPr lang="en-US">
                <a:solidFill>
                  <a:schemeClr val="accent2"/>
                </a:solidFill>
              </a:rPr>
              <a:t>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8351ED-DA39-4604-A286-118C2B138086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Ví dụ về </a:t>
            </a:r>
            <a:r>
              <a:rPr lang="en-US" noProof="1"/>
              <a:t>TextRender</a:t>
            </a:r>
            <a:r>
              <a:rPr lang="en-US"/>
              <a:t>er (tt)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600200"/>
            <a:ext cx="8362950" cy="676275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	</a:t>
            </a:r>
            <a:r>
              <a:rPr lang="en-US">
                <a:solidFill>
                  <a:schemeClr val="accent2"/>
                </a:solidFill>
              </a:rPr>
              <a:t>Tự động lược bỏ ký tự và thay bằng dấu ...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AD6919-6DA6-4A5B-9DEC-D69D58A9D902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117</a:t>
            </a:fld>
            <a:endParaRPr lang="en-US"/>
          </a:p>
        </p:txBody>
      </p:sp>
      <p:pic>
        <p:nvPicPr>
          <p:cNvPr id="10752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3113" y="2781300"/>
            <a:ext cx="5057775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51" name="Rectangle 7"/>
          <p:cNvSpPr>
            <a:spLocks noGrp="1" noChangeArrowheads="1"/>
          </p:cNvSpPr>
          <p:nvPr>
            <p:ph idx="1"/>
          </p:nvPr>
        </p:nvSpPr>
        <p:spPr>
          <a:xfrm>
            <a:off x="395288" y="188913"/>
            <a:ext cx="8569325" cy="719137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sz="2800"/>
              <a:t>	</a:t>
            </a:r>
            <a:r>
              <a:rPr lang="en-US" sz="2800">
                <a:solidFill>
                  <a:schemeClr val="accent2"/>
                </a:solidFill>
              </a:rPr>
              <a:t>Tự động lược bỏ ký tự và thay bằng dấu ... (tt)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9D7DA2-CDA7-4CFE-BB81-19189559F718}" type="datetime1">
              <a:rPr lang="en-US" smtClean="0"/>
              <a:pPr>
                <a:defRPr/>
              </a:pPr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vi-VN"/>
              <a:t>Lập trình môi trường Windows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E19F8C-1326-4825-8356-4013E05FCEDB}" type="slidenum">
              <a:rPr lang="en-US" smtClean="0"/>
              <a:pPr>
                <a:defRPr/>
              </a:pPr>
              <a:t>118</a:t>
            </a:fld>
            <a:endParaRPr lang="en-US"/>
          </a:p>
        </p:txBody>
      </p:sp>
      <p:pic>
        <p:nvPicPr>
          <p:cNvPr id="108555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1650" y="1220788"/>
            <a:ext cx="8142288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luxe">
  <a:themeElements>
    <a:clrScheme name="Deluxe">
      <a:dk1>
        <a:sysClr val="windowText" lastClr="000000"/>
      </a:dk1>
      <a:lt1>
        <a:sysClr val="window" lastClr="FFFFFF"/>
      </a:lt1>
      <a:dk2>
        <a:srgbClr val="30356E"/>
      </a:dk2>
      <a:lt2>
        <a:srgbClr val="FFF9E5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FA7D7A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 1 - Tổng quan</Template>
  <TotalTime>4715</TotalTime>
  <Words>3646</Words>
  <Application>Microsoft Macintosh PowerPoint</Application>
  <PresentationFormat>On-screen Show (4:3)</PresentationFormat>
  <Paragraphs>802</Paragraphs>
  <Slides>118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118</vt:i4>
      </vt:variant>
    </vt:vector>
  </HeadingPairs>
  <TitlesOfParts>
    <vt:vector size="129" baseType="lpstr">
      <vt:lpstr>SFMono-Regular</vt:lpstr>
      <vt:lpstr>宋体</vt:lpstr>
      <vt:lpstr>Arial</vt:lpstr>
      <vt:lpstr>Arial Narrow</vt:lpstr>
      <vt:lpstr>Calibri</vt:lpstr>
      <vt:lpstr>Corbel</vt:lpstr>
      <vt:lpstr>Courier New</vt:lpstr>
      <vt:lpstr>Times New Roman</vt:lpstr>
      <vt:lpstr>Wingdings 2</vt:lpstr>
      <vt:lpstr>Template</vt:lpstr>
      <vt:lpstr>Deluxe</vt:lpstr>
      <vt:lpstr>FONT VÀ STRING</vt:lpstr>
      <vt:lpstr>Nội dung chính</vt:lpstr>
      <vt:lpstr>UNICODE</vt:lpstr>
      <vt:lpstr>Bộ ký tự Unicode</vt:lpstr>
      <vt:lpstr>Ví dụ bộ ký tự Unicode</vt:lpstr>
      <vt:lpstr>Ví dụ bộ ký tự Unicode (tt)</vt:lpstr>
      <vt:lpstr>FONT</vt:lpstr>
      <vt:lpstr>Các khái niệm về Font</vt:lpstr>
      <vt:lpstr>Định nghĩa Font</vt:lpstr>
      <vt:lpstr>Định nghĩa Font (tt)</vt:lpstr>
      <vt:lpstr>Kiểu Font  và Họ Font</vt:lpstr>
      <vt:lpstr>Kiểu Font  và Họ Font (tt)</vt:lpstr>
      <vt:lpstr>Các loại Font trên HĐH Windows</vt:lpstr>
      <vt:lpstr>Bitmap Font</vt:lpstr>
      <vt:lpstr>Vector Font</vt:lpstr>
      <vt:lpstr>TrueType Font</vt:lpstr>
      <vt:lpstr>OpenType Font</vt:lpstr>
      <vt:lpstr>Các thông số Font (Font metrics )</vt:lpstr>
      <vt:lpstr>Font metrics (tt)</vt:lpstr>
      <vt:lpstr>Độ đo Font</vt:lpstr>
      <vt:lpstr>Class Font</vt:lpstr>
      <vt:lpstr>Mô tả lớp Font</vt:lpstr>
      <vt:lpstr>Font Properties</vt:lpstr>
      <vt:lpstr>Font Properties (tt)</vt:lpstr>
      <vt:lpstr>Font Constructor </vt:lpstr>
      <vt:lpstr>Font Constructor (tt)</vt:lpstr>
      <vt:lpstr>Tập hợp FontStyle</vt:lpstr>
      <vt:lpstr>Ví dụ FontStyle</vt:lpstr>
      <vt:lpstr>Font Sizes</vt:lpstr>
      <vt:lpstr>Font Names</vt:lpstr>
      <vt:lpstr>Tập hợp GraphicsUnit</vt:lpstr>
      <vt:lpstr>Ví dụ</vt:lpstr>
      <vt:lpstr>PowerPoint Presentation</vt:lpstr>
      <vt:lpstr>PowerPoint Presentation</vt:lpstr>
      <vt:lpstr>PowerPoint Presentation</vt:lpstr>
      <vt:lpstr>Protected Methods</vt:lpstr>
      <vt:lpstr>Ví dụ về Font</vt:lpstr>
      <vt:lpstr>FontFamily Class </vt:lpstr>
      <vt:lpstr>Mô tả lớp FontFamily</vt:lpstr>
      <vt:lpstr>FontFamily Properties</vt:lpstr>
      <vt:lpstr>FontFamily Constructor</vt:lpstr>
      <vt:lpstr>Tập hợp GenericFontFamilies</vt:lpstr>
      <vt:lpstr>FontFamily Methods</vt:lpstr>
      <vt:lpstr>FontFamily Methods (tt)</vt:lpstr>
      <vt:lpstr>FontFamily Methods (tt)</vt:lpstr>
      <vt:lpstr>FontFamily Methods (tt)</vt:lpstr>
      <vt:lpstr>Ví dụ về Font Family</vt:lpstr>
      <vt:lpstr>PowerPoint Presentation</vt:lpstr>
      <vt:lpstr>Font Families List</vt:lpstr>
      <vt:lpstr>Ví dụ các thông số Họ Font (tt)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String</vt:lpstr>
      <vt:lpstr>Một số thành phần liên quan đến  chuỗi ký tự</vt:lpstr>
      <vt:lpstr>Tập hợp TextRenderingHint</vt:lpstr>
      <vt:lpstr>Mô tả tập hợp TextRenderingHint</vt:lpstr>
      <vt:lpstr>Các thành viên tập hợp TextRenderingHint</vt:lpstr>
      <vt:lpstr>Các thành viên tập hợp TextRenderingHint (tt)</vt:lpstr>
      <vt:lpstr>Ví dụ về TextRenderingHint</vt:lpstr>
      <vt:lpstr>PowerPoint Presentation</vt:lpstr>
      <vt:lpstr>PowerPoint Presentation</vt:lpstr>
      <vt:lpstr>PowerPoint Presentation</vt:lpstr>
      <vt:lpstr>Thuộc tính Graphics.TextContrast</vt:lpstr>
      <vt:lpstr>Mô tả thuộc tính TextContrast</vt:lpstr>
      <vt:lpstr>Ví dụ về thuộc tính TextContrast</vt:lpstr>
      <vt:lpstr>PowerPoint Presentation</vt:lpstr>
      <vt:lpstr>Phương thức Graphics.MeasureString</vt:lpstr>
      <vt:lpstr>Mô tả các hàm MeasureString</vt:lpstr>
      <vt:lpstr>Mô tả các hàm MeasureString (tt)</vt:lpstr>
      <vt:lpstr>Mô tả các hàm MeasureString (tt)</vt:lpstr>
      <vt:lpstr>Ví dụ về hàm MeasureString</vt:lpstr>
      <vt:lpstr>PowerPoint Presentation</vt:lpstr>
      <vt:lpstr>Ví dụ về hàm MeasureString (tt)</vt:lpstr>
      <vt:lpstr>PowerPoint Presentation</vt:lpstr>
      <vt:lpstr>StringFormat Class</vt:lpstr>
      <vt:lpstr>Mô tả lớp StringFormat</vt:lpstr>
      <vt:lpstr>StringFormat Properties</vt:lpstr>
      <vt:lpstr>StringFormat Properties (tt)</vt:lpstr>
      <vt:lpstr>Tập hợp StringFormatFlags </vt:lpstr>
      <vt:lpstr>Tập hợp StringFormatFlags (tt)</vt:lpstr>
      <vt:lpstr>Tập hợp StringFormatFlags (tt)</vt:lpstr>
      <vt:lpstr>Tập hợp StringTrimming </vt:lpstr>
      <vt:lpstr>Tập hợp StringTrimming (tt) </vt:lpstr>
      <vt:lpstr>PowerPoint Presentation</vt:lpstr>
      <vt:lpstr>PowerPoint Presentation</vt:lpstr>
      <vt:lpstr>PowerPoint Presentation</vt:lpstr>
      <vt:lpstr>StringFormat Constructor</vt:lpstr>
      <vt:lpstr>StringFormat Methods</vt:lpstr>
      <vt:lpstr>StringFormat Methods (tt)</vt:lpstr>
      <vt:lpstr>StringFormat Methods (tt)</vt:lpstr>
      <vt:lpstr>StringFormat Methods (tt)</vt:lpstr>
      <vt:lpstr>Ví dụ về StringFormat</vt:lpstr>
      <vt:lpstr>PowerPoint Presentation</vt:lpstr>
      <vt:lpstr>Ví dụ về StringFormat</vt:lpstr>
      <vt:lpstr>PowerPoint Presentation</vt:lpstr>
      <vt:lpstr>PowerPoint Presentation</vt:lpstr>
      <vt:lpstr>TextRenderer Class</vt:lpstr>
      <vt:lpstr>Mô tả lớp TextRenderer</vt:lpstr>
      <vt:lpstr>Lớp TextRenderer</vt:lpstr>
      <vt:lpstr>Lớp TextRenderer (tt)</vt:lpstr>
      <vt:lpstr>PowerPoint Presentation</vt:lpstr>
      <vt:lpstr>Tập hợp TextFormatFlags</vt:lpstr>
      <vt:lpstr>Mô tả tập hợp TextFormatFlags</vt:lpstr>
      <vt:lpstr>Các thành viên tập hợp TextFormatFlags</vt:lpstr>
      <vt:lpstr>Các thành viên tập hợp TextFormatFlags (tt)</vt:lpstr>
      <vt:lpstr>Minh họa về Padding Flags</vt:lpstr>
      <vt:lpstr>Ví dụ về TextFormatFlags</vt:lpstr>
      <vt:lpstr>PowerPoint Presentation</vt:lpstr>
      <vt:lpstr>Ánh xạ giá trị các thuộc tính từ lớpStringFormat vào tập hợp TextFormatFlags</vt:lpstr>
      <vt:lpstr>Ánh xạ giá trị các thuộc tính từ lớpStringFormat vào tập hợp TextFormatFlags (tt)</vt:lpstr>
      <vt:lpstr>Ánh xạ giá trị các thuộc tính từ lớpStringFormat vào tập hợp TextFormatFlags (tt)</vt:lpstr>
      <vt:lpstr>Ví dụ về Rendering Text</vt:lpstr>
      <vt:lpstr>PowerPoint Presentation</vt:lpstr>
      <vt:lpstr>Ví dụ về TextRenderer (tt)</vt:lpstr>
      <vt:lpstr>PowerPoint Presentation</vt:lpstr>
    </vt:vector>
  </TitlesOfParts>
  <Company>Phuoc Binh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Thi Vuong</dc:creator>
  <cp:lastModifiedBy>Mai Trọng Khang</cp:lastModifiedBy>
  <cp:revision>338</cp:revision>
  <dcterms:created xsi:type="dcterms:W3CDTF">2007-04-07T06:57:48Z</dcterms:created>
  <dcterms:modified xsi:type="dcterms:W3CDTF">2025-11-16T15:05:42Z</dcterms:modified>
</cp:coreProperties>
</file>