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429" r:id="rId3"/>
    <p:sldId id="436" r:id="rId4"/>
    <p:sldId id="437" r:id="rId5"/>
    <p:sldId id="438" r:id="rId6"/>
    <p:sldId id="439" r:id="rId7"/>
    <p:sldId id="440" r:id="rId8"/>
    <p:sldId id="441" r:id="rId9"/>
    <p:sldId id="442" r:id="rId10"/>
    <p:sldId id="443" r:id="rId11"/>
    <p:sldId id="444" r:id="rId12"/>
    <p:sldId id="445" r:id="rId13"/>
    <p:sldId id="448" r:id="rId14"/>
    <p:sldId id="449" r:id="rId15"/>
    <p:sldId id="450" r:id="rId16"/>
    <p:sldId id="451" r:id="rId17"/>
    <p:sldId id="452" r:id="rId18"/>
    <p:sldId id="453" r:id="rId19"/>
    <p:sldId id="454" r:id="rId20"/>
    <p:sldId id="455" r:id="rId21"/>
    <p:sldId id="456" r:id="rId22"/>
    <p:sldId id="457" r:id="rId23"/>
    <p:sldId id="458" r:id="rId24"/>
    <p:sldId id="459" r:id="rId25"/>
    <p:sldId id="461" r:id="rId26"/>
    <p:sldId id="446" r:id="rId27"/>
    <p:sldId id="462" r:id="rId28"/>
    <p:sldId id="463" r:id="rId29"/>
    <p:sldId id="464" r:id="rId30"/>
    <p:sldId id="465" r:id="rId31"/>
    <p:sldId id="466" r:id="rId32"/>
    <p:sldId id="467" r:id="rId33"/>
    <p:sldId id="468" r:id="rId34"/>
    <p:sldId id="469" r:id="rId35"/>
    <p:sldId id="470" r:id="rId36"/>
    <p:sldId id="471" r:id="rId37"/>
    <p:sldId id="472" r:id="rId38"/>
    <p:sldId id="473" r:id="rId39"/>
    <p:sldId id="474" r:id="rId40"/>
    <p:sldId id="475" r:id="rId41"/>
    <p:sldId id="476" r:id="rId42"/>
    <p:sldId id="477" r:id="rId43"/>
    <p:sldId id="478" r:id="rId44"/>
    <p:sldId id="479" r:id="rId45"/>
    <p:sldId id="480" r:id="rId46"/>
    <p:sldId id="481" r:id="rId47"/>
    <p:sldId id="482" r:id="rId48"/>
    <p:sldId id="483" r:id="rId49"/>
    <p:sldId id="484" r:id="rId5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79186" autoAdjust="0"/>
  </p:normalViewPr>
  <p:slideViewPr>
    <p:cSldViewPr>
      <p:cViewPr varScale="1">
        <p:scale>
          <a:sx n="89" d="100"/>
          <a:sy n="89" d="100"/>
        </p:scale>
        <p:origin x="22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A7093-1219-4E42-9D13-BF5429031E9C}" type="datetimeFigureOut">
              <a:rPr lang="en-US" smtClean="0"/>
              <a:pPr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1986A-8D2C-478D-8802-B6C06C97B3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0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Brainstorming: all the method</a:t>
            </a:r>
            <a:r>
              <a:rPr lang="en-US" baseline="0" dirty="0"/>
              <a:t> people can use to connect with a computer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1986A-8D2C-478D-8802-B6C06C97B3B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18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14000"/>
              </a:lnSpc>
            </a:pPr>
            <a:r>
              <a:rPr lang="en-US" sz="1200" dirty="0" err="1"/>
              <a:t>Khi</a:t>
            </a:r>
            <a:r>
              <a:rPr lang="en-US" sz="1200" dirty="0"/>
              <a:t> </a:t>
            </a:r>
            <a:r>
              <a:rPr lang="en-US" sz="1200" dirty="0" err="1"/>
              <a:t>người</a:t>
            </a:r>
            <a:r>
              <a:rPr lang="en-US" sz="1200" dirty="0"/>
              <a:t> </a:t>
            </a: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dirty="0" err="1"/>
              <a:t>nhấn</a:t>
            </a:r>
            <a:r>
              <a:rPr lang="en-US" sz="1200" dirty="0"/>
              <a:t> </a:t>
            </a:r>
            <a:r>
              <a:rPr lang="en-US" sz="1200" dirty="0" err="1"/>
              <a:t>hoặc</a:t>
            </a:r>
            <a:r>
              <a:rPr lang="en-US" sz="1200" dirty="0"/>
              <a:t> </a:t>
            </a:r>
            <a:r>
              <a:rPr lang="en-US" sz="1200" dirty="0" err="1"/>
              <a:t>nhả</a:t>
            </a:r>
            <a:r>
              <a:rPr lang="en-US" sz="1200" dirty="0"/>
              <a:t> </a:t>
            </a:r>
            <a:r>
              <a:rPr lang="en-US" sz="1200" dirty="0" err="1"/>
              <a:t>một</a:t>
            </a:r>
            <a:r>
              <a:rPr lang="en-US" sz="1200" dirty="0"/>
              <a:t> </a:t>
            </a:r>
            <a:r>
              <a:rPr lang="en-US" sz="1200" dirty="0" err="1"/>
              <a:t>phím</a:t>
            </a:r>
            <a:r>
              <a:rPr lang="en-US" sz="1200" dirty="0"/>
              <a:t> </a:t>
            </a:r>
            <a:r>
              <a:rPr lang="en-US" sz="1200" dirty="0" err="1"/>
              <a:t>bất</a:t>
            </a:r>
            <a:r>
              <a:rPr lang="en-US" sz="1200" dirty="0"/>
              <a:t> </a:t>
            </a:r>
            <a:r>
              <a:rPr lang="en-US" sz="1200" dirty="0" err="1"/>
              <a:t>kỳ</a:t>
            </a:r>
            <a:r>
              <a:rPr lang="en-US" sz="1200" dirty="0"/>
              <a:t> </a:t>
            </a:r>
            <a:r>
              <a:rPr lang="en-US" sz="1200" dirty="0" err="1"/>
              <a:t>từ</a:t>
            </a:r>
            <a:r>
              <a:rPr lang="en-US" sz="1200" dirty="0"/>
              <a:t> </a:t>
            </a:r>
            <a:r>
              <a:rPr lang="en-US" sz="1200" dirty="0" err="1"/>
              <a:t>bàn</a:t>
            </a:r>
            <a:r>
              <a:rPr lang="en-US" sz="1200" dirty="0"/>
              <a:t> </a:t>
            </a:r>
            <a:r>
              <a:rPr lang="en-US" sz="1200" dirty="0" err="1"/>
              <a:t>phím</a:t>
            </a:r>
            <a:r>
              <a:rPr lang="en-US" sz="1200" dirty="0"/>
              <a:t>, </a:t>
            </a:r>
            <a:r>
              <a:rPr lang="en-US" sz="1200" dirty="0" err="1"/>
              <a:t>các</a:t>
            </a:r>
            <a:r>
              <a:rPr lang="en-US" sz="1200" dirty="0"/>
              <a:t> driver </a:t>
            </a:r>
            <a:r>
              <a:rPr lang="en-US" sz="1200" dirty="0" err="1"/>
              <a:t>bàn</a:t>
            </a:r>
            <a:r>
              <a:rPr lang="en-US" sz="1200" dirty="0"/>
              <a:t> </a:t>
            </a:r>
            <a:r>
              <a:rPr lang="en-US" sz="1200" dirty="0" err="1"/>
              <a:t>phím</a:t>
            </a:r>
            <a:r>
              <a:rPr lang="en-US" sz="1200" dirty="0"/>
              <a:t> </a:t>
            </a:r>
            <a:r>
              <a:rPr lang="en-US" sz="1200" dirty="0" err="1"/>
              <a:t>sẽ</a:t>
            </a:r>
            <a:r>
              <a:rPr lang="en-US" sz="1200" dirty="0"/>
              <a:t> </a:t>
            </a:r>
            <a:r>
              <a:rPr lang="en-US" sz="1200" dirty="0" err="1"/>
              <a:t>nhận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mã</a:t>
            </a:r>
            <a:r>
              <a:rPr lang="en-US" sz="1200" dirty="0"/>
              <a:t> </a:t>
            </a:r>
            <a:r>
              <a:rPr lang="en-US" sz="1200" dirty="0" err="1"/>
              <a:t>quét</a:t>
            </a:r>
            <a:r>
              <a:rPr lang="en-US" sz="1200" dirty="0"/>
              <a:t> (scan code) </a:t>
            </a:r>
            <a:r>
              <a:rPr lang="en-US" sz="1200" dirty="0" err="1"/>
              <a:t>của</a:t>
            </a:r>
            <a:r>
              <a:rPr lang="en-US" sz="1200" dirty="0"/>
              <a:t> </a:t>
            </a:r>
            <a:r>
              <a:rPr lang="en-US" sz="1200" dirty="0" err="1"/>
              <a:t>phím</a:t>
            </a:r>
            <a:r>
              <a:rPr lang="en-US" sz="1200" dirty="0"/>
              <a:t> </a:t>
            </a:r>
            <a:r>
              <a:rPr lang="en-US" sz="1200" dirty="0" err="1"/>
              <a:t>tương</a:t>
            </a:r>
            <a:r>
              <a:rPr lang="en-US" sz="1200" dirty="0"/>
              <a:t> </a:t>
            </a:r>
            <a:r>
              <a:rPr lang="en-US" sz="1200" dirty="0" err="1"/>
              <a:t>ứng</a:t>
            </a:r>
            <a:r>
              <a:rPr lang="en-US" sz="1200" dirty="0"/>
              <a:t>. </a:t>
            </a:r>
          </a:p>
          <a:p>
            <a:pPr algn="just">
              <a:lnSpc>
                <a:spcPct val="114000"/>
              </a:lnSpc>
            </a:pPr>
            <a:r>
              <a:rPr lang="en-US" sz="1200" dirty="0" err="1"/>
              <a:t>Mã</a:t>
            </a:r>
            <a:r>
              <a:rPr lang="en-US" sz="1200" dirty="0"/>
              <a:t> </a:t>
            </a:r>
            <a:r>
              <a:rPr lang="en-US" sz="1200" dirty="0" err="1"/>
              <a:t>quét</a:t>
            </a:r>
            <a:r>
              <a:rPr lang="en-US" sz="1200" dirty="0"/>
              <a:t> </a:t>
            </a:r>
            <a:r>
              <a:rPr lang="en-US" sz="1200" dirty="0" err="1"/>
              <a:t>này</a:t>
            </a:r>
            <a:r>
              <a:rPr lang="en-US" sz="1200" dirty="0"/>
              <a:t> </a:t>
            </a:r>
            <a:r>
              <a:rPr lang="en-US" sz="1200" dirty="0" err="1"/>
              <a:t>sẽ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chuyển</a:t>
            </a:r>
            <a:r>
              <a:rPr lang="en-US" sz="1200" dirty="0"/>
              <a:t> </a:t>
            </a:r>
            <a:r>
              <a:rPr lang="en-US" sz="1200" dirty="0" err="1"/>
              <a:t>thành</a:t>
            </a:r>
            <a:r>
              <a:rPr lang="en-US" sz="1200" dirty="0"/>
              <a:t> </a:t>
            </a:r>
            <a:r>
              <a:rPr lang="en-US" sz="1200" dirty="0" err="1"/>
              <a:t>mã</a:t>
            </a:r>
            <a:r>
              <a:rPr lang="en-US" sz="1200" dirty="0"/>
              <a:t> </a:t>
            </a:r>
            <a:r>
              <a:rPr lang="en-US" sz="1200" dirty="0" err="1"/>
              <a:t>phím</a:t>
            </a:r>
            <a:r>
              <a:rPr lang="en-US" sz="1200" dirty="0"/>
              <a:t> </a:t>
            </a:r>
            <a:r>
              <a:rPr lang="en-US" sz="1200" dirty="0" err="1"/>
              <a:t>ảo</a:t>
            </a:r>
            <a:r>
              <a:rPr lang="en-US" sz="1200" dirty="0"/>
              <a:t> (Virtual </a:t>
            </a:r>
            <a:r>
              <a:rPr lang="en-US" sz="1200" dirty="0" err="1"/>
              <a:t>keycode</a:t>
            </a:r>
            <a:r>
              <a:rPr lang="en-US" sz="1200" dirty="0"/>
              <a:t>)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một</a:t>
            </a:r>
            <a:r>
              <a:rPr lang="en-US" sz="1200" dirty="0"/>
              <a:t> </a:t>
            </a:r>
            <a:r>
              <a:rPr lang="en-US" sz="1200" dirty="0" err="1"/>
              <a:t>thông</a:t>
            </a:r>
            <a:r>
              <a:rPr lang="en-US" sz="1200" dirty="0"/>
              <a:t> </a:t>
            </a:r>
            <a:r>
              <a:rPr lang="en-US" sz="1200" dirty="0" err="1"/>
              <a:t>điệp</a:t>
            </a:r>
            <a:r>
              <a:rPr lang="en-US" sz="1200" dirty="0"/>
              <a:t> </a:t>
            </a:r>
            <a:r>
              <a:rPr lang="en-US" sz="1200" dirty="0" err="1"/>
              <a:t>bàn</a:t>
            </a:r>
            <a:r>
              <a:rPr lang="en-US" sz="1200" dirty="0"/>
              <a:t> </a:t>
            </a:r>
            <a:r>
              <a:rPr lang="en-US" sz="1200" dirty="0" err="1"/>
              <a:t>phím</a:t>
            </a:r>
            <a:r>
              <a:rPr lang="en-US" sz="1200" dirty="0"/>
              <a:t> </a:t>
            </a:r>
            <a:r>
              <a:rPr lang="en-US" sz="1200" dirty="0" err="1"/>
              <a:t>tương</a:t>
            </a:r>
            <a:r>
              <a:rPr lang="en-US" sz="1200" dirty="0"/>
              <a:t> </a:t>
            </a:r>
            <a:r>
              <a:rPr lang="en-US" sz="1200" dirty="0" err="1"/>
              <a:t>ứng</a:t>
            </a:r>
            <a:r>
              <a:rPr lang="en-US" sz="1200" dirty="0"/>
              <a:t> (</a:t>
            </a:r>
            <a:r>
              <a:rPr lang="en-US" sz="1200" dirty="0" err="1"/>
              <a:t>bao</a:t>
            </a:r>
            <a:r>
              <a:rPr lang="en-US" sz="1200" dirty="0"/>
              <a:t> </a:t>
            </a:r>
            <a:r>
              <a:rPr lang="en-US" sz="1200" dirty="0" err="1"/>
              <a:t>gồm</a:t>
            </a:r>
            <a:r>
              <a:rPr lang="en-US" sz="1200" dirty="0"/>
              <a:t> </a:t>
            </a:r>
            <a:r>
              <a:rPr lang="en-US" sz="1200" dirty="0" err="1"/>
              <a:t>cả</a:t>
            </a:r>
            <a:r>
              <a:rPr lang="en-US" sz="1200" dirty="0"/>
              <a:t> scan code, virtual </a:t>
            </a:r>
            <a:r>
              <a:rPr lang="en-US" sz="1200" dirty="0" err="1"/>
              <a:t>keycode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một</a:t>
            </a:r>
            <a:r>
              <a:rPr lang="en-US" sz="1200" dirty="0"/>
              <a:t> </a:t>
            </a:r>
            <a:r>
              <a:rPr lang="en-US" sz="1200" dirty="0" err="1"/>
              <a:t>số</a:t>
            </a:r>
            <a:r>
              <a:rPr lang="en-US" sz="1200" dirty="0"/>
              <a:t> </a:t>
            </a:r>
            <a:r>
              <a:rPr lang="en-US" sz="1200" dirty="0" err="1"/>
              <a:t>thông</a:t>
            </a:r>
            <a:r>
              <a:rPr lang="en-US" sz="1200" dirty="0"/>
              <a:t> tin </a:t>
            </a:r>
            <a:r>
              <a:rPr lang="en-US" sz="1200" dirty="0" err="1"/>
              <a:t>khác</a:t>
            </a:r>
            <a:r>
              <a:rPr lang="en-US" sz="1200" dirty="0"/>
              <a:t>) </a:t>
            </a:r>
            <a:r>
              <a:rPr lang="en-US" sz="1200" dirty="0" err="1"/>
              <a:t>sẽ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gửi</a:t>
            </a:r>
            <a:r>
              <a:rPr lang="en-US" sz="1200" dirty="0"/>
              <a:t> </a:t>
            </a:r>
            <a:r>
              <a:rPr lang="en-US" sz="1200" dirty="0" err="1"/>
              <a:t>đến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System message queue.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1986A-8D2C-478D-8802-B6C06C97B3B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48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= 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1986A-8D2C-478D-8802-B6C06C97B3B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20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AE3CE-19B0-41A3-9898-AD2CAB2CBF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F6725-D91E-415D-8720-601CB0D1C0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B05DB-05E0-495B-9FE8-50827FBAFA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067D40-E70C-4449-B62D-AE0A00997E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E34FE5-C2BE-4422-8EA4-1E3462DF6F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06DE59-54BB-4F2C-BFCA-9D772ED300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2ECC29-9F1E-4227-8D30-060C7D4580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F8AD6-4B4F-4145-AE65-B4EC9A9604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355A0-A7DE-4ACC-B750-1DEEB014EE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C122A-DBF7-4D56-B97A-495C7D2830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5A6B67-5385-4098-B10D-BC390A2211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4F8C8229-0385-4345-AD97-5B046B99A6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0"/>
          <p:cNvSpPr txBox="1">
            <a:spLocks noChangeArrowheads="1"/>
          </p:cNvSpPr>
          <p:nvPr/>
        </p:nvSpPr>
        <p:spPr bwMode="auto">
          <a:xfrm>
            <a:off x="251521" y="2132856"/>
            <a:ext cx="5904656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pPr algn="l"/>
            <a:r>
              <a:rPr lang="en-US" sz="60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LÍ CÁC SỰ KIỆN NHẬP LIỆU</a:t>
            </a:r>
            <a:endParaRPr lang="es-ES" sz="60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Nội</a:t>
            </a:r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dung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Keyboard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Mouse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1670040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10000"/>
              </a:lnSpc>
            </a:pP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hiểu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thông</a:t>
            </a:r>
            <a:r>
              <a:rPr lang="en-US" sz="2600" dirty="0"/>
              <a:t> </a:t>
            </a:r>
            <a:r>
              <a:rPr lang="en-US" sz="2600" dirty="0" err="1"/>
              <a:t>điệp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phát</a:t>
            </a:r>
            <a:r>
              <a:rPr lang="en-US" sz="2600" dirty="0"/>
              <a:t> </a:t>
            </a:r>
            <a:r>
              <a:rPr lang="en-US" sz="2600" dirty="0" err="1"/>
              <a:t>sinh</a:t>
            </a:r>
            <a:r>
              <a:rPr lang="en-US" sz="2600" dirty="0"/>
              <a:t> </a:t>
            </a:r>
            <a:r>
              <a:rPr lang="en-US" sz="2600" dirty="0" err="1"/>
              <a:t>từ</a:t>
            </a:r>
            <a:r>
              <a:rPr lang="en-US" sz="2600" dirty="0"/>
              <a:t> </a:t>
            </a:r>
            <a:r>
              <a:rPr lang="en-US" sz="2600" dirty="0" err="1"/>
              <a:t>bàn</a:t>
            </a:r>
            <a:r>
              <a:rPr lang="en-US" sz="2600" dirty="0"/>
              <a:t> </a:t>
            </a:r>
            <a:r>
              <a:rPr lang="en-US" sz="2600" dirty="0" err="1"/>
              <a:t>phím</a:t>
            </a:r>
            <a:r>
              <a:rPr lang="en-US" sz="2600" dirty="0"/>
              <a:t> hay </a:t>
            </a:r>
            <a:r>
              <a:rPr lang="en-US" sz="2600" dirty="0" err="1"/>
              <a:t>từ</a:t>
            </a:r>
            <a:r>
              <a:rPr lang="en-US" sz="2600" dirty="0"/>
              <a:t> </a:t>
            </a:r>
            <a:r>
              <a:rPr lang="en-US" sz="2600" dirty="0" err="1"/>
              <a:t>thiết</a:t>
            </a:r>
            <a:r>
              <a:rPr lang="en-US" sz="2600" dirty="0"/>
              <a:t> </a:t>
            </a:r>
            <a:r>
              <a:rPr lang="en-US" sz="2600" dirty="0" err="1"/>
              <a:t>bị</a:t>
            </a:r>
            <a:r>
              <a:rPr lang="en-US" sz="2600" dirty="0"/>
              <a:t> </a:t>
            </a:r>
            <a:r>
              <a:rPr lang="en-US" sz="2600" dirty="0" err="1"/>
              <a:t>chuột</a:t>
            </a:r>
            <a:r>
              <a:rPr lang="en-US" sz="2600" dirty="0"/>
              <a:t>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viết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xử</a:t>
            </a:r>
            <a:r>
              <a:rPr lang="en-US" sz="2600" dirty="0"/>
              <a:t> </a:t>
            </a:r>
            <a:r>
              <a:rPr lang="en-US" sz="2600" dirty="0" err="1"/>
              <a:t>lý</a:t>
            </a:r>
            <a:r>
              <a:rPr lang="en-US" sz="2600" dirty="0"/>
              <a:t> </a:t>
            </a:r>
            <a:r>
              <a:rPr lang="en-US" sz="2600" dirty="0" err="1"/>
              <a:t>tương</a:t>
            </a:r>
            <a:r>
              <a:rPr lang="en-US" sz="2600" dirty="0"/>
              <a:t> </a:t>
            </a:r>
            <a:r>
              <a:rPr lang="en-US" sz="2600" dirty="0" err="1"/>
              <a:t>ứng</a:t>
            </a:r>
            <a:r>
              <a:rPr lang="en-US" sz="2600" dirty="0"/>
              <a:t> </a:t>
            </a: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từng</a:t>
            </a:r>
            <a:r>
              <a:rPr lang="en-US" sz="2600" dirty="0"/>
              <a:t> </a:t>
            </a:r>
            <a:r>
              <a:rPr lang="en-US" sz="2600" dirty="0" err="1"/>
              <a:t>thiết</a:t>
            </a:r>
            <a:r>
              <a:rPr lang="en-US" sz="2600" dirty="0"/>
              <a:t> </a:t>
            </a:r>
            <a:r>
              <a:rPr lang="en-US" sz="2600" dirty="0" err="1"/>
              <a:t>bị</a:t>
            </a:r>
            <a:r>
              <a:rPr lang="en-US" sz="2600" dirty="0"/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định</a:t>
            </a:r>
            <a:r>
              <a:rPr lang="en-US" sz="2600" dirty="0"/>
              <a:t> </a:t>
            </a:r>
            <a:r>
              <a:rPr lang="en-US" sz="2600" dirty="0" err="1"/>
              <a:t>thời</a:t>
            </a:r>
            <a:r>
              <a:rPr lang="en-US" sz="2600" dirty="0"/>
              <a:t> </a:t>
            </a:r>
            <a:r>
              <a:rPr lang="en-US" sz="2600" dirty="0" err="1"/>
              <a:t>gian</a:t>
            </a:r>
            <a:r>
              <a:rPr lang="en-US" sz="2600" dirty="0"/>
              <a:t>: Windows </a:t>
            </a:r>
            <a:r>
              <a:rPr lang="en-US" sz="2600" dirty="0" err="1"/>
              <a:t>cung</a:t>
            </a:r>
            <a:r>
              <a:rPr lang="en-US" sz="2600" dirty="0"/>
              <a:t> </a:t>
            </a:r>
            <a:r>
              <a:rPr lang="en-US" sz="2600" dirty="0" err="1"/>
              <a:t>cấp</a:t>
            </a:r>
            <a:r>
              <a:rPr lang="en-US" sz="2600" dirty="0"/>
              <a:t> </a:t>
            </a:r>
            <a:r>
              <a:rPr lang="en-US" sz="2600" dirty="0" err="1"/>
              <a:t>cơ</a:t>
            </a:r>
            <a:r>
              <a:rPr lang="en-US" sz="2600" dirty="0"/>
              <a:t> </a:t>
            </a:r>
            <a:r>
              <a:rPr lang="en-US" sz="2600" dirty="0" err="1"/>
              <a:t>chế</a:t>
            </a:r>
            <a:r>
              <a:rPr lang="en-US" sz="2600" dirty="0"/>
              <a:t> </a:t>
            </a:r>
            <a:r>
              <a:rPr lang="en-US" sz="2600" dirty="0" err="1"/>
              <a:t>này</a:t>
            </a:r>
            <a:r>
              <a:rPr lang="en-US" sz="2600" dirty="0"/>
              <a:t>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truyền</a:t>
            </a:r>
            <a:r>
              <a:rPr lang="en-US" sz="2600" dirty="0"/>
              <a:t> </a:t>
            </a:r>
            <a:r>
              <a:rPr lang="en-US" sz="2600" dirty="0" err="1"/>
              <a:t>thông</a:t>
            </a:r>
            <a:r>
              <a:rPr lang="en-US" sz="2600" dirty="0"/>
              <a:t> </a:t>
            </a: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ứng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 </a:t>
            </a:r>
            <a:r>
              <a:rPr lang="en-US" sz="2600" dirty="0" err="1"/>
              <a:t>theo</a:t>
            </a:r>
            <a:r>
              <a:rPr lang="en-US" sz="2600" dirty="0"/>
              <a:t> </a:t>
            </a:r>
            <a:r>
              <a:rPr lang="en-US" sz="2600" dirty="0" err="1"/>
              <a:t>định</a:t>
            </a:r>
            <a:r>
              <a:rPr lang="en-US" sz="2600" dirty="0"/>
              <a:t> </a:t>
            </a:r>
            <a:r>
              <a:rPr lang="en-US" sz="2600" dirty="0" err="1"/>
              <a:t>kì</a:t>
            </a:r>
            <a:r>
              <a:rPr lang="en-US" sz="2600" dirty="0"/>
              <a:t>.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khai</a:t>
            </a:r>
            <a:r>
              <a:rPr lang="en-US" sz="2400" dirty="0"/>
              <a:t> 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khoảng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trước</a:t>
            </a:r>
            <a:r>
              <a:rPr lang="en-US" sz="2400" dirty="0"/>
              <a:t>. </a:t>
            </a:r>
          </a:p>
          <a:p>
            <a:pPr lvl="1" algn="just">
              <a:lnSpc>
                <a:spcPct val="110000"/>
              </a:lnSpc>
            </a:pP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hoạt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truyền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tín</a:t>
            </a:r>
            <a:r>
              <a:rPr lang="en-US" sz="2400" dirty="0"/>
              <a:t> </a:t>
            </a:r>
            <a:r>
              <a:rPr lang="en-US" sz="2400" dirty="0" err="1"/>
              <a:t>hiệu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từng</a:t>
            </a:r>
            <a:r>
              <a:rPr lang="en-US" sz="2400" dirty="0"/>
              <a:t> </a:t>
            </a:r>
            <a:r>
              <a:rPr lang="en-US" sz="2400" dirty="0" err="1"/>
              <a:t>khoảng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kì</a:t>
            </a:r>
            <a:r>
              <a:rPr lang="en-US" sz="2400" dirty="0"/>
              <a:t>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khai</a:t>
            </a:r>
            <a:r>
              <a:rPr lang="en-US" sz="2400" dirty="0"/>
              <a:t> </a:t>
            </a:r>
            <a:r>
              <a:rPr lang="en-US" sz="2400" dirty="0" err="1"/>
              <a:t>báo</a:t>
            </a:r>
            <a:r>
              <a:rPr lang="en-US" sz="2400" dirty="0"/>
              <a:t>.</a:t>
            </a:r>
          </a:p>
          <a:p>
            <a:pPr algn="just">
              <a:lnSpc>
                <a:spcPct val="110000"/>
              </a:lnSpc>
            </a:pPr>
            <a:endParaRPr lang="en-US" sz="3000" dirty="0"/>
          </a:p>
          <a:p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Giới thiệu</a:t>
            </a:r>
          </a:p>
        </p:txBody>
      </p:sp>
    </p:spTree>
    <p:extLst>
      <p:ext uri="{BB962C8B-B14F-4D97-AF65-F5344CB8AC3E}">
        <p14:creationId xmlns:p14="http://schemas.microsoft.com/office/powerpoint/2010/main" val="678393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0808"/>
          </a:xfrm>
        </p:spPr>
        <p:txBody>
          <a:bodyPr/>
          <a:lstStyle/>
          <a:p>
            <a:pPr algn="just"/>
            <a:r>
              <a:rPr lang="en-US" sz="2800" dirty="0" err="1"/>
              <a:t>Bàn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chuột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hai</a:t>
            </a:r>
            <a:r>
              <a:rPr lang="en-US" sz="2800" dirty="0"/>
              <a:t> </a:t>
            </a: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bị</a:t>
            </a:r>
            <a:r>
              <a:rPr lang="en-US" sz="2800" dirty="0"/>
              <a:t> </a:t>
            </a:r>
            <a:r>
              <a:rPr lang="en-US" sz="2800" dirty="0" err="1"/>
              <a:t>nhập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quan</a:t>
            </a:r>
            <a:r>
              <a:rPr lang="en-US" sz="2800" dirty="0"/>
              <a:t> </a:t>
            </a:r>
            <a:r>
              <a:rPr lang="en-US" sz="2800" dirty="0" err="1"/>
              <a:t>trọng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máy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 err="1"/>
              <a:t>Hầu</a:t>
            </a:r>
            <a:r>
              <a:rPr lang="en-US" sz="2800" dirty="0"/>
              <a:t> </a:t>
            </a:r>
            <a:r>
              <a:rPr lang="en-US" sz="2800" dirty="0" err="1"/>
              <a:t>hết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chức</a:t>
            </a:r>
            <a:r>
              <a:rPr lang="en-US" sz="2800" dirty="0"/>
              <a:t> </a:t>
            </a:r>
            <a:r>
              <a:rPr lang="en-US" sz="2800" dirty="0" err="1"/>
              <a:t>năng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Windows </a:t>
            </a:r>
            <a:r>
              <a:rPr lang="en-US" sz="2800" dirty="0" err="1"/>
              <a:t>đều</a:t>
            </a:r>
            <a:r>
              <a:rPr lang="en-US" sz="2800" dirty="0"/>
              <a:t> </a:t>
            </a:r>
            <a:r>
              <a:rPr lang="en-US" sz="2800" dirty="0" err="1"/>
              <a:t>hỗ</a:t>
            </a:r>
            <a:r>
              <a:rPr lang="en-US" sz="2800" dirty="0"/>
              <a:t> </a:t>
            </a:r>
            <a:r>
              <a:rPr lang="en-US" sz="2800" dirty="0" err="1"/>
              <a:t>trợ</a:t>
            </a:r>
            <a:r>
              <a:rPr lang="en-US" sz="2800" dirty="0"/>
              <a:t> </a:t>
            </a:r>
            <a:r>
              <a:rPr lang="en-US" sz="2800" dirty="0" err="1"/>
              <a:t>dùng</a:t>
            </a:r>
            <a:r>
              <a:rPr lang="en-US" sz="2800" dirty="0"/>
              <a:t> </a:t>
            </a:r>
            <a:r>
              <a:rPr lang="en-US" sz="2800" dirty="0" err="1"/>
              <a:t>bàn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chuột</a:t>
            </a:r>
            <a:r>
              <a:rPr lang="en-US" sz="2800" dirty="0"/>
              <a:t>.</a:t>
            </a:r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Keyboard - Mouse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3573463"/>
            <a:ext cx="4343400" cy="2605087"/>
          </a:xfrm>
          <a:prstGeom prst="rect">
            <a:avLst/>
          </a:prstGeom>
          <a:noFill/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67400" y="3573463"/>
            <a:ext cx="1947863" cy="2590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84171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9"/>
            <a:ext cx="8229600" cy="2808312"/>
          </a:xfrm>
        </p:spPr>
        <p:txBody>
          <a:bodyPr/>
          <a:lstStyle/>
          <a:p>
            <a:pPr algn="just"/>
            <a:r>
              <a:rPr lang="en-US" sz="2800" dirty="0" err="1"/>
              <a:t>Bàn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chuột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xử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qua </a:t>
            </a:r>
            <a:r>
              <a:rPr lang="en-US" sz="2800" dirty="0" err="1"/>
              <a:t>cơ</a:t>
            </a:r>
            <a:r>
              <a:rPr lang="en-US" sz="2800" dirty="0"/>
              <a:t> </a:t>
            </a:r>
            <a:r>
              <a:rPr lang="en-US" sz="2800" dirty="0" err="1"/>
              <a:t>chế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</a:t>
            </a:r>
            <a:r>
              <a:rPr lang="en-US" sz="2800" dirty="0" err="1"/>
              <a:t>điệp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Windows. </a:t>
            </a:r>
          </a:p>
          <a:p>
            <a:pPr algn="just"/>
            <a:r>
              <a:rPr lang="en-US" sz="2800" dirty="0" err="1"/>
              <a:t>Mọi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bàn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chuột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Windows </a:t>
            </a:r>
            <a:r>
              <a:rPr lang="en-US" sz="2800" dirty="0" err="1"/>
              <a:t>gửi</a:t>
            </a:r>
            <a:r>
              <a:rPr lang="en-US" sz="2800" dirty="0"/>
              <a:t> </a:t>
            </a:r>
            <a:r>
              <a:rPr lang="en-US" sz="2800" dirty="0" err="1"/>
              <a:t>đến</a:t>
            </a:r>
            <a:r>
              <a:rPr lang="en-US" sz="2800" dirty="0"/>
              <a:t> </a:t>
            </a:r>
            <a:r>
              <a:rPr lang="en-US" sz="2800" dirty="0" err="1"/>
              <a:t>chương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qua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</a:t>
            </a:r>
            <a:r>
              <a:rPr lang="en-US" sz="2800" dirty="0" err="1"/>
              <a:t>điệp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Keyboard - Mouse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00414" y="3646510"/>
            <a:ext cx="5257800" cy="2997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1387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pPr algn="just"/>
            <a:r>
              <a:rPr lang="en-US" sz="2600" dirty="0" err="1"/>
              <a:t>Khi</a:t>
            </a:r>
            <a:r>
              <a:rPr lang="en-US" sz="2600" dirty="0"/>
              <a:t> </a:t>
            </a:r>
            <a:r>
              <a:rPr lang="en-US" sz="2600" dirty="0" err="1"/>
              <a:t>nhấn</a:t>
            </a:r>
            <a:r>
              <a:rPr lang="en-US" sz="2600" dirty="0"/>
              <a:t> </a:t>
            </a:r>
            <a:r>
              <a:rPr lang="en-US" sz="2600" dirty="0" err="1"/>
              <a:t>phím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xảy</a:t>
            </a:r>
            <a:r>
              <a:rPr lang="en-US" sz="2600" dirty="0"/>
              <a:t> </a:t>
            </a:r>
            <a:r>
              <a:rPr lang="en-US" sz="2600" dirty="0" err="1"/>
              <a:t>ra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trường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sau</a:t>
            </a:r>
            <a:r>
              <a:rPr lang="en-US" sz="2600" dirty="0"/>
              <a:t>:</a:t>
            </a:r>
          </a:p>
          <a:p>
            <a:pPr lvl="1" algn="just"/>
            <a:r>
              <a:rPr lang="en-US" sz="2400" dirty="0" err="1"/>
              <a:t>Nhấn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.</a:t>
            </a:r>
          </a:p>
          <a:p>
            <a:pPr lvl="1" algn="just"/>
            <a:r>
              <a:rPr lang="en-US" sz="2400" dirty="0" err="1"/>
              <a:t>Nhấn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khiển</a:t>
            </a:r>
            <a:r>
              <a:rPr lang="en-US" sz="2400" dirty="0"/>
              <a:t> (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ESC, Enter, F1-F12..).</a:t>
            </a:r>
          </a:p>
          <a:p>
            <a:pPr lvl="1" algn="just"/>
            <a:r>
              <a:rPr lang="en-US" sz="2400" dirty="0" err="1"/>
              <a:t>Nhấn</a:t>
            </a:r>
            <a:r>
              <a:rPr lang="en-US" sz="2400" dirty="0"/>
              <a:t> Shift </a:t>
            </a:r>
            <a:r>
              <a:rPr lang="en-US" sz="2400" dirty="0" err="1"/>
              <a:t>hoặc</a:t>
            </a:r>
            <a:r>
              <a:rPr lang="en-US" sz="2400" dirty="0"/>
              <a:t> Ctrl </a:t>
            </a:r>
            <a:r>
              <a:rPr lang="en-US" sz="2400" dirty="0" err="1"/>
              <a:t>hoặc</a:t>
            </a:r>
            <a:r>
              <a:rPr lang="en-US" sz="2400" dirty="0"/>
              <a:t> Alt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tổ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ba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.</a:t>
            </a:r>
          </a:p>
          <a:p>
            <a:pPr algn="just"/>
            <a:r>
              <a:rPr lang="en-US" sz="2600" dirty="0" err="1"/>
              <a:t>Khi</a:t>
            </a:r>
            <a:r>
              <a:rPr lang="en-US" sz="2600" dirty="0"/>
              <a:t> </a:t>
            </a:r>
            <a:r>
              <a:rPr lang="en-US" sz="2600" dirty="0" err="1"/>
              <a:t>phím</a:t>
            </a:r>
            <a:r>
              <a:rPr lang="en-US" sz="2600" dirty="0"/>
              <a:t> </a:t>
            </a:r>
            <a:r>
              <a:rPr lang="en-US" sz="2600" dirty="0" err="1"/>
              <a:t>trên</a:t>
            </a:r>
            <a:r>
              <a:rPr lang="en-US" sz="2600" dirty="0"/>
              <a:t> </a:t>
            </a:r>
            <a:r>
              <a:rPr lang="en-US" sz="2600" dirty="0" err="1"/>
              <a:t>bàn</a:t>
            </a:r>
            <a:r>
              <a:rPr lang="en-US" sz="2600" dirty="0"/>
              <a:t> </a:t>
            </a:r>
            <a:r>
              <a:rPr lang="en-US" sz="2600" dirty="0" err="1"/>
              <a:t>phím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gõ</a:t>
            </a:r>
            <a:r>
              <a:rPr lang="en-US" sz="2600" dirty="0"/>
              <a:t>, </a:t>
            </a:r>
            <a:r>
              <a:rPr lang="en-US" sz="2600" dirty="0" err="1"/>
              <a:t>nhả</a:t>
            </a:r>
            <a:r>
              <a:rPr lang="en-US" sz="2600" dirty="0"/>
              <a:t> hay </a:t>
            </a:r>
            <a:r>
              <a:rPr lang="en-US" sz="2600" dirty="0" err="1"/>
              <a:t>giữ</a:t>
            </a:r>
            <a:r>
              <a:rPr lang="en-US" sz="2600" dirty="0"/>
              <a:t> </a:t>
            </a:r>
            <a:r>
              <a:rPr lang="en-US" sz="2600" dirty="0" err="1"/>
              <a:t>thì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thông</a:t>
            </a:r>
            <a:r>
              <a:rPr lang="en-US" sz="2600" dirty="0"/>
              <a:t> </a:t>
            </a:r>
            <a:r>
              <a:rPr lang="en-US" sz="2600" dirty="0" err="1"/>
              <a:t>điệp</a:t>
            </a:r>
            <a:r>
              <a:rPr lang="en-US" sz="2600" dirty="0"/>
              <a:t> </a:t>
            </a:r>
            <a:r>
              <a:rPr lang="en-US" sz="2600" dirty="0" err="1"/>
              <a:t>tương</a:t>
            </a:r>
            <a:r>
              <a:rPr lang="en-US" sz="2600" dirty="0"/>
              <a:t> </a:t>
            </a:r>
            <a:r>
              <a:rPr lang="en-US" sz="2600" dirty="0" err="1"/>
              <a:t>ứng</a:t>
            </a:r>
            <a:r>
              <a:rPr lang="en-US" sz="2600" dirty="0"/>
              <a:t> </a:t>
            </a:r>
            <a:r>
              <a:rPr lang="en-US" sz="2600" dirty="0" err="1"/>
              <a:t>sẽ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gửi</a:t>
            </a:r>
            <a:r>
              <a:rPr lang="en-US" sz="2600" dirty="0"/>
              <a:t> </a:t>
            </a:r>
            <a:r>
              <a:rPr lang="en-US" sz="2600" dirty="0" err="1"/>
              <a:t>đến</a:t>
            </a:r>
            <a:r>
              <a:rPr lang="en-US" sz="2600" dirty="0"/>
              <a:t> </a:t>
            </a:r>
            <a:r>
              <a:rPr lang="en-US" sz="2600" dirty="0" err="1"/>
              <a:t>cửa</a:t>
            </a:r>
            <a:r>
              <a:rPr lang="en-US" sz="2600" dirty="0"/>
              <a:t> </a:t>
            </a:r>
            <a:r>
              <a:rPr lang="en-US" sz="2600" dirty="0" err="1"/>
              <a:t>sổ</a:t>
            </a:r>
            <a:r>
              <a:rPr lang="en-US" sz="2600" dirty="0"/>
              <a:t> </a:t>
            </a:r>
            <a:r>
              <a:rPr lang="en-US" sz="2600" dirty="0" err="1"/>
              <a:t>đang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focus.</a:t>
            </a:r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Keyboard</a:t>
            </a:r>
          </a:p>
        </p:txBody>
      </p:sp>
    </p:spTree>
    <p:extLst>
      <p:ext uri="{BB962C8B-B14F-4D97-AF65-F5344CB8AC3E}">
        <p14:creationId xmlns:p14="http://schemas.microsoft.com/office/powerpoint/2010/main" val="1502216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3528392"/>
          </a:xfrm>
        </p:spPr>
        <p:txBody>
          <a:bodyPr/>
          <a:lstStyle/>
          <a:p>
            <a:pPr algn="just"/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phím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nhấn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phân</a:t>
            </a:r>
            <a:r>
              <a:rPr lang="en-US" sz="2600" dirty="0"/>
              <a:t> </a:t>
            </a:r>
            <a:r>
              <a:rPr lang="en-US" sz="2600" dirty="0" err="1"/>
              <a:t>thành</a:t>
            </a:r>
            <a:r>
              <a:rPr lang="en-US" sz="2600" dirty="0"/>
              <a:t> </a:t>
            </a:r>
            <a:r>
              <a:rPr lang="en-US" sz="2600" dirty="0" err="1"/>
              <a:t>hai</a:t>
            </a:r>
            <a:r>
              <a:rPr lang="en-US" sz="2600" dirty="0"/>
              <a:t> </a:t>
            </a:r>
            <a:r>
              <a:rPr lang="en-US" sz="2600" dirty="0" err="1"/>
              <a:t>nhóm</a:t>
            </a:r>
            <a:r>
              <a:rPr lang="en-US" sz="2600" dirty="0"/>
              <a:t> </a:t>
            </a:r>
            <a:r>
              <a:rPr lang="en-US" sz="2600" dirty="0" err="1"/>
              <a:t>chính</a:t>
            </a:r>
            <a:r>
              <a:rPr lang="en-US" sz="2600" dirty="0"/>
              <a:t>:</a:t>
            </a:r>
          </a:p>
          <a:p>
            <a:pPr lvl="1" algn="just"/>
            <a:r>
              <a:rPr lang="en-US" sz="2600" dirty="0" err="1"/>
              <a:t>Nhóm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phím</a:t>
            </a:r>
            <a:r>
              <a:rPr lang="en-US" sz="2600" dirty="0"/>
              <a:t> </a:t>
            </a:r>
            <a:r>
              <a:rPr lang="en-US" sz="2600" dirty="0" err="1"/>
              <a:t>hệ</a:t>
            </a:r>
            <a:r>
              <a:rPr lang="en-US" sz="2600" dirty="0"/>
              <a:t> </a:t>
            </a:r>
            <a:r>
              <a:rPr lang="en-US" sz="2600" dirty="0" err="1"/>
              <a:t>thống</a:t>
            </a:r>
            <a:r>
              <a:rPr lang="en-US" sz="2600" dirty="0"/>
              <a:t> (system  keys):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phím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nhấn</a:t>
            </a:r>
            <a:r>
              <a:rPr lang="en-US" sz="2600" dirty="0"/>
              <a:t> </a:t>
            </a: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phím</a:t>
            </a:r>
            <a:r>
              <a:rPr lang="en-US" sz="2600" dirty="0"/>
              <a:t> Alt.</a:t>
            </a:r>
          </a:p>
          <a:p>
            <a:pPr lvl="1" algn="just"/>
            <a:r>
              <a:rPr lang="en-US" sz="2600" dirty="0" err="1"/>
              <a:t>Nhóm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phím</a:t>
            </a:r>
            <a:r>
              <a:rPr lang="en-US" sz="2600" dirty="0"/>
              <a:t> </a:t>
            </a:r>
            <a:r>
              <a:rPr lang="en-US" sz="2600" dirty="0" err="1"/>
              <a:t>thường</a:t>
            </a:r>
            <a:r>
              <a:rPr lang="en-US" sz="2600" dirty="0"/>
              <a:t> (</a:t>
            </a:r>
            <a:r>
              <a:rPr lang="en-US" sz="2600" dirty="0" err="1"/>
              <a:t>nonsystem</a:t>
            </a:r>
            <a:r>
              <a:rPr lang="en-US" sz="2600" dirty="0"/>
              <a:t> keys): </a:t>
            </a:r>
            <a:r>
              <a:rPr lang="en-US" sz="2600" dirty="0" err="1"/>
              <a:t>khi</a:t>
            </a:r>
            <a:r>
              <a:rPr lang="en-US" sz="2600" dirty="0"/>
              <a:t> </a:t>
            </a:r>
            <a:r>
              <a:rPr lang="en-US" sz="2600" dirty="0" err="1"/>
              <a:t>phím</a:t>
            </a:r>
            <a:r>
              <a:rPr lang="en-US" sz="2600" dirty="0"/>
              <a:t> Alt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nhấn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 err="1"/>
              <a:t>Thường</a:t>
            </a:r>
            <a:r>
              <a:rPr lang="en-US" sz="2600" dirty="0"/>
              <a:t> </a:t>
            </a:r>
            <a:r>
              <a:rPr lang="en-US" sz="2600" dirty="0" err="1"/>
              <a:t>thì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phím</a:t>
            </a:r>
            <a:r>
              <a:rPr lang="en-US" sz="2600" dirty="0"/>
              <a:t> </a:t>
            </a:r>
            <a:r>
              <a:rPr lang="en-US" sz="2600" dirty="0" err="1"/>
              <a:t>hệ</a:t>
            </a:r>
            <a:r>
              <a:rPr lang="en-US" sz="2600" dirty="0"/>
              <a:t> </a:t>
            </a:r>
            <a:r>
              <a:rPr lang="en-US" sz="2600" dirty="0" err="1"/>
              <a:t>thống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Windows </a:t>
            </a:r>
            <a:r>
              <a:rPr lang="en-US" sz="2600" dirty="0" err="1"/>
              <a:t>xử</a:t>
            </a:r>
            <a:r>
              <a:rPr lang="en-US" sz="2600" dirty="0"/>
              <a:t> </a:t>
            </a:r>
            <a:r>
              <a:rPr lang="en-US" sz="2600" dirty="0" err="1"/>
              <a:t>lý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dịch</a:t>
            </a:r>
            <a:r>
              <a:rPr lang="en-US" sz="2600" dirty="0"/>
              <a:t> </a:t>
            </a:r>
            <a:r>
              <a:rPr lang="en-US" sz="2600" dirty="0" err="1"/>
              <a:t>thành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sự</a:t>
            </a:r>
            <a:r>
              <a:rPr lang="en-US" sz="2600" dirty="0"/>
              <a:t> </a:t>
            </a:r>
            <a:r>
              <a:rPr lang="en-US" sz="2600" dirty="0" err="1"/>
              <a:t>kiện</a:t>
            </a:r>
            <a:r>
              <a:rPr lang="en-US" sz="2600" dirty="0"/>
              <a:t> </a:t>
            </a:r>
            <a:r>
              <a:rPr lang="en-US" sz="2600" dirty="0" err="1"/>
              <a:t>tương</a:t>
            </a:r>
            <a:r>
              <a:rPr lang="en-US" sz="2600" dirty="0"/>
              <a:t> </a:t>
            </a:r>
            <a:r>
              <a:rPr lang="en-US" sz="2600" dirty="0" err="1"/>
              <a:t>ứng</a:t>
            </a:r>
            <a:r>
              <a:rPr lang="en-US" sz="2600" dirty="0"/>
              <a:t>.</a:t>
            </a:r>
          </a:p>
          <a:p>
            <a:pPr algn="just"/>
            <a:endParaRPr lang="en-US" sz="2600" dirty="0"/>
          </a:p>
          <a:p>
            <a:pPr algn="just"/>
            <a:endParaRPr lang="en-US" sz="2600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Keyboard</a:t>
            </a:r>
          </a:p>
        </p:txBody>
      </p:sp>
    </p:spTree>
    <p:extLst>
      <p:ext uri="{BB962C8B-B14F-4D97-AF65-F5344CB8AC3E}">
        <p14:creationId xmlns:p14="http://schemas.microsoft.com/office/powerpoint/2010/main" val="344035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/>
              <a:t>Windows </a:t>
            </a:r>
            <a:r>
              <a:rPr lang="en-US" sz="2400" dirty="0" err="1"/>
              <a:t>gán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bàn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, </a:t>
            </a:r>
            <a:r>
              <a:rPr lang="en-US" sz="2400" dirty="0" err="1"/>
              <a:t>gọi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ảo</a:t>
            </a:r>
            <a:r>
              <a:rPr lang="en-US" sz="2400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ảo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phụ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bị</a:t>
            </a:r>
            <a:r>
              <a:rPr lang="en-US" sz="2400" dirty="0"/>
              <a:t>,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quét</a:t>
            </a:r>
            <a:r>
              <a:rPr lang="en-US" sz="2400" dirty="0"/>
              <a:t> (scan code) </a:t>
            </a:r>
            <a:r>
              <a:rPr lang="en-US" sz="2400" dirty="0" err="1"/>
              <a:t>phụ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bàn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nhà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xuất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ảo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dưới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macro, </a:t>
            </a:r>
            <a:r>
              <a:rPr lang="en-US" sz="2400" dirty="0" err="1"/>
              <a:t>bắt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VK_. </a:t>
            </a:r>
          </a:p>
          <a:p>
            <a:pPr lvl="1" algn="just"/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ảo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ESC, Enter, F1 hay Alt </a:t>
            </a:r>
            <a:r>
              <a:rPr lang="en-US" sz="2400" dirty="0" err="1"/>
              <a:t>là</a:t>
            </a:r>
            <a:r>
              <a:rPr lang="en-US" sz="2400" dirty="0"/>
              <a:t> VK_ESCAPE, VK_RETURN, VK_F1 </a:t>
            </a:r>
            <a:r>
              <a:rPr lang="en-US" sz="2400" dirty="0" err="1"/>
              <a:t>và</a:t>
            </a:r>
            <a:r>
              <a:rPr lang="en-US" sz="2400" dirty="0"/>
              <a:t> VK_ALT.</a:t>
            </a:r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Mã phím ảo – Virtual Keycode</a:t>
            </a:r>
          </a:p>
        </p:txBody>
      </p:sp>
    </p:spTree>
    <p:extLst>
      <p:ext uri="{BB962C8B-B14F-4D97-AF65-F5344CB8AC3E}">
        <p14:creationId xmlns:p14="http://schemas.microsoft.com/office/powerpoint/2010/main" val="4219626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biệt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nhận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ấn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</a:t>
            </a:r>
            <a:r>
              <a:rPr lang="en-US" sz="2400" dirty="0" err="1"/>
              <a:t>ảo</a:t>
            </a:r>
            <a:r>
              <a:rPr lang="en-US" sz="2400" dirty="0"/>
              <a:t>. 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A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nhấn</a:t>
            </a:r>
            <a:r>
              <a:rPr lang="en-US" sz="2400" dirty="0"/>
              <a:t>,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nhận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tự</a:t>
            </a:r>
            <a:r>
              <a:rPr lang="en-US" sz="2400" dirty="0"/>
              <a:t> ‘a’ </a:t>
            </a:r>
            <a:r>
              <a:rPr lang="en-US" sz="2400" dirty="0" err="1"/>
              <a:t>hoặc</a:t>
            </a:r>
            <a:r>
              <a:rPr lang="en-US" sz="2400" dirty="0"/>
              <a:t> ‘A’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, </a:t>
            </a:r>
            <a:r>
              <a:rPr lang="en-US" sz="2400" dirty="0" err="1"/>
              <a:t>tuỳ</a:t>
            </a:r>
            <a:r>
              <a:rPr lang="en-US" sz="2400" dirty="0"/>
              <a:t> </a:t>
            </a:r>
            <a:r>
              <a:rPr lang="en-US" sz="2400" dirty="0" err="1"/>
              <a:t>thuộc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CAPSLOCK,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 Shift, Alt, Ctrl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nhấn</a:t>
            </a:r>
            <a:r>
              <a:rPr lang="en-US" sz="2400" dirty="0"/>
              <a:t> hay </a:t>
            </a:r>
            <a:r>
              <a:rPr lang="en-US" sz="2400" dirty="0" err="1"/>
              <a:t>không</a:t>
            </a:r>
            <a:r>
              <a:rPr lang="en-US" sz="2400" dirty="0"/>
              <a:t>.</a:t>
            </a:r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Mã phím ảo – Virtual Keycode</a:t>
            </a:r>
          </a:p>
        </p:txBody>
      </p:sp>
    </p:spTree>
    <p:extLst>
      <p:ext uri="{BB962C8B-B14F-4D97-AF65-F5344CB8AC3E}">
        <p14:creationId xmlns:p14="http://schemas.microsoft.com/office/powerpoint/2010/main" val="4219626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bàn phím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412875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sz="2800"/>
              <a:t>Mô hình xử lý sự kiện bàn phím của Windows</a:t>
            </a:r>
          </a:p>
          <a:p>
            <a:endParaRPr 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357158" y="2492896"/>
            <a:ext cx="8305800" cy="2728913"/>
            <a:chOff x="240" y="1344"/>
            <a:chExt cx="5232" cy="1719"/>
          </a:xfrm>
        </p:grpSpPr>
        <p:pic>
          <p:nvPicPr>
            <p:cNvPr id="8" name="Picture 5" descr="untitled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40" y="1344"/>
              <a:ext cx="5232" cy="1719"/>
            </a:xfrm>
            <a:prstGeom prst="rect">
              <a:avLst/>
            </a:prstGeom>
            <a:noFill/>
            <a:ln w="9525" cap="rnd">
              <a:solidFill>
                <a:srgbClr val="000000"/>
              </a:solidFill>
              <a:prstDash val="sysDot"/>
              <a:miter lim="800000"/>
              <a:headEnd/>
              <a:tailEnd/>
            </a:ln>
          </p:spPr>
        </p:pic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1680" y="1392"/>
              <a:ext cx="1669" cy="627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/>
                <a:t>scan code, </a:t>
              </a:r>
            </a:p>
            <a:p>
              <a:pPr algn="ctr">
                <a:spcBef>
                  <a:spcPct val="50000"/>
                </a:spcBef>
              </a:pPr>
              <a:r>
                <a:rPr lang="en-US" sz="1600"/>
                <a:t>virtual-key code… </a:t>
              </a:r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 flipV="1">
              <a:off x="1104" y="1872"/>
              <a:ext cx="86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9626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pPr algn="just">
              <a:lnSpc>
                <a:spcPct val="114000"/>
              </a:lnSpc>
            </a:pP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người</a:t>
            </a:r>
            <a:r>
              <a:rPr lang="en-US" sz="2800" dirty="0"/>
              <a:t> </a:t>
            </a:r>
            <a:r>
              <a:rPr lang="en-US" sz="2800" dirty="0" err="1"/>
              <a:t>dùng</a:t>
            </a:r>
            <a:r>
              <a:rPr lang="en-US" sz="2800" dirty="0"/>
              <a:t> </a:t>
            </a:r>
            <a:r>
              <a:rPr lang="en-US" sz="2800" dirty="0" err="1"/>
              <a:t>nhấn</a:t>
            </a:r>
            <a:r>
              <a:rPr lang="en-US" sz="2800" dirty="0"/>
              <a:t>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nhả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bất</a:t>
            </a:r>
            <a:r>
              <a:rPr lang="en-US" sz="2800" dirty="0"/>
              <a:t> </a:t>
            </a:r>
            <a:r>
              <a:rPr lang="en-US" sz="2800" dirty="0" err="1"/>
              <a:t>kỳ</a:t>
            </a:r>
            <a:r>
              <a:rPr lang="en-US" sz="2800" dirty="0"/>
              <a:t> </a:t>
            </a:r>
            <a:r>
              <a:rPr lang="en-US" sz="2800" dirty="0" err="1"/>
              <a:t>từ</a:t>
            </a:r>
            <a:r>
              <a:rPr lang="en-US" sz="2800" dirty="0"/>
              <a:t> </a:t>
            </a:r>
            <a:r>
              <a:rPr lang="en-US" sz="2800" dirty="0" err="1"/>
              <a:t>bàn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, </a:t>
            </a:r>
            <a:r>
              <a:rPr lang="en-US" sz="2800" dirty="0" err="1"/>
              <a:t>các</a:t>
            </a:r>
            <a:r>
              <a:rPr lang="en-US" sz="2800" dirty="0"/>
              <a:t> driver </a:t>
            </a:r>
            <a:r>
              <a:rPr lang="en-US" sz="2800" dirty="0" err="1"/>
              <a:t>bàn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sẽ</a:t>
            </a:r>
            <a:r>
              <a:rPr lang="en-US" sz="2800" dirty="0"/>
              <a:t> </a:t>
            </a:r>
            <a:r>
              <a:rPr lang="en-US" sz="2800" dirty="0" err="1"/>
              <a:t>nhận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mã</a:t>
            </a:r>
            <a:r>
              <a:rPr lang="en-US" sz="2800" dirty="0"/>
              <a:t> </a:t>
            </a:r>
            <a:r>
              <a:rPr lang="en-US" sz="2800" dirty="0" err="1"/>
              <a:t>quét</a:t>
            </a:r>
            <a:r>
              <a:rPr lang="en-US" sz="2800" dirty="0"/>
              <a:t> (scan code)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. </a:t>
            </a:r>
          </a:p>
          <a:p>
            <a:pPr algn="just">
              <a:lnSpc>
                <a:spcPct val="114000"/>
              </a:lnSpc>
            </a:pPr>
            <a:r>
              <a:rPr lang="en-US" sz="2800" dirty="0" err="1"/>
              <a:t>Mã</a:t>
            </a:r>
            <a:r>
              <a:rPr lang="en-US" sz="2800" dirty="0"/>
              <a:t> </a:t>
            </a:r>
            <a:r>
              <a:rPr lang="en-US" sz="2800" dirty="0" err="1"/>
              <a:t>quét</a:t>
            </a:r>
            <a:r>
              <a:rPr lang="en-US" sz="2800" dirty="0"/>
              <a:t> </a:t>
            </a:r>
            <a:r>
              <a:rPr lang="en-US" sz="2800" dirty="0" err="1"/>
              <a:t>này</a:t>
            </a:r>
            <a:r>
              <a:rPr lang="en-US" sz="2800" dirty="0"/>
              <a:t> </a:t>
            </a:r>
            <a:r>
              <a:rPr lang="en-US" sz="2800" dirty="0" err="1"/>
              <a:t>sẽ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chuyển</a:t>
            </a:r>
            <a:r>
              <a:rPr lang="en-US" sz="2800" dirty="0"/>
              <a:t> </a:t>
            </a:r>
            <a:r>
              <a:rPr lang="en-US" sz="2800" dirty="0" err="1"/>
              <a:t>thành</a:t>
            </a:r>
            <a:r>
              <a:rPr lang="en-US" sz="2800" dirty="0"/>
              <a:t> </a:t>
            </a:r>
            <a:r>
              <a:rPr lang="en-US" sz="2800" dirty="0" err="1"/>
              <a:t>mã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ảo</a:t>
            </a:r>
            <a:r>
              <a:rPr lang="en-US" sz="2800" dirty="0"/>
              <a:t> (Virtual </a:t>
            </a:r>
            <a:r>
              <a:rPr lang="en-US" sz="2800" dirty="0" err="1"/>
              <a:t>keycode</a:t>
            </a:r>
            <a:r>
              <a:rPr lang="en-US" sz="2800" dirty="0"/>
              <a:t>)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</a:t>
            </a:r>
            <a:r>
              <a:rPr lang="en-US" sz="2800" dirty="0" err="1"/>
              <a:t>điệp</a:t>
            </a:r>
            <a:r>
              <a:rPr lang="en-US" sz="2800" dirty="0"/>
              <a:t> </a:t>
            </a:r>
            <a:r>
              <a:rPr lang="en-US" sz="2800" dirty="0" err="1"/>
              <a:t>bàn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(</a:t>
            </a:r>
            <a:r>
              <a:rPr lang="en-US" sz="2800" dirty="0" err="1"/>
              <a:t>bao</a:t>
            </a:r>
            <a:r>
              <a:rPr lang="en-US" sz="2800" dirty="0"/>
              <a:t> </a:t>
            </a:r>
            <a:r>
              <a:rPr lang="en-US" sz="2800" dirty="0" err="1"/>
              <a:t>gồm</a:t>
            </a:r>
            <a:r>
              <a:rPr lang="en-US" sz="2800" dirty="0"/>
              <a:t> </a:t>
            </a:r>
            <a:r>
              <a:rPr lang="en-US" sz="2800" dirty="0" err="1"/>
              <a:t>cả</a:t>
            </a:r>
            <a:r>
              <a:rPr lang="en-US" sz="2800" dirty="0"/>
              <a:t> scan code, virtual </a:t>
            </a:r>
            <a:r>
              <a:rPr lang="en-US" sz="2800" dirty="0" err="1"/>
              <a:t>keycode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</a:t>
            </a:r>
            <a:r>
              <a:rPr lang="en-US" sz="2800" dirty="0" err="1"/>
              <a:t>khác</a:t>
            </a:r>
            <a:r>
              <a:rPr lang="en-US" sz="2800" dirty="0"/>
              <a:t>) </a:t>
            </a:r>
            <a:r>
              <a:rPr lang="en-US" sz="2800" dirty="0" err="1"/>
              <a:t>sẽ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gửi</a:t>
            </a:r>
            <a:r>
              <a:rPr lang="en-US" sz="2800" dirty="0"/>
              <a:t> </a:t>
            </a:r>
            <a:r>
              <a:rPr lang="en-US" sz="2800" dirty="0" err="1"/>
              <a:t>đến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System message queue.</a:t>
            </a:r>
          </a:p>
          <a:p>
            <a:pPr algn="just"/>
            <a:endParaRPr lang="en-US" sz="2800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bàn phím</a:t>
            </a:r>
          </a:p>
        </p:txBody>
      </p:sp>
    </p:spTree>
    <p:extLst>
      <p:ext uri="{BB962C8B-B14F-4D97-AF65-F5344CB8AC3E}">
        <p14:creationId xmlns:p14="http://schemas.microsoft.com/office/powerpoint/2010/main" val="4219626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en-US" sz="2800" dirty="0" err="1"/>
              <a:t>bàn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gửi</a:t>
            </a:r>
            <a:r>
              <a:rPr lang="en-US" sz="2800" dirty="0"/>
              <a:t> </a:t>
            </a:r>
            <a:r>
              <a:rPr lang="en-US" sz="2800" dirty="0" err="1"/>
              <a:t>đến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cửa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đang</a:t>
            </a:r>
            <a:r>
              <a:rPr lang="en-US" sz="2800" dirty="0"/>
              <a:t> </a:t>
            </a:r>
            <a:r>
              <a:rPr lang="en-US" sz="2800" dirty="0" err="1"/>
              <a:t>giữ</a:t>
            </a:r>
            <a:r>
              <a:rPr lang="en-US" sz="2800" dirty="0"/>
              <a:t> focus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hành</a:t>
            </a:r>
            <a:r>
              <a:rPr lang="en-US" sz="2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dirty="0" err="1"/>
              <a:t>Hệ</a:t>
            </a:r>
            <a:r>
              <a:rPr lang="en-US" sz="2800" dirty="0"/>
              <a:t> </a:t>
            </a:r>
            <a:r>
              <a:rPr lang="en-US" sz="2800" dirty="0" err="1"/>
              <a:t>thống</a:t>
            </a:r>
            <a:r>
              <a:rPr lang="en-US" sz="2800" dirty="0"/>
              <a:t> </a:t>
            </a:r>
            <a:r>
              <a:rPr lang="en-US" sz="2800" dirty="0" err="1"/>
              <a:t>gửi</a:t>
            </a:r>
            <a:r>
              <a:rPr lang="en-US" sz="2800" dirty="0"/>
              <a:t> </a:t>
            </a:r>
            <a:r>
              <a:rPr lang="en-US" sz="2800" dirty="0" err="1"/>
              <a:t>hai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en-US" sz="2800" dirty="0" err="1"/>
              <a:t>bàn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khác</a:t>
            </a:r>
            <a:r>
              <a:rPr lang="en-US" sz="2800" dirty="0"/>
              <a:t> </a:t>
            </a:r>
            <a:r>
              <a:rPr lang="en-US" sz="2800" dirty="0" err="1"/>
              <a:t>nhau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người</a:t>
            </a:r>
            <a:r>
              <a:rPr lang="en-US" sz="2800" dirty="0"/>
              <a:t> </a:t>
            </a:r>
            <a:r>
              <a:rPr lang="en-US" sz="2800" dirty="0" err="1"/>
              <a:t>dùng</a:t>
            </a:r>
            <a:r>
              <a:rPr lang="en-US" sz="2800" dirty="0"/>
              <a:t> </a:t>
            </a:r>
            <a:r>
              <a:rPr lang="en-US" sz="2800" dirty="0" err="1"/>
              <a:t>nhấn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nhả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endParaRPr lang="en-US" sz="2800" dirty="0"/>
          </a:p>
          <a:p>
            <a:pPr algn="just"/>
            <a:endParaRPr lang="en-US" sz="2800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bàn phím</a:t>
            </a:r>
          </a:p>
        </p:txBody>
      </p:sp>
    </p:spTree>
    <p:extLst>
      <p:ext uri="{BB962C8B-B14F-4D97-AF65-F5344CB8AC3E}">
        <p14:creationId xmlns:p14="http://schemas.microsoft.com/office/powerpoint/2010/main" val="4219626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pPr algn="just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nhấn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chia </a:t>
            </a:r>
            <a:r>
              <a:rPr lang="en-US" dirty="0" err="1"/>
              <a:t>làm</a:t>
            </a:r>
            <a:r>
              <a:rPr lang="en-US" dirty="0"/>
              <a:t> 4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lvl="1" algn="just"/>
            <a:r>
              <a:rPr lang="en-US" dirty="0"/>
              <a:t>Toggle keys: Caps Lock, </a:t>
            </a:r>
            <a:r>
              <a:rPr lang="en-US" dirty="0" err="1"/>
              <a:t>Num</a:t>
            </a:r>
            <a:r>
              <a:rPr lang="en-US" dirty="0"/>
              <a:t> Lock, Scroll Lock</a:t>
            </a:r>
          </a:p>
          <a:p>
            <a:pPr lvl="1" algn="just"/>
            <a:r>
              <a:rPr lang="en-US" dirty="0"/>
              <a:t>Shift keys: Shift, Ctrl, Alt</a:t>
            </a:r>
          </a:p>
          <a:p>
            <a:pPr lvl="1" algn="just"/>
            <a:r>
              <a:rPr lang="en-US" dirty="0" err="1"/>
              <a:t>Noncharacter</a:t>
            </a:r>
            <a:r>
              <a:rPr lang="en-US" dirty="0"/>
              <a:t> keys: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di </a:t>
            </a:r>
            <a:r>
              <a:rPr lang="en-US" dirty="0" err="1"/>
              <a:t>chuyển</a:t>
            </a:r>
            <a:r>
              <a:rPr lang="en-US" dirty="0"/>
              <a:t>, Pause, Delete</a:t>
            </a:r>
          </a:p>
          <a:p>
            <a:pPr lvl="1" algn="just"/>
            <a:r>
              <a:rPr lang="en-US" dirty="0"/>
              <a:t>Character keys: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,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,…</a:t>
            </a:r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bàn phím</a:t>
            </a:r>
          </a:p>
        </p:txBody>
      </p:sp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bàn phím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600201"/>
            <a:ext cx="8218488" cy="60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nhấn</a:t>
            </a:r>
            <a:r>
              <a:rPr lang="en-US" sz="2400" dirty="0"/>
              <a:t>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thả</a:t>
            </a:r>
            <a:r>
              <a:rPr lang="en-US" sz="2400" dirty="0"/>
              <a:t> </a:t>
            </a:r>
            <a:r>
              <a:rPr lang="en-US" sz="2400" dirty="0" err="1"/>
              <a:t>phím</a:t>
            </a:r>
            <a:r>
              <a:rPr lang="en-US" sz="2400" dirty="0"/>
              <a:t>:</a:t>
            </a:r>
          </a:p>
          <a:p>
            <a:pPr algn="just">
              <a:lnSpc>
                <a:spcPct val="110000"/>
              </a:lnSpc>
            </a:pPr>
            <a:endParaRPr lang="en-US" sz="2400" dirty="0"/>
          </a:p>
          <a:p>
            <a:pPr algn="just">
              <a:lnSpc>
                <a:spcPct val="110000"/>
              </a:lnSpc>
            </a:pPr>
            <a:endParaRPr lang="en-US" sz="2400" dirty="0"/>
          </a:p>
          <a:p>
            <a:pPr algn="just">
              <a:lnSpc>
                <a:spcPct val="110000"/>
              </a:lnSpc>
            </a:pPr>
            <a:endParaRPr lang="en-US" sz="2400" dirty="0"/>
          </a:p>
          <a:p>
            <a:pPr algn="just">
              <a:lnSpc>
                <a:spcPct val="110000"/>
              </a:lnSpc>
            </a:pPr>
            <a:endParaRPr lang="en-US" sz="2400" dirty="0"/>
          </a:p>
          <a:p>
            <a:pPr algn="just">
              <a:lnSpc>
                <a:spcPct val="110000"/>
              </a:lnSpc>
            </a:pPr>
            <a:endParaRPr lang="en-US" sz="2400" dirty="0"/>
          </a:p>
        </p:txBody>
      </p:sp>
      <p:graphicFrame>
        <p:nvGraphicFramePr>
          <p:cNvPr id="7" name="Group 43"/>
          <p:cNvGraphicFramePr>
            <a:graphicFrameLocks noGrp="1"/>
          </p:cNvGraphicFramePr>
          <p:nvPr>
            <p:ph sz="half" idx="4294967295"/>
          </p:nvPr>
        </p:nvGraphicFramePr>
        <p:xfrm>
          <a:off x="142844" y="2422525"/>
          <a:ext cx="8929716" cy="1727201"/>
        </p:xfrm>
        <a:graphic>
          <a:graphicData uri="http://schemas.openxmlformats.org/drawingml/2006/table">
            <a:tbl>
              <a:tblPr/>
              <a:tblGrid>
                <a:gridCol w="178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1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Event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Method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Delegate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Argument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KeyDown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OnKeyDown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KeyEventHandler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KeyEventArgs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KeyUp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OnKeyUp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KeyEventHandler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KeyEventArgs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bàn phím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7158" y="2357430"/>
            <a:ext cx="8288339" cy="38242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protected override void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OnKeyDown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KeyEventArgs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kea)</a:t>
            </a:r>
          </a:p>
          <a:p>
            <a:pPr>
              <a:buFontTx/>
              <a:buNone/>
            </a:pPr>
            <a:r>
              <a:rPr lang="en-US" sz="2400" dirty="0"/>
              <a:t>{</a:t>
            </a:r>
          </a:p>
          <a:p>
            <a:pPr lvl="1">
              <a:buFontTx/>
              <a:buNone/>
            </a:pPr>
            <a:r>
              <a:rPr lang="en-US" sz="2400" dirty="0"/>
              <a:t>……….</a:t>
            </a:r>
          </a:p>
          <a:p>
            <a:pPr>
              <a:buFontTx/>
              <a:buNone/>
            </a:pPr>
            <a:r>
              <a:rPr lang="en-US" sz="2400" dirty="0"/>
              <a:t>}</a:t>
            </a:r>
          </a:p>
          <a:p>
            <a:pPr>
              <a:buFontTx/>
              <a:buNone/>
            </a:pPr>
            <a:endParaRPr lang="en-US" sz="2400" dirty="0"/>
          </a:p>
          <a:p>
            <a:pPr>
              <a:buFontTx/>
              <a:buNone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protected override void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OnKeyUp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KeyEventArgs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kea)</a:t>
            </a:r>
          </a:p>
          <a:p>
            <a:pPr>
              <a:buFontTx/>
              <a:buNone/>
            </a:pPr>
            <a:r>
              <a:rPr lang="en-US" sz="2400" dirty="0"/>
              <a:t>{</a:t>
            </a:r>
          </a:p>
          <a:p>
            <a:pPr lvl="1">
              <a:buFontTx/>
              <a:buNone/>
            </a:pPr>
            <a:r>
              <a:rPr lang="en-US" sz="2400" dirty="0"/>
              <a:t>……….</a:t>
            </a:r>
          </a:p>
          <a:p>
            <a:pPr>
              <a:buFontTx/>
              <a:buNone/>
            </a:pPr>
            <a:r>
              <a:rPr lang="en-US" sz="2400" dirty="0"/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34" y="1331548"/>
            <a:ext cx="8215370" cy="873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override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OnKeyDown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OnKeyUp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1728192"/>
          </a:xfrm>
        </p:spPr>
        <p:txBody>
          <a:bodyPr/>
          <a:lstStyle/>
          <a:p>
            <a:pPr algn="just">
              <a:lnSpc>
                <a:spcPct val="110000"/>
              </a:lnSpc>
            </a:pPr>
            <a:r>
              <a:rPr lang="en-US" sz="2800" dirty="0" err="1"/>
              <a:t>Cũng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xử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en-US" sz="2800" dirty="0" err="1"/>
              <a:t>nhấn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thả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trên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control </a:t>
            </a:r>
            <a:r>
              <a:rPr lang="en-US" sz="2800" dirty="0" err="1"/>
              <a:t>bằng</a:t>
            </a:r>
            <a:r>
              <a:rPr lang="en-US" sz="2800" dirty="0"/>
              <a:t> </a:t>
            </a:r>
            <a:r>
              <a:rPr lang="en-US" sz="2800" dirty="0" err="1"/>
              <a:t>cách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nghĩa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phương</a:t>
            </a:r>
            <a:r>
              <a:rPr lang="en-US" sz="2800" dirty="0"/>
              <a:t> </a:t>
            </a:r>
            <a:r>
              <a:rPr lang="en-US" sz="2800" dirty="0" err="1"/>
              <a:t>thức</a:t>
            </a:r>
            <a:r>
              <a:rPr lang="en-US" sz="2800" dirty="0"/>
              <a:t> </a:t>
            </a:r>
            <a:r>
              <a:rPr lang="en-US" sz="2800" dirty="0" err="1"/>
              <a:t>tương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. </a:t>
            </a:r>
          </a:p>
          <a:p>
            <a:pPr algn="just">
              <a:lnSpc>
                <a:spcPct val="110000"/>
              </a:lnSpc>
              <a:buFontTx/>
              <a:buNone/>
            </a:pPr>
            <a:r>
              <a:rPr lang="en-US" sz="2800" dirty="0"/>
              <a:t>	</a:t>
            </a:r>
          </a:p>
          <a:p>
            <a:pPr algn="just"/>
            <a:endParaRPr lang="en-US" sz="2800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bàn phím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282" y="3132912"/>
            <a:ext cx="8715436" cy="158197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buFontTx/>
              <a:buNone/>
            </a:pPr>
            <a:r>
              <a:rPr lang="en-US" sz="2200" dirty="0"/>
              <a:t>void  </a:t>
            </a:r>
            <a:r>
              <a:rPr lang="en-US" sz="2200" dirty="0" err="1"/>
              <a:t>MyKeyDownHandler</a:t>
            </a:r>
            <a:r>
              <a:rPr lang="en-US" sz="2200" dirty="0"/>
              <a:t>(object  </a:t>
            </a:r>
            <a:r>
              <a:rPr lang="en-US" sz="2200" dirty="0" err="1"/>
              <a:t>objSender</a:t>
            </a:r>
            <a:r>
              <a:rPr lang="en-US" sz="2200" dirty="0"/>
              <a:t>,   </a:t>
            </a:r>
            <a:r>
              <a:rPr lang="en-US" sz="2200" dirty="0" err="1"/>
              <a:t>KeyEventArgs</a:t>
            </a:r>
            <a:r>
              <a:rPr lang="en-US" sz="2200" dirty="0"/>
              <a:t>   kea)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sz="2200" dirty="0"/>
              <a:t>	{…}</a:t>
            </a:r>
            <a:br>
              <a:rPr lang="en-US" sz="2200" dirty="0"/>
            </a:br>
            <a:r>
              <a:rPr lang="en-US" sz="2200" dirty="0"/>
              <a:t>void </a:t>
            </a:r>
            <a:r>
              <a:rPr lang="en-US" sz="2200" dirty="0" err="1"/>
              <a:t>MyKeyUpHandler</a:t>
            </a:r>
            <a:r>
              <a:rPr lang="en-US" sz="2200" dirty="0"/>
              <a:t>(object </a:t>
            </a:r>
            <a:r>
              <a:rPr lang="en-US" sz="2200" dirty="0" err="1"/>
              <a:t>objSender</a:t>
            </a:r>
            <a:r>
              <a:rPr lang="en-US" sz="2200" dirty="0"/>
              <a:t>, </a:t>
            </a:r>
            <a:r>
              <a:rPr lang="en-US" sz="2200" dirty="0" err="1"/>
              <a:t>KeyEventArgs</a:t>
            </a:r>
            <a:r>
              <a:rPr lang="en-US" sz="2200" dirty="0"/>
              <a:t> kea)</a:t>
            </a:r>
            <a:br>
              <a:rPr lang="en-US" sz="2200" dirty="0"/>
            </a:br>
            <a:r>
              <a:rPr lang="en-US" sz="2200" dirty="0"/>
              <a:t>	{…} 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314" y="5242508"/>
            <a:ext cx="8715404" cy="9725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1">
              <a:lnSpc>
                <a:spcPct val="130000"/>
              </a:lnSpc>
              <a:buFontTx/>
              <a:buNone/>
            </a:pPr>
            <a:r>
              <a:rPr lang="en-US" sz="2200"/>
              <a:t>cntl.KeyDown += new KeyEventHandler (MyKeyDownHandler);</a:t>
            </a:r>
          </a:p>
          <a:p>
            <a:pPr lvl="1">
              <a:lnSpc>
                <a:spcPct val="130000"/>
              </a:lnSpc>
              <a:buFontTx/>
              <a:buNone/>
            </a:pPr>
            <a:r>
              <a:rPr lang="en-US" sz="2200"/>
              <a:t>cntl.KeyUp += new KeyEventHandler (MyKeyUpHandler);</a:t>
            </a:r>
          </a:p>
        </p:txBody>
      </p:sp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bàn phím</a:t>
            </a:r>
          </a:p>
        </p:txBody>
      </p:sp>
      <p:graphicFrame>
        <p:nvGraphicFramePr>
          <p:cNvPr id="5" name="Group 6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4085050"/>
              </p:ext>
            </p:extLst>
          </p:nvPr>
        </p:nvGraphicFramePr>
        <p:xfrm>
          <a:off x="107141" y="1340768"/>
          <a:ext cx="8929718" cy="496729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40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7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16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KeyEventArgs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Propeties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Type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Propety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Accesibility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Comments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Keys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KeyCode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get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Identifies the key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Keys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Modifiers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get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Identifies shift states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Keys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KeyData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get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Combination of 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KeyCode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and Modifies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bool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Shift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get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Set to true if Shift key is pressed</a:t>
                      </a:r>
                      <a:endParaRPr kumimoji="0" 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bool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Control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get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Set to true if Ctrl key is pressed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bool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Alt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get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Set to true if Alt key is pressed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bool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Handled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get/set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Set by event handler (initially false)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int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KeyValue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get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Return 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KeyData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in the form of an integer.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dirty="0" err="1"/>
              <a:t>Mỗi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nhấn</a:t>
            </a:r>
            <a:r>
              <a:rPr lang="en-US" sz="2800" dirty="0"/>
              <a:t>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thả</a:t>
            </a:r>
            <a:r>
              <a:rPr lang="en-US" sz="2800" dirty="0"/>
              <a:t> </a:t>
            </a:r>
            <a:r>
              <a:rPr lang="en-US" sz="2800" dirty="0" err="1"/>
              <a:t>thì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, </a:t>
            </a:r>
            <a:r>
              <a:rPr lang="en-US" sz="2800" dirty="0" err="1"/>
              <a:t>kèm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tham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>
                <a:solidFill>
                  <a:srgbClr val="006699"/>
                </a:solidFill>
              </a:rPr>
              <a:t>KeyEventArgs</a:t>
            </a:r>
            <a:r>
              <a:rPr lang="en-US" sz="4300" dirty="0">
                <a:solidFill>
                  <a:srgbClr val="006699"/>
                </a:solidFill>
              </a:rPr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thuộc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sau</a:t>
            </a:r>
            <a:r>
              <a:rPr lang="en-US" sz="2800" dirty="0"/>
              <a:t>:</a:t>
            </a:r>
          </a:p>
          <a:p>
            <a:pPr lvl="1" algn="just">
              <a:lnSpc>
                <a:spcPct val="90000"/>
              </a:lnSpc>
            </a:pPr>
            <a:r>
              <a:rPr lang="en-US" dirty="0" err="1">
                <a:solidFill>
                  <a:srgbClr val="006699"/>
                </a:solidFill>
              </a:rPr>
              <a:t>Keycode</a:t>
            </a:r>
            <a:r>
              <a:rPr lang="en-US" dirty="0"/>
              <a:t>: 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nhấn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thả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Shift, Ctrl, Alt</a:t>
            </a:r>
          </a:p>
          <a:p>
            <a:pPr lvl="1" algn="just">
              <a:lnSpc>
                <a:spcPct val="90000"/>
              </a:lnSpc>
            </a:pPr>
            <a:r>
              <a:rPr lang="en-US" dirty="0">
                <a:solidFill>
                  <a:srgbClr val="006699"/>
                </a:solidFill>
              </a:rPr>
              <a:t>Modifiers</a:t>
            </a:r>
            <a:r>
              <a:rPr lang="en-US" dirty="0"/>
              <a:t>: 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Shift, Ctrl, Alt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nhấn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hay </a:t>
            </a:r>
            <a:r>
              <a:rPr lang="en-US" dirty="0" err="1"/>
              <a:t>thả</a:t>
            </a:r>
            <a:r>
              <a:rPr lang="en-US" dirty="0"/>
              <a:t> </a:t>
            </a:r>
            <a:r>
              <a:rPr lang="en-US" dirty="0" err="1"/>
              <a:t>phím</a:t>
            </a:r>
            <a:endParaRPr lang="en-US" dirty="0"/>
          </a:p>
          <a:p>
            <a:pPr lvl="1" algn="just">
              <a:lnSpc>
                <a:spcPct val="90000"/>
              </a:lnSpc>
            </a:pPr>
            <a:r>
              <a:rPr lang="en-US" dirty="0" err="1">
                <a:solidFill>
                  <a:srgbClr val="006699"/>
                </a:solidFill>
              </a:rPr>
              <a:t>Keydata</a:t>
            </a:r>
            <a:r>
              <a:rPr lang="en-US" dirty="0"/>
              <a:t>: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>
                <a:solidFill>
                  <a:srgbClr val="006699"/>
                </a:solidFill>
              </a:rPr>
              <a:t>Keycode</a:t>
            </a:r>
            <a:r>
              <a:rPr lang="en-US" dirty="0">
                <a:solidFill>
                  <a:srgbClr val="006699"/>
                </a:solidFill>
              </a:rPr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>
                <a:solidFill>
                  <a:srgbClr val="006699"/>
                </a:solidFill>
              </a:rPr>
              <a:t>Modifiers</a:t>
            </a:r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bàn phím</a:t>
            </a:r>
          </a:p>
        </p:txBody>
      </p:sp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bàn phím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341438"/>
            <a:ext cx="8229600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just"/>
            <a:r>
              <a:rPr lang="en-US" sz="2800"/>
              <a:t>Ví dụ: khi người dùng nhấn phím Shift và phím D sau đó thả phím D và phím Shift sẽ phát sinh liên tiếp các sự kiện sau: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3568" y="3140968"/>
            <a:ext cx="8066087" cy="2647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pPr algn="just"/>
            <a:r>
              <a:rPr lang="en-US" dirty="0" err="1"/>
              <a:t>Kiểu</a:t>
            </a:r>
            <a:r>
              <a:rPr lang="en-US" dirty="0"/>
              <a:t> Keys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.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26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Latin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Keys enumeration</a:t>
            </a:r>
          </a:p>
        </p:txBody>
      </p:sp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Keys enumeration</a:t>
            </a:r>
          </a:p>
        </p:txBody>
      </p:sp>
      <p:graphicFrame>
        <p:nvGraphicFramePr>
          <p:cNvPr id="8" name="Group 9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3146551"/>
              </p:ext>
            </p:extLst>
          </p:nvPr>
        </p:nvGraphicFramePr>
        <p:xfrm>
          <a:off x="395536" y="1292205"/>
          <a:ext cx="8208963" cy="5565795"/>
        </p:xfrm>
        <a:graphic>
          <a:graphicData uri="http://schemas.openxmlformats.org/drawingml/2006/table">
            <a:tbl>
              <a:tblPr/>
              <a:tblGrid>
                <a:gridCol w="1979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6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4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053">
                <a:tc gridSpan="4"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Keys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Enumeration (letters)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Member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Value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Member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Value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69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89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10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Keys enumeration</a:t>
            </a:r>
          </a:p>
        </p:txBody>
      </p:sp>
      <p:graphicFrame>
        <p:nvGraphicFramePr>
          <p:cNvPr id="5" name="Group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418759"/>
              </p:ext>
            </p:extLst>
          </p:nvPr>
        </p:nvGraphicFramePr>
        <p:xfrm>
          <a:off x="503237" y="1340768"/>
          <a:ext cx="8137525" cy="5120640"/>
        </p:xfrm>
        <a:graphic>
          <a:graphicData uri="http://schemas.openxmlformats.org/drawingml/2006/table">
            <a:tbl>
              <a:tblPr/>
              <a:tblGrid>
                <a:gridCol w="196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8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2088">
                <a:tc gridSpan="4"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Keys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Enumeration (function keys)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Member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Value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Member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Value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6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F20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F21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F22</a:t>
                      </a:r>
                      <a:endParaRPr kumimoji="0" 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F23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F12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F24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Ví dụ</a:t>
            </a:r>
          </a:p>
        </p:txBody>
      </p:sp>
      <p:sp>
        <p:nvSpPr>
          <p:cNvPr id="5" name="Rectangle 4"/>
          <p:cNvSpPr/>
          <p:nvPr/>
        </p:nvSpPr>
        <p:spPr>
          <a:xfrm>
            <a:off x="395536" y="1340768"/>
            <a:ext cx="8424936" cy="535531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900" dirty="0"/>
              <a:t>class </a:t>
            </a:r>
            <a:r>
              <a:rPr lang="en-US" sz="1900" dirty="0" err="1"/>
              <a:t>MyForm:Form</a:t>
            </a:r>
            <a:endParaRPr lang="en-US" sz="1900" dirty="0"/>
          </a:p>
          <a:p>
            <a:r>
              <a:rPr lang="en-US" sz="1900" dirty="0"/>
              <a:t>    {</a:t>
            </a:r>
          </a:p>
          <a:p>
            <a:r>
              <a:rPr lang="en-US" sz="1900" dirty="0"/>
              <a:t>        public </a:t>
            </a:r>
            <a:r>
              <a:rPr lang="en-US" sz="1900" dirty="0" err="1"/>
              <a:t>MyForm</a:t>
            </a:r>
            <a:r>
              <a:rPr lang="en-US" sz="1900" dirty="0"/>
              <a:t>()</a:t>
            </a:r>
          </a:p>
          <a:p>
            <a:r>
              <a:rPr lang="en-US" sz="1900" dirty="0"/>
              <a:t>        {</a:t>
            </a:r>
          </a:p>
          <a:p>
            <a:r>
              <a:rPr lang="en-US" sz="1900" dirty="0"/>
              <a:t>            </a:t>
            </a:r>
            <a:r>
              <a:rPr lang="en-US" sz="1900" dirty="0" err="1"/>
              <a:t>this.Text</a:t>
            </a:r>
            <a:r>
              <a:rPr lang="en-US" sz="1900" dirty="0"/>
              <a:t> = "Test Keyboard";</a:t>
            </a:r>
          </a:p>
          <a:p>
            <a:r>
              <a:rPr lang="en-US" sz="1900" dirty="0"/>
              <a:t>            </a:t>
            </a:r>
            <a:r>
              <a:rPr lang="en-US" sz="1900" dirty="0" err="1"/>
              <a:t>this.KeyDown</a:t>
            </a:r>
            <a:r>
              <a:rPr lang="en-US" sz="1900" dirty="0"/>
              <a:t>+=new </a:t>
            </a:r>
            <a:r>
              <a:rPr lang="en-US" sz="1900" dirty="0" err="1"/>
              <a:t>KeyEventHandler</a:t>
            </a:r>
            <a:r>
              <a:rPr lang="en-US" sz="1900" dirty="0"/>
              <a:t>(</a:t>
            </a:r>
            <a:r>
              <a:rPr lang="en-US" sz="1900" dirty="0" err="1"/>
              <a:t>MyForm_KeyDown</a:t>
            </a:r>
            <a:r>
              <a:rPr lang="en-US" sz="1900" dirty="0"/>
              <a:t>);</a:t>
            </a:r>
          </a:p>
          <a:p>
            <a:r>
              <a:rPr lang="en-US" sz="1900" dirty="0"/>
              <a:t>            </a:t>
            </a:r>
            <a:r>
              <a:rPr lang="en-US" sz="1900" dirty="0" err="1"/>
              <a:t>this.KeyUp</a:t>
            </a:r>
            <a:r>
              <a:rPr lang="en-US" sz="1900" dirty="0"/>
              <a:t>+=new </a:t>
            </a:r>
            <a:r>
              <a:rPr lang="en-US" sz="1900" dirty="0" err="1"/>
              <a:t>KeyEventHandler</a:t>
            </a:r>
            <a:r>
              <a:rPr lang="en-US" sz="1900" dirty="0"/>
              <a:t>(</a:t>
            </a:r>
            <a:r>
              <a:rPr lang="en-US" sz="1900" dirty="0" err="1"/>
              <a:t>MyForm_KeyUp</a:t>
            </a:r>
            <a:r>
              <a:rPr lang="en-US" sz="1900" dirty="0"/>
              <a:t>);</a:t>
            </a:r>
          </a:p>
          <a:p>
            <a:r>
              <a:rPr lang="en-US" sz="1900" dirty="0"/>
              <a:t>        }</a:t>
            </a:r>
          </a:p>
          <a:p>
            <a:r>
              <a:rPr lang="en-US" sz="1900" dirty="0"/>
              <a:t>        void </a:t>
            </a:r>
            <a:r>
              <a:rPr lang="en-US" sz="1900" dirty="0" err="1"/>
              <a:t>MyForm_KeyDown</a:t>
            </a:r>
            <a:r>
              <a:rPr lang="en-US" sz="1900" dirty="0"/>
              <a:t>(Object sender, </a:t>
            </a:r>
            <a:r>
              <a:rPr lang="en-US" sz="1900" dirty="0" err="1"/>
              <a:t>KeyEventArgs</a:t>
            </a:r>
            <a:r>
              <a:rPr lang="en-US" sz="1900" dirty="0"/>
              <a:t> kea)</a:t>
            </a:r>
          </a:p>
          <a:p>
            <a:r>
              <a:rPr lang="en-US" sz="1900" dirty="0"/>
              <a:t>        {</a:t>
            </a:r>
          </a:p>
          <a:p>
            <a:r>
              <a:rPr lang="en-US" sz="1900" dirty="0"/>
              <a:t>	//if (</a:t>
            </a:r>
            <a:r>
              <a:rPr lang="en-US" sz="1900" dirty="0" err="1"/>
              <a:t>kea.KeyCode</a:t>
            </a:r>
            <a:r>
              <a:rPr lang="en-US" sz="1900" dirty="0"/>
              <a:t> == </a:t>
            </a:r>
            <a:r>
              <a:rPr lang="en-US" sz="1900" dirty="0" err="1"/>
              <a:t>Keys.X</a:t>
            </a:r>
            <a:r>
              <a:rPr lang="en-US" sz="1900" dirty="0"/>
              <a:t>) </a:t>
            </a:r>
            <a:r>
              <a:rPr lang="en-US" sz="1900" dirty="0" err="1"/>
              <a:t>Application.Exit</a:t>
            </a:r>
            <a:r>
              <a:rPr lang="en-US" sz="1900" dirty="0"/>
              <a:t>();</a:t>
            </a:r>
          </a:p>
          <a:p>
            <a:r>
              <a:rPr lang="en-US" sz="1900" dirty="0"/>
              <a:t>            </a:t>
            </a:r>
            <a:r>
              <a:rPr lang="en-US" sz="1900" dirty="0" err="1"/>
              <a:t>Console.WriteLine</a:t>
            </a:r>
            <a:r>
              <a:rPr lang="en-US" sz="1900" dirty="0"/>
              <a:t>("</a:t>
            </a:r>
            <a:r>
              <a:rPr lang="en-US" sz="1900" dirty="0" err="1"/>
              <a:t>KeyDown</a:t>
            </a:r>
            <a:r>
              <a:rPr lang="en-US" sz="1900" dirty="0"/>
              <a:t>");</a:t>
            </a:r>
          </a:p>
          <a:p>
            <a:r>
              <a:rPr lang="en-US" sz="1900" dirty="0"/>
              <a:t>        }</a:t>
            </a:r>
          </a:p>
          <a:p>
            <a:r>
              <a:rPr lang="en-US" sz="1900" dirty="0"/>
              <a:t>        void </a:t>
            </a:r>
            <a:r>
              <a:rPr lang="en-US" sz="1900" dirty="0" err="1"/>
              <a:t>MyForm_KeyUp</a:t>
            </a:r>
            <a:r>
              <a:rPr lang="en-US" sz="1900" dirty="0"/>
              <a:t>(Object sender, </a:t>
            </a:r>
            <a:r>
              <a:rPr lang="en-US" sz="1900" dirty="0" err="1"/>
              <a:t>KeyEventArgs</a:t>
            </a:r>
            <a:r>
              <a:rPr lang="en-US" sz="1900" dirty="0"/>
              <a:t> kea)</a:t>
            </a:r>
          </a:p>
          <a:p>
            <a:r>
              <a:rPr lang="en-US" sz="1900" dirty="0"/>
              <a:t>        {</a:t>
            </a:r>
          </a:p>
          <a:p>
            <a:r>
              <a:rPr lang="en-US" sz="1900" dirty="0"/>
              <a:t>	</a:t>
            </a:r>
            <a:r>
              <a:rPr lang="en-US" sz="1900" dirty="0" err="1"/>
              <a:t>Console.WriteLine</a:t>
            </a:r>
            <a:r>
              <a:rPr lang="en-US" sz="1900" dirty="0"/>
              <a:t>("</a:t>
            </a:r>
            <a:r>
              <a:rPr lang="en-US" sz="1900" dirty="0" err="1"/>
              <a:t>KeyUp</a:t>
            </a:r>
            <a:r>
              <a:rPr lang="en-US" sz="1900" dirty="0"/>
              <a:t>");</a:t>
            </a:r>
          </a:p>
          <a:p>
            <a:r>
              <a:rPr lang="en-US" sz="1900" dirty="0"/>
              <a:t>        }</a:t>
            </a:r>
          </a:p>
          <a:p>
            <a:r>
              <a:rPr lang="en-US" sz="19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1224136"/>
          </a:xfrm>
        </p:spPr>
        <p:txBody>
          <a:bodyPr/>
          <a:lstStyle/>
          <a:p>
            <a:pPr algn="just"/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KeyPress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phím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nhấn</a:t>
            </a:r>
            <a:r>
              <a:rPr lang="en-US" dirty="0"/>
              <a:t>. </a:t>
            </a:r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Sự kiện KeyPress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472" y="3071810"/>
            <a:ext cx="8215370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1">
              <a:buFontTx/>
              <a:buNone/>
            </a:pPr>
            <a:r>
              <a:rPr lang="en-US" sz="2000" dirty="0">
                <a:solidFill>
                  <a:srgbClr val="006699"/>
                </a:solidFill>
              </a:rPr>
              <a:t>protected override void </a:t>
            </a:r>
            <a:r>
              <a:rPr lang="en-US" sz="2000" dirty="0" err="1">
                <a:solidFill>
                  <a:srgbClr val="006699"/>
                </a:solidFill>
              </a:rPr>
              <a:t>OnKeyPress</a:t>
            </a:r>
            <a:r>
              <a:rPr lang="en-US" sz="2000" dirty="0">
                <a:solidFill>
                  <a:srgbClr val="006699"/>
                </a:solidFill>
              </a:rPr>
              <a:t>(</a:t>
            </a:r>
            <a:r>
              <a:rPr lang="en-US" sz="2000" b="1" dirty="0" err="1">
                <a:solidFill>
                  <a:srgbClr val="006699"/>
                </a:solidFill>
              </a:rPr>
              <a:t>KeyPressEventArgs</a:t>
            </a:r>
            <a:r>
              <a:rPr lang="en-US" sz="2000" dirty="0">
                <a:solidFill>
                  <a:srgbClr val="006699"/>
                </a:solidFill>
              </a:rPr>
              <a:t> kea)</a:t>
            </a:r>
          </a:p>
          <a:p>
            <a:pPr lvl="1">
              <a:buFontTx/>
              <a:buNone/>
            </a:pPr>
            <a:r>
              <a:rPr lang="en-US" sz="2000" dirty="0">
                <a:solidFill>
                  <a:srgbClr val="006699"/>
                </a:solidFill>
              </a:rPr>
              <a:t>	{</a:t>
            </a:r>
          </a:p>
          <a:p>
            <a:pPr lvl="1">
              <a:buFontTx/>
              <a:buNone/>
            </a:pPr>
            <a:r>
              <a:rPr lang="en-US" sz="2000" dirty="0">
                <a:solidFill>
                  <a:srgbClr val="006699"/>
                </a:solidFill>
              </a:rPr>
              <a:t>			if (</a:t>
            </a:r>
            <a:r>
              <a:rPr lang="en-US" sz="2000" dirty="0" err="1">
                <a:solidFill>
                  <a:srgbClr val="006699"/>
                </a:solidFill>
              </a:rPr>
              <a:t>kea.</a:t>
            </a:r>
            <a:r>
              <a:rPr lang="en-US" sz="2000" b="1" dirty="0" err="1">
                <a:solidFill>
                  <a:srgbClr val="006699"/>
                </a:solidFill>
              </a:rPr>
              <a:t>KeyChar</a:t>
            </a:r>
            <a:r>
              <a:rPr lang="en-US" sz="2000" dirty="0">
                <a:solidFill>
                  <a:srgbClr val="006699"/>
                </a:solidFill>
              </a:rPr>
              <a:t> == 'x') </a:t>
            </a:r>
          </a:p>
          <a:p>
            <a:pPr lvl="1">
              <a:buFontTx/>
              <a:buNone/>
            </a:pPr>
            <a:r>
              <a:rPr lang="en-US" sz="2000" dirty="0">
                <a:solidFill>
                  <a:srgbClr val="006699"/>
                </a:solidFill>
              </a:rPr>
              <a:t>				Close () ; </a:t>
            </a:r>
          </a:p>
          <a:p>
            <a:pPr lvl="1">
              <a:buFontTx/>
              <a:buNone/>
            </a:pPr>
            <a:r>
              <a:rPr lang="en-US" sz="2000" dirty="0">
                <a:solidFill>
                  <a:srgbClr val="006699"/>
                </a:solidFill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pPr algn="just"/>
            <a:r>
              <a:rPr lang="en-US" sz="2800" dirty="0" err="1"/>
              <a:t>Về</a:t>
            </a:r>
            <a:r>
              <a:rPr lang="en-US" sz="2800" dirty="0"/>
              <a:t> </a:t>
            </a:r>
            <a:r>
              <a:rPr lang="en-US" sz="2800" dirty="0" err="1"/>
              <a:t>cơ</a:t>
            </a:r>
            <a:r>
              <a:rPr lang="en-US" sz="2800" dirty="0"/>
              <a:t> </a:t>
            </a:r>
            <a:r>
              <a:rPr lang="en-US" sz="2800" dirty="0" err="1"/>
              <a:t>bản</a:t>
            </a:r>
            <a:r>
              <a:rPr lang="en-US" sz="2800" dirty="0"/>
              <a:t> Windows </a:t>
            </a:r>
            <a:r>
              <a:rPr lang="en-US" sz="2800" dirty="0" err="1"/>
              <a:t>hỗ</a:t>
            </a:r>
            <a:r>
              <a:rPr lang="en-US" sz="2800" dirty="0"/>
              <a:t> </a:t>
            </a:r>
            <a:r>
              <a:rPr lang="en-US" sz="2800" dirty="0" err="1"/>
              <a:t>trợ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loại</a:t>
            </a:r>
            <a:r>
              <a:rPr lang="en-US" sz="2800" dirty="0"/>
              <a:t> </a:t>
            </a: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bị</a:t>
            </a:r>
            <a:r>
              <a:rPr lang="en-US" sz="2800" dirty="0"/>
              <a:t> </a:t>
            </a:r>
            <a:r>
              <a:rPr lang="en-US" sz="2800" dirty="0" err="1"/>
              <a:t>chuột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nút</a:t>
            </a:r>
            <a:r>
              <a:rPr lang="en-US" sz="2800" dirty="0"/>
              <a:t>, </a:t>
            </a:r>
            <a:r>
              <a:rPr lang="en-US" sz="2800" dirty="0" err="1"/>
              <a:t>hai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ba</a:t>
            </a:r>
            <a:r>
              <a:rPr lang="en-US" sz="2800" dirty="0"/>
              <a:t> </a:t>
            </a:r>
            <a:r>
              <a:rPr lang="en-US" sz="2800" dirty="0" err="1"/>
              <a:t>nút</a:t>
            </a:r>
            <a:r>
              <a:rPr lang="en-US" sz="2800" dirty="0"/>
              <a:t>, </a:t>
            </a:r>
            <a:r>
              <a:rPr lang="en-US" sz="2800" dirty="0" err="1"/>
              <a:t>ngoài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Windows </a:t>
            </a:r>
            <a:r>
              <a:rPr lang="en-US" sz="2800" dirty="0" err="1"/>
              <a:t>còn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dùng</a:t>
            </a:r>
            <a:r>
              <a:rPr lang="en-US" sz="2800" dirty="0"/>
              <a:t> </a:t>
            </a: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bị</a:t>
            </a:r>
            <a:r>
              <a:rPr lang="en-US" sz="2800" dirty="0"/>
              <a:t> </a:t>
            </a:r>
            <a:r>
              <a:rPr lang="en-US" sz="2800" dirty="0" err="1"/>
              <a:t>khác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joystick hay </a:t>
            </a:r>
            <a:r>
              <a:rPr lang="en-US" sz="2800" dirty="0" err="1"/>
              <a:t>bút</a:t>
            </a:r>
            <a:r>
              <a:rPr lang="en-US" sz="2800" dirty="0"/>
              <a:t> </a:t>
            </a:r>
            <a:r>
              <a:rPr lang="en-US" sz="2800" dirty="0" err="1"/>
              <a:t>vẽ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bắt</a:t>
            </a:r>
            <a:r>
              <a:rPr lang="en-US" sz="2800" dirty="0"/>
              <a:t> </a:t>
            </a:r>
            <a:r>
              <a:rPr lang="en-US" sz="2800" dirty="0" err="1"/>
              <a:t>chước</a:t>
            </a:r>
            <a:r>
              <a:rPr lang="en-US" sz="2800" dirty="0"/>
              <a:t> </a:t>
            </a: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bị</a:t>
            </a:r>
            <a:r>
              <a:rPr lang="en-US" sz="2800" dirty="0"/>
              <a:t> </a:t>
            </a:r>
            <a:r>
              <a:rPr lang="en-US" sz="2800" dirty="0" err="1"/>
              <a:t>chuột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</a:t>
            </a:r>
            <a:r>
              <a:rPr lang="en-US" sz="2800" dirty="0" err="1"/>
              <a:t>điệp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tạo</a:t>
            </a:r>
            <a:r>
              <a:rPr lang="en-US" sz="2800" dirty="0"/>
              <a:t> </a:t>
            </a:r>
            <a:r>
              <a:rPr lang="en-US" sz="2800" dirty="0" err="1"/>
              <a:t>từ</a:t>
            </a:r>
            <a:r>
              <a:rPr lang="en-US" sz="2800" dirty="0"/>
              <a:t> </a:t>
            </a:r>
            <a:r>
              <a:rPr lang="en-US" sz="2800" dirty="0" err="1"/>
              <a:t>chuột</a:t>
            </a:r>
            <a:r>
              <a:rPr lang="en-US" sz="2800" dirty="0"/>
              <a:t> </a:t>
            </a:r>
            <a:r>
              <a:rPr lang="en-US" sz="2800" dirty="0" err="1"/>
              <a:t>rất</a:t>
            </a:r>
            <a:r>
              <a:rPr lang="en-US" sz="2800" dirty="0"/>
              <a:t> </a:t>
            </a:r>
            <a:r>
              <a:rPr lang="en-US" sz="2800" dirty="0" err="1"/>
              <a:t>khác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</a:t>
            </a:r>
            <a:r>
              <a:rPr lang="en-US" sz="2800" dirty="0" err="1"/>
              <a:t>điệp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bàn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:</a:t>
            </a:r>
          </a:p>
          <a:p>
            <a:pPr lvl="1" algn="just"/>
            <a:r>
              <a:rPr lang="en-US" sz="2400" dirty="0" err="1"/>
              <a:t>chuột</a:t>
            </a:r>
            <a:r>
              <a:rPr lang="en-US" sz="2400" dirty="0"/>
              <a:t> di </a:t>
            </a:r>
            <a:r>
              <a:rPr lang="en-US" sz="2400" dirty="0" err="1"/>
              <a:t>chuyển</a:t>
            </a:r>
            <a:r>
              <a:rPr lang="en-US" sz="2400" dirty="0"/>
              <a:t> qua </a:t>
            </a:r>
            <a:r>
              <a:rPr lang="en-US" sz="2400" dirty="0" err="1"/>
              <a:t>cửa</a:t>
            </a:r>
            <a:r>
              <a:rPr lang="en-US" sz="2400" dirty="0"/>
              <a:t> </a:t>
            </a:r>
            <a:r>
              <a:rPr lang="en-US" sz="2400" dirty="0" err="1"/>
              <a:t>sổ</a:t>
            </a:r>
            <a:r>
              <a:rPr lang="en-US" sz="2400" dirty="0"/>
              <a:t> </a:t>
            </a:r>
          </a:p>
          <a:p>
            <a:pPr lvl="1" algn="just"/>
            <a:r>
              <a:rPr lang="en-US" sz="2400" dirty="0"/>
              <a:t>hay </a:t>
            </a:r>
            <a:r>
              <a:rPr lang="en-US" sz="2400" dirty="0" err="1"/>
              <a:t>kích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cửa</a:t>
            </a:r>
            <a:r>
              <a:rPr lang="en-US" sz="2400" dirty="0"/>
              <a:t> </a:t>
            </a:r>
            <a:r>
              <a:rPr lang="en-US" sz="2400" dirty="0" err="1"/>
              <a:t>sổ</a:t>
            </a:r>
            <a:r>
              <a:rPr lang="en-US" sz="2400" dirty="0"/>
              <a:t>, </a:t>
            </a:r>
          </a:p>
          <a:p>
            <a:pPr lvl="1" algn="just"/>
            <a:r>
              <a:rPr lang="en-US" sz="2400" dirty="0" err="1"/>
              <a:t>thậm</a:t>
            </a:r>
            <a:r>
              <a:rPr lang="en-US" sz="2400" dirty="0"/>
              <a:t> </a:t>
            </a:r>
            <a:r>
              <a:rPr lang="en-US" sz="2400" dirty="0" err="1"/>
              <a:t>chí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trường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cửa</a:t>
            </a:r>
            <a:r>
              <a:rPr lang="en-US" sz="2400" dirty="0"/>
              <a:t> </a:t>
            </a:r>
            <a:r>
              <a:rPr lang="en-US" sz="2400" dirty="0" err="1"/>
              <a:t>sổ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kích</a:t>
            </a:r>
            <a:r>
              <a:rPr lang="en-US" sz="2400" dirty="0"/>
              <a:t> </a:t>
            </a:r>
            <a:r>
              <a:rPr lang="en-US" sz="2400" dirty="0" err="1"/>
              <a:t>hoạt</a:t>
            </a:r>
            <a:r>
              <a:rPr lang="en-US" sz="2400" dirty="0"/>
              <a:t> hay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nhận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tâm</a:t>
            </a:r>
            <a:r>
              <a:rPr lang="en-US" sz="2400" dirty="0"/>
              <a:t>.</a:t>
            </a:r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chuột</a:t>
            </a:r>
          </a:p>
        </p:txBody>
      </p:sp>
    </p:spTree>
    <p:extLst>
      <p:ext uri="{BB962C8B-B14F-4D97-AF65-F5344CB8AC3E}">
        <p14:creationId xmlns:p14="http://schemas.microsoft.com/office/powerpoint/2010/main" val="3836127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pPr algn="just"/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chuột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gửi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:</a:t>
            </a:r>
          </a:p>
          <a:p>
            <a:pPr lvl="1" algn="just"/>
            <a:r>
              <a:rPr lang="en-US" sz="2400" dirty="0" err="1"/>
              <a:t>Cửa</a:t>
            </a:r>
            <a:r>
              <a:rPr lang="en-US" sz="2400" dirty="0"/>
              <a:t> </a:t>
            </a:r>
            <a:r>
              <a:rPr lang="en-US" sz="2400" dirty="0" err="1"/>
              <a:t>sổ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đang</a:t>
            </a:r>
            <a:r>
              <a:rPr lang="en-US" sz="2400" dirty="0"/>
              <a:t> </a:t>
            </a:r>
            <a:r>
              <a:rPr lang="en-US" sz="2400" dirty="0" err="1"/>
              <a:t>chứa</a:t>
            </a:r>
            <a:r>
              <a:rPr lang="en-US" sz="2400" dirty="0"/>
              <a:t> con </a:t>
            </a:r>
            <a:r>
              <a:rPr lang="en-US" sz="2400" dirty="0" err="1"/>
              <a:t>trỏ</a:t>
            </a:r>
            <a:r>
              <a:rPr lang="en-US" sz="2400" dirty="0"/>
              <a:t> </a:t>
            </a:r>
            <a:r>
              <a:rPr lang="en-US" sz="2400" dirty="0" err="1"/>
              <a:t>chuột</a:t>
            </a:r>
            <a:r>
              <a:rPr lang="en-US" sz="2400" dirty="0"/>
              <a:t>.</a:t>
            </a:r>
          </a:p>
          <a:p>
            <a:pPr lvl="1" algn="just"/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cửa</a:t>
            </a:r>
            <a:r>
              <a:rPr lang="en-US" sz="2400" dirty="0"/>
              <a:t> </a:t>
            </a:r>
            <a:r>
              <a:rPr lang="en-US" sz="2400" dirty="0" err="1"/>
              <a:t>sổ</a:t>
            </a:r>
            <a:r>
              <a:rPr lang="en-US" sz="2400" dirty="0"/>
              <a:t> </a:t>
            </a:r>
            <a:r>
              <a:rPr lang="en-US" sz="2400" dirty="0" err="1"/>
              <a:t>đang</a:t>
            </a:r>
            <a:r>
              <a:rPr lang="en-US" sz="2400" dirty="0"/>
              <a:t> “capture” </a:t>
            </a:r>
            <a:r>
              <a:rPr lang="en-US" sz="2400" dirty="0" err="1"/>
              <a:t>chuột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hai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kiện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chuột</a:t>
            </a:r>
            <a:r>
              <a:rPr lang="en-US" sz="2400" dirty="0"/>
              <a:t>:</a:t>
            </a:r>
          </a:p>
          <a:p>
            <a:pPr lvl="1" algn="just"/>
            <a:r>
              <a:rPr lang="en-US" sz="2400" dirty="0"/>
              <a:t>Client area messages</a:t>
            </a:r>
          </a:p>
          <a:p>
            <a:pPr lvl="2" algn="just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chuột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chuột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vùng</a:t>
            </a:r>
            <a:r>
              <a:rPr lang="en-US" dirty="0"/>
              <a:t> client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. </a:t>
            </a:r>
          </a:p>
          <a:p>
            <a:pPr lvl="1" algn="just"/>
            <a:r>
              <a:rPr lang="en-US" sz="2400" dirty="0"/>
              <a:t>Non-client area messages</a:t>
            </a:r>
          </a:p>
          <a:p>
            <a:pPr lvl="2" algn="just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chuột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chuột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border, menu bar, title bar, scroll bar, window menu, minimize button, </a:t>
            </a:r>
            <a:r>
              <a:rPr lang="en-US" dirty="0" err="1"/>
              <a:t>và</a:t>
            </a:r>
            <a:r>
              <a:rPr lang="en-US" dirty="0"/>
              <a:t> maximize button.</a:t>
            </a:r>
            <a:endParaRPr lang="en-US" sz="2000" dirty="0"/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chuột</a:t>
            </a:r>
          </a:p>
        </p:txBody>
      </p:sp>
    </p:spTree>
    <p:extLst>
      <p:ext uri="{BB962C8B-B14F-4D97-AF65-F5344CB8AC3E}">
        <p14:creationId xmlns:p14="http://schemas.microsoft.com/office/powerpoint/2010/main" val="4219626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648072"/>
          </a:xfrm>
        </p:spPr>
        <p:txBody>
          <a:bodyPr/>
          <a:lstStyle/>
          <a:p>
            <a:r>
              <a:rPr lang="en-US" dirty="0" err="1"/>
              <a:t>Có</a:t>
            </a:r>
            <a:r>
              <a:rPr lang="en-US" dirty="0"/>
              <a:t> 4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chuột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:</a:t>
            </a:r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Các sự kiện cơ bản</a:t>
            </a:r>
          </a:p>
        </p:txBody>
      </p:sp>
      <p:graphicFrame>
        <p:nvGraphicFramePr>
          <p:cNvPr id="4" name="Group 73"/>
          <p:cNvGraphicFramePr>
            <a:graphicFrameLocks/>
          </p:cNvGraphicFramePr>
          <p:nvPr/>
        </p:nvGraphicFramePr>
        <p:xfrm>
          <a:off x="539750" y="2206625"/>
          <a:ext cx="8208963" cy="3598864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9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07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Control Events (Selection)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Event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Method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Delegate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Argument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MouseDown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OnMouseDown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MouseEventHandler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MouseEventArgs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MouseUp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OnMouseUp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MouseEventHandler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MouseEventArgs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MouseMove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OnMouseMove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MouseEventHandler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MouseEventArgs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MouseWheel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OnMouseWheel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MouseEventHandler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MouseEventArgs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648072"/>
          </a:xfrm>
        </p:spPr>
        <p:txBody>
          <a:bodyPr/>
          <a:lstStyle/>
          <a:p>
            <a:pPr algn="just"/>
            <a:r>
              <a:rPr lang="en-US" sz="2800" dirty="0" err="1"/>
              <a:t>Lớp</a:t>
            </a:r>
            <a:r>
              <a:rPr lang="en-US" sz="2800" dirty="0"/>
              <a:t> </a:t>
            </a:r>
            <a:r>
              <a:rPr lang="en-US" sz="2800" dirty="0" err="1"/>
              <a:t>MouseEventArgs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5 </a:t>
            </a:r>
            <a:r>
              <a:rPr lang="en-US" sz="2800" dirty="0" err="1"/>
              <a:t>thuộc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read-only</a:t>
            </a:r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MouseEventArgs</a:t>
            </a:r>
          </a:p>
        </p:txBody>
      </p:sp>
      <p:graphicFrame>
        <p:nvGraphicFramePr>
          <p:cNvPr id="4" name="Group 7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46238"/>
              </p:ext>
            </p:extLst>
          </p:nvPr>
        </p:nvGraphicFramePr>
        <p:xfrm>
          <a:off x="684213" y="1989138"/>
          <a:ext cx="8010525" cy="4150361"/>
        </p:xfrm>
        <a:graphic>
          <a:graphicData uri="http://schemas.openxmlformats.org/drawingml/2006/table">
            <a:tbl>
              <a:tblPr/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3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7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MouseEventArgs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Properties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Property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Accessibility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The horizontal position of the mouse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The vertical position of the mouse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MouseButtons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Button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The mouse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button or buttons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Clicks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Returns 2 for a double-click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Delta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 wheel movement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Thuộc tính Button</a:t>
            </a:r>
          </a:p>
        </p:txBody>
      </p:sp>
      <p:graphicFrame>
        <p:nvGraphicFramePr>
          <p:cNvPr id="4" name="Group 71"/>
          <p:cNvGraphicFramePr>
            <a:graphicFrameLocks noGrp="1"/>
          </p:cNvGraphicFramePr>
          <p:nvPr>
            <p:ph sz="half" idx="4294967295"/>
          </p:nvPr>
        </p:nvGraphicFramePr>
        <p:xfrm>
          <a:off x="714348" y="1571612"/>
          <a:ext cx="7704137" cy="3960814"/>
        </p:xfrm>
        <a:graphic>
          <a:graphicData uri="http://schemas.openxmlformats.org/drawingml/2006/table">
            <a:tbl>
              <a:tblPr/>
              <a:tblGrid>
                <a:gridCol w="2573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MouseButtons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Enumeration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Member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None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0x00000000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0x00100000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Right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0x00200000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Middle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0x00400000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XButton1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0x00800000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XButton2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0x01000000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428728" y="5753417"/>
            <a:ext cx="54292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(</a:t>
            </a:r>
            <a:r>
              <a:rPr lang="en-US" sz="2400"/>
              <a:t>mea.Button == MouseButtons.Right)</a:t>
            </a:r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Ví dụ Test Mouse Button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3528" y="1535301"/>
            <a:ext cx="8496944" cy="34778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/>
              <a:t>protected override void </a:t>
            </a:r>
            <a:r>
              <a:rPr lang="en-US" sz="2000" dirty="0" err="1"/>
              <a:t>OnMouseClick</a:t>
            </a:r>
            <a:r>
              <a:rPr lang="en-US" sz="2000" dirty="0"/>
              <a:t>(</a:t>
            </a:r>
            <a:r>
              <a:rPr lang="en-US" sz="2000" dirty="0" err="1"/>
              <a:t>MouseEventArgs</a:t>
            </a:r>
            <a:r>
              <a:rPr lang="en-US" sz="2000" dirty="0"/>
              <a:t> mea)</a:t>
            </a:r>
          </a:p>
          <a:p>
            <a:r>
              <a:rPr lang="en-US" sz="2000" dirty="0"/>
              <a:t>        {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base.OnMouseClick</a:t>
            </a:r>
            <a:r>
              <a:rPr lang="en-US" sz="2000" dirty="0"/>
              <a:t>(mea);</a:t>
            </a:r>
          </a:p>
          <a:p>
            <a:r>
              <a:rPr lang="en-US" sz="2000" dirty="0"/>
              <a:t>            if (</a:t>
            </a:r>
            <a:r>
              <a:rPr lang="en-US" sz="2000" dirty="0" err="1"/>
              <a:t>mea.Button</a:t>
            </a:r>
            <a:r>
              <a:rPr lang="en-US" sz="2000" dirty="0"/>
              <a:t> == </a:t>
            </a:r>
            <a:r>
              <a:rPr lang="en-US" sz="2000" dirty="0" err="1"/>
              <a:t>MouseButtons.Left</a:t>
            </a:r>
            <a:r>
              <a:rPr lang="en-US" sz="2000" dirty="0"/>
              <a:t>)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MessageBox.Show</a:t>
            </a:r>
            <a:r>
              <a:rPr lang="en-US" sz="2000" dirty="0"/>
              <a:t>("</a:t>
            </a:r>
            <a:r>
              <a:rPr lang="en-US" sz="2000" dirty="0" err="1"/>
              <a:t>Nhan</a:t>
            </a:r>
            <a:r>
              <a:rPr lang="en-US" sz="2000" dirty="0"/>
              <a:t> </a:t>
            </a:r>
            <a:r>
              <a:rPr lang="en-US" sz="2000" dirty="0" err="1"/>
              <a:t>chuot</a:t>
            </a:r>
            <a:r>
              <a:rPr lang="en-US" sz="2000" dirty="0"/>
              <a:t> </a:t>
            </a:r>
            <a:r>
              <a:rPr lang="en-US" sz="2000" dirty="0" err="1"/>
              <a:t>trai</a:t>
            </a:r>
            <a:r>
              <a:rPr lang="en-US" sz="2000" dirty="0"/>
              <a:t>");</a:t>
            </a:r>
          </a:p>
          <a:p>
            <a:r>
              <a:rPr lang="en-US" sz="2000" dirty="0"/>
              <a:t>            if (</a:t>
            </a:r>
            <a:r>
              <a:rPr lang="en-US" sz="2000" dirty="0" err="1"/>
              <a:t>mea.Button</a:t>
            </a:r>
            <a:r>
              <a:rPr lang="en-US" sz="2000" dirty="0"/>
              <a:t> == </a:t>
            </a:r>
            <a:r>
              <a:rPr lang="en-US" sz="2000" dirty="0" err="1"/>
              <a:t>MouseButtons.Right</a:t>
            </a:r>
            <a:r>
              <a:rPr lang="en-US" sz="2000" dirty="0"/>
              <a:t>)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MessageBox.Show</a:t>
            </a:r>
            <a:r>
              <a:rPr lang="en-US" sz="2000" dirty="0"/>
              <a:t>("</a:t>
            </a:r>
            <a:r>
              <a:rPr lang="en-US" sz="2000" dirty="0" err="1"/>
              <a:t>Nhan</a:t>
            </a:r>
            <a:r>
              <a:rPr lang="en-US" sz="2000" dirty="0"/>
              <a:t> </a:t>
            </a:r>
            <a:r>
              <a:rPr lang="en-US" sz="2000" dirty="0" err="1"/>
              <a:t>chuot</a:t>
            </a:r>
            <a:r>
              <a:rPr lang="en-US" sz="2000" dirty="0"/>
              <a:t> </a:t>
            </a:r>
            <a:r>
              <a:rPr lang="en-US" sz="2000" dirty="0" err="1"/>
              <a:t>phai</a:t>
            </a:r>
            <a:r>
              <a:rPr lang="en-US" sz="2000" dirty="0"/>
              <a:t>");</a:t>
            </a:r>
          </a:p>
          <a:p>
            <a:r>
              <a:rPr lang="en-US" sz="2000" dirty="0"/>
              <a:t>            if (</a:t>
            </a:r>
            <a:r>
              <a:rPr lang="en-US" sz="2000" dirty="0" err="1"/>
              <a:t>mea.Button</a:t>
            </a:r>
            <a:r>
              <a:rPr lang="en-US" sz="2000" dirty="0"/>
              <a:t> == </a:t>
            </a:r>
            <a:r>
              <a:rPr lang="en-US" sz="2000" dirty="0" err="1"/>
              <a:t>MouseButtons.Middle</a:t>
            </a:r>
            <a:r>
              <a:rPr lang="en-US" sz="2000" dirty="0"/>
              <a:t>)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MessageBox.Show</a:t>
            </a:r>
            <a:r>
              <a:rPr lang="en-US" sz="2000" dirty="0"/>
              <a:t>("</a:t>
            </a:r>
            <a:r>
              <a:rPr lang="en-US" sz="2000" dirty="0" err="1"/>
              <a:t>Nhan</a:t>
            </a:r>
            <a:r>
              <a:rPr lang="en-US" sz="2000" dirty="0"/>
              <a:t> </a:t>
            </a:r>
            <a:r>
              <a:rPr lang="en-US" sz="2000" dirty="0" err="1"/>
              <a:t>chuot</a:t>
            </a:r>
            <a:r>
              <a:rPr lang="en-US" sz="2000" dirty="0"/>
              <a:t> </a:t>
            </a:r>
            <a:r>
              <a:rPr lang="en-US" sz="2000" dirty="0" err="1"/>
              <a:t>giua</a:t>
            </a:r>
            <a:r>
              <a:rPr lang="en-US" sz="2000" dirty="0"/>
              <a:t>");</a:t>
            </a:r>
          </a:p>
          <a:p>
            <a:endParaRPr lang="en-US" sz="2000" dirty="0"/>
          </a:p>
          <a:p>
            <a:r>
              <a:rPr lang="en-US" sz="20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MouseDown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nhấn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chuột</a:t>
            </a:r>
            <a:r>
              <a:rPr lang="en-US" dirty="0"/>
              <a:t>.</a:t>
            </a:r>
          </a:p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MouseDown</a:t>
            </a:r>
            <a:r>
              <a:rPr lang="en-US" dirty="0"/>
              <a:t> ta override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OnMouseDown</a:t>
            </a:r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lvl="1">
              <a:buFontTx/>
              <a:buNone/>
            </a:pPr>
            <a:r>
              <a:rPr lang="en-US" sz="2200" dirty="0">
                <a:solidFill>
                  <a:srgbClr val="0000FF"/>
                </a:solidFill>
              </a:rPr>
              <a:t>protected override void </a:t>
            </a:r>
            <a:r>
              <a:rPr lang="en-US" sz="2200" dirty="0" err="1"/>
              <a:t>OnMouseDown</a:t>
            </a:r>
            <a:r>
              <a:rPr lang="en-US" sz="2200" dirty="0"/>
              <a:t>(</a:t>
            </a:r>
            <a:r>
              <a:rPr lang="en-US" sz="2200" dirty="0" err="1"/>
              <a:t>MouseEventArgs</a:t>
            </a:r>
            <a:r>
              <a:rPr lang="en-US" sz="2200" dirty="0"/>
              <a:t> mea) </a:t>
            </a:r>
          </a:p>
          <a:p>
            <a:pPr lvl="1">
              <a:buFontTx/>
              <a:buNone/>
            </a:pPr>
            <a:r>
              <a:rPr lang="en-US" sz="2200" dirty="0"/>
              <a:t>{</a:t>
            </a:r>
          </a:p>
          <a:p>
            <a:pPr lvl="1">
              <a:buFontTx/>
              <a:buNone/>
            </a:pPr>
            <a:r>
              <a:rPr lang="en-US" sz="2200" dirty="0"/>
              <a:t>		</a:t>
            </a:r>
            <a:r>
              <a:rPr lang="en-US" sz="2200" dirty="0" err="1"/>
              <a:t>MessageBox.Show</a:t>
            </a:r>
            <a:r>
              <a:rPr lang="en-US" sz="2200" dirty="0"/>
              <a:t>("Ban </a:t>
            </a:r>
            <a:r>
              <a:rPr lang="en-US" sz="2200" dirty="0" err="1"/>
              <a:t>vua</a:t>
            </a:r>
            <a:r>
              <a:rPr lang="en-US" sz="2200" dirty="0"/>
              <a:t> </a:t>
            </a:r>
            <a:r>
              <a:rPr lang="en-US" sz="2200" dirty="0" err="1"/>
              <a:t>nhan</a:t>
            </a:r>
            <a:r>
              <a:rPr lang="en-US" sz="2200" dirty="0"/>
              <a:t> </a:t>
            </a:r>
            <a:r>
              <a:rPr lang="en-US" sz="2200" dirty="0" err="1"/>
              <a:t>chuot</a:t>
            </a:r>
            <a:r>
              <a:rPr lang="en-US" sz="2200" dirty="0"/>
              <a:t> " + </a:t>
            </a:r>
            <a:r>
              <a:rPr lang="en-US" sz="2200" dirty="0" err="1"/>
              <a:t>mea.Button</a:t>
            </a:r>
            <a:r>
              <a:rPr lang="en-US" sz="2200" dirty="0"/>
              <a:t>);</a:t>
            </a:r>
          </a:p>
          <a:p>
            <a:pPr lvl="1">
              <a:buFontTx/>
              <a:buNone/>
            </a:pPr>
            <a:r>
              <a:rPr lang="en-US" sz="2200" dirty="0"/>
              <a:t>}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Sự kiện MouseDown</a:t>
            </a:r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MouseUp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nhả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chuột</a:t>
            </a:r>
            <a:r>
              <a:rPr lang="en-US" dirty="0"/>
              <a:t>.</a:t>
            </a:r>
          </a:p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MouseUp</a:t>
            </a:r>
            <a:r>
              <a:rPr lang="en-US" dirty="0"/>
              <a:t> ta override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OnMouseUp</a:t>
            </a:r>
            <a:endParaRPr lang="en-US" dirty="0"/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lvl="1">
              <a:buFontTx/>
              <a:buNone/>
            </a:pPr>
            <a:r>
              <a:rPr lang="en-US" sz="2200" dirty="0">
                <a:solidFill>
                  <a:srgbClr val="0000FF"/>
                </a:solidFill>
              </a:rPr>
              <a:t>protected override void </a:t>
            </a:r>
            <a:r>
              <a:rPr lang="en-US" sz="2200" dirty="0" err="1"/>
              <a:t>OnMouseUp</a:t>
            </a:r>
            <a:r>
              <a:rPr lang="en-US" sz="2200" dirty="0"/>
              <a:t>(</a:t>
            </a:r>
            <a:r>
              <a:rPr lang="en-US" sz="2200" dirty="0" err="1"/>
              <a:t>MouseEventArgs</a:t>
            </a:r>
            <a:r>
              <a:rPr lang="en-US" sz="2200" dirty="0"/>
              <a:t> mea) </a:t>
            </a:r>
          </a:p>
          <a:p>
            <a:pPr lvl="1">
              <a:buFontTx/>
              <a:buNone/>
            </a:pPr>
            <a:r>
              <a:rPr lang="en-US" sz="2200" dirty="0"/>
              <a:t>{</a:t>
            </a:r>
          </a:p>
          <a:p>
            <a:pPr lvl="1">
              <a:buFontTx/>
              <a:buNone/>
            </a:pPr>
            <a:r>
              <a:rPr lang="en-US" sz="2200" dirty="0"/>
              <a:t>		</a:t>
            </a:r>
            <a:r>
              <a:rPr lang="en-US" sz="2200" dirty="0" err="1"/>
              <a:t>MessageBox.Show</a:t>
            </a:r>
            <a:r>
              <a:rPr lang="en-US" sz="2200" dirty="0"/>
              <a:t>("Ban </a:t>
            </a:r>
            <a:r>
              <a:rPr lang="en-US" sz="2200" dirty="0" err="1"/>
              <a:t>vua</a:t>
            </a:r>
            <a:r>
              <a:rPr lang="en-US" sz="2200" dirty="0"/>
              <a:t> </a:t>
            </a:r>
            <a:r>
              <a:rPr lang="en-US" sz="2200" dirty="0" err="1"/>
              <a:t>nha</a:t>
            </a:r>
            <a:r>
              <a:rPr lang="en-US" sz="2200" dirty="0"/>
              <a:t> </a:t>
            </a:r>
            <a:r>
              <a:rPr lang="en-US" sz="2200" dirty="0" err="1"/>
              <a:t>chuot</a:t>
            </a:r>
            <a:r>
              <a:rPr lang="en-US" sz="2200" dirty="0"/>
              <a:t> " + </a:t>
            </a:r>
            <a:r>
              <a:rPr lang="en-US" sz="2200" dirty="0" err="1"/>
              <a:t>mea.Button</a:t>
            </a:r>
            <a:r>
              <a:rPr lang="en-US" sz="2200" dirty="0"/>
              <a:t>);</a:t>
            </a:r>
          </a:p>
          <a:p>
            <a:pPr lvl="1">
              <a:buFontTx/>
              <a:buNone/>
            </a:pPr>
            <a:r>
              <a:rPr lang="en-US" sz="2200" dirty="0"/>
              <a:t>}</a:t>
            </a:r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Sự kiện MouseUp</a:t>
            </a:r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2304256"/>
          </a:xfrm>
        </p:spPr>
        <p:txBody>
          <a:bodyPr/>
          <a:lstStyle/>
          <a:p>
            <a:pPr algn="just">
              <a:lnSpc>
                <a:spcPct val="110000"/>
              </a:lnSpc>
            </a:pPr>
            <a:r>
              <a:rPr lang="en-US" sz="2400"/>
              <a:t>Sự kiện MouseMove được phát sinh khi người dùng di chuyển chuột.</a:t>
            </a:r>
          </a:p>
          <a:p>
            <a:pPr algn="just">
              <a:lnSpc>
                <a:spcPct val="110000"/>
              </a:lnSpc>
            </a:pPr>
            <a:r>
              <a:rPr lang="en-US" sz="2400"/>
              <a:t>Để xử lý sự kiện MouseMove ta override phương thức OnMouseMove</a:t>
            </a:r>
          </a:p>
          <a:p>
            <a:pPr algn="just">
              <a:lnSpc>
                <a:spcPct val="110000"/>
              </a:lnSpc>
            </a:pPr>
            <a:r>
              <a:rPr lang="en-US" sz="2400"/>
              <a:t>Ví dụ:</a:t>
            </a:r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Sự kiện MouseMove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20" y="3857628"/>
            <a:ext cx="8558818" cy="260994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  <a:buFontTx/>
              <a:buNone/>
            </a:pPr>
            <a:r>
              <a:rPr lang="en-US" sz="2000" dirty="0">
                <a:solidFill>
                  <a:srgbClr val="0000FF"/>
                </a:solidFill>
              </a:rPr>
              <a:t>protected override void</a:t>
            </a:r>
            <a:r>
              <a:rPr lang="en-US" sz="2000" dirty="0"/>
              <a:t> </a:t>
            </a:r>
            <a:r>
              <a:rPr lang="en-US" sz="2000" dirty="0" err="1"/>
              <a:t>OnMouseMove</a:t>
            </a:r>
            <a:r>
              <a:rPr lang="en-US" sz="2000" dirty="0"/>
              <a:t>(</a:t>
            </a:r>
            <a:r>
              <a:rPr lang="en-US" sz="2000" dirty="0" err="1"/>
              <a:t>MouseEventArgs</a:t>
            </a:r>
            <a:r>
              <a:rPr lang="en-US" sz="2000" dirty="0"/>
              <a:t> mea) </a:t>
            </a:r>
          </a:p>
          <a:p>
            <a:pPr>
              <a:buFontTx/>
              <a:buNone/>
            </a:pPr>
            <a:r>
              <a:rPr lang="en-US" sz="2000" dirty="0"/>
              <a:t>{</a:t>
            </a:r>
          </a:p>
          <a:p>
            <a:pPr>
              <a:buFontTx/>
              <a:buNone/>
            </a:pPr>
            <a:r>
              <a:rPr lang="en-US" sz="2000" dirty="0"/>
              <a:t>		</a:t>
            </a:r>
            <a:r>
              <a:rPr lang="en-US" dirty="0"/>
              <a:t>//</a:t>
            </a:r>
            <a:r>
              <a:rPr lang="en-US" dirty="0" err="1"/>
              <a:t>Ve</a:t>
            </a:r>
            <a:r>
              <a:rPr lang="en-US" dirty="0"/>
              <a:t> mot </a:t>
            </a:r>
            <a:r>
              <a:rPr lang="en-US" dirty="0" err="1"/>
              <a:t>duong</a:t>
            </a:r>
            <a:r>
              <a:rPr lang="en-US" dirty="0"/>
              <a:t> </a:t>
            </a:r>
            <a:r>
              <a:rPr lang="en-US" dirty="0" err="1"/>
              <a:t>thang</a:t>
            </a:r>
            <a:r>
              <a:rPr lang="en-US" dirty="0"/>
              <a:t>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toa</a:t>
            </a:r>
            <a:r>
              <a:rPr lang="en-US" dirty="0"/>
              <a:t> do (0,0) den </a:t>
            </a:r>
            <a:r>
              <a:rPr lang="en-US" dirty="0" err="1"/>
              <a:t>toa</a:t>
            </a:r>
            <a:r>
              <a:rPr lang="en-US" dirty="0"/>
              <a:t> do </a:t>
            </a:r>
            <a:r>
              <a:rPr lang="en-US" dirty="0" err="1"/>
              <a:t>chuot</a:t>
            </a:r>
            <a:r>
              <a:rPr lang="en-US" dirty="0"/>
              <a:t> di </a:t>
            </a:r>
            <a:r>
              <a:rPr lang="en-US" dirty="0" err="1"/>
              <a:t>chuyen</a:t>
            </a:r>
            <a:endParaRPr lang="en-US" dirty="0"/>
          </a:p>
          <a:p>
            <a:pPr>
              <a:lnSpc>
                <a:spcPct val="110000"/>
              </a:lnSpc>
              <a:buFontTx/>
              <a:buNone/>
            </a:pPr>
            <a:r>
              <a:rPr lang="en-US" sz="2000" dirty="0"/>
              <a:t>		Graphics g = </a:t>
            </a:r>
            <a:r>
              <a:rPr lang="en-US" sz="2000" dirty="0" err="1"/>
              <a:t>CreateGraphics</a:t>
            </a:r>
            <a:r>
              <a:rPr lang="en-US" sz="2000" dirty="0"/>
              <a:t>();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sz="2000" dirty="0"/>
              <a:t>		Pen </a:t>
            </a:r>
            <a:r>
              <a:rPr lang="en-US" sz="2000" dirty="0" err="1"/>
              <a:t>pen</a:t>
            </a:r>
            <a:r>
              <a:rPr lang="en-US" sz="2000" dirty="0"/>
              <a:t> = </a:t>
            </a:r>
            <a:r>
              <a:rPr lang="en-US" sz="2000" dirty="0">
                <a:solidFill>
                  <a:srgbClr val="0000FF"/>
                </a:solidFill>
              </a:rPr>
              <a:t>new</a:t>
            </a:r>
            <a:r>
              <a:rPr lang="en-US" sz="2000" dirty="0"/>
              <a:t> Pen(</a:t>
            </a:r>
            <a:r>
              <a:rPr lang="en-US" sz="2000" dirty="0" err="1"/>
              <a:t>System.Drawing.Color.Blue</a:t>
            </a:r>
            <a:r>
              <a:rPr lang="en-US" sz="2000" dirty="0"/>
              <a:t>);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dirty="0"/>
              <a:t>		</a:t>
            </a:r>
            <a:r>
              <a:rPr lang="en-US" dirty="0" err="1"/>
              <a:t>g.DrawLine</a:t>
            </a:r>
            <a:r>
              <a:rPr lang="en-US" dirty="0"/>
              <a:t>(pen, 0, 0, </a:t>
            </a:r>
            <a:r>
              <a:rPr lang="en-US" dirty="0" err="1"/>
              <a:t>mea.X</a:t>
            </a:r>
            <a:r>
              <a:rPr lang="en-US" dirty="0"/>
              <a:t>, </a:t>
            </a:r>
            <a:r>
              <a:rPr lang="en-US" dirty="0" err="1"/>
              <a:t>mea.Y</a:t>
            </a:r>
            <a:r>
              <a:rPr lang="en-US" dirty="0"/>
              <a:t>);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dirty="0"/>
              <a:t>}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Sự kiện MouseMove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46996"/>
            <a:ext cx="3222941" cy="3199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52936"/>
            <a:ext cx="3248173" cy="3224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Enter – Hover - Leave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800"/>
            <a:ext cx="4591050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924944"/>
            <a:ext cx="2857500" cy="284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2592288"/>
          </a:xfrm>
        </p:spPr>
        <p:txBody>
          <a:bodyPr/>
          <a:lstStyle/>
          <a:p>
            <a:pPr algn="just">
              <a:lnSpc>
                <a:spcPct val="110000"/>
              </a:lnSpc>
            </a:pP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en-US" sz="2800" dirty="0" err="1"/>
              <a:t>MouseWheel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người</a:t>
            </a:r>
            <a:r>
              <a:rPr lang="en-US" sz="2800" dirty="0"/>
              <a:t> </a:t>
            </a:r>
            <a:r>
              <a:rPr lang="en-US" sz="2800" dirty="0" err="1"/>
              <a:t>dùng</a:t>
            </a:r>
            <a:r>
              <a:rPr lang="en-US" sz="2800" dirty="0"/>
              <a:t> scroll </a:t>
            </a:r>
            <a:r>
              <a:rPr lang="en-US" sz="2800" dirty="0" err="1"/>
              <a:t>chuột</a:t>
            </a:r>
            <a:r>
              <a:rPr lang="en-US" sz="2800" dirty="0"/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xử</a:t>
            </a:r>
            <a:r>
              <a:rPr lang="en-US" sz="2800" dirty="0"/>
              <a:t> </a:t>
            </a:r>
            <a:r>
              <a:rPr lang="en-US" sz="2800" dirty="0" err="1"/>
              <a:t>lý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en-US" sz="2800" dirty="0" err="1"/>
              <a:t>MouseWheel</a:t>
            </a:r>
            <a:r>
              <a:rPr lang="en-US" sz="2800" dirty="0"/>
              <a:t> ta override </a:t>
            </a:r>
            <a:r>
              <a:rPr lang="en-US" sz="2800" dirty="0" err="1"/>
              <a:t>phương</a:t>
            </a:r>
            <a:r>
              <a:rPr lang="en-US" sz="2800" dirty="0"/>
              <a:t> </a:t>
            </a:r>
            <a:r>
              <a:rPr lang="en-US" sz="2800" dirty="0" err="1"/>
              <a:t>thức</a:t>
            </a:r>
            <a:r>
              <a:rPr lang="en-US" sz="2800" dirty="0"/>
              <a:t> </a:t>
            </a:r>
            <a:r>
              <a:rPr lang="en-US" sz="2800" dirty="0" err="1"/>
              <a:t>OnMouseWheel</a:t>
            </a:r>
            <a:endParaRPr lang="en-US" sz="2800" dirty="0"/>
          </a:p>
          <a:p>
            <a:pPr algn="just">
              <a:lnSpc>
                <a:spcPct val="110000"/>
              </a:lnSpc>
            </a:pPr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:</a:t>
            </a:r>
          </a:p>
          <a:p>
            <a:pPr algn="just"/>
            <a:endParaRPr lang="en-US" sz="2800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Sự kiện MouseWheel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20" y="3929066"/>
            <a:ext cx="8552341" cy="220983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  <a:buFontTx/>
              <a:buNone/>
            </a:pPr>
            <a:r>
              <a:rPr lang="en-US" sz="2000">
                <a:solidFill>
                  <a:srgbClr val="0000FF"/>
                </a:solidFill>
              </a:rPr>
              <a:t>protected override void</a:t>
            </a:r>
            <a:r>
              <a:rPr lang="en-US" sz="2000"/>
              <a:t> OnMouseWheel(MouseEventArgs mea)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/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/>
              <a:t>	if (mea.Delta&gt;0)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/>
              <a:t>		</a:t>
            </a:r>
            <a:r>
              <a:rPr lang="en-US"/>
              <a:t>MessageBox.Show("Ban vua scroll chuot len", "Thong bao");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/>
              <a:t>	else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/>
              <a:t>		</a:t>
            </a:r>
            <a:r>
              <a:rPr lang="en-US"/>
              <a:t>MessageBox.Show("Ban vua scroll chuot xuong", "Thong bao");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/>
              <a:t>}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2736304"/>
          </a:xfrm>
        </p:spPr>
        <p:txBody>
          <a:bodyPr/>
          <a:lstStyle/>
          <a:p>
            <a:pPr algn="just">
              <a:lnSpc>
                <a:spcPct val="95000"/>
              </a:lnSpc>
            </a:pP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Click 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phím</a:t>
            </a:r>
            <a:r>
              <a:rPr lang="en-US" sz="2800" dirty="0"/>
              <a:t> </a:t>
            </a:r>
            <a:r>
              <a:rPr lang="en-US" sz="2800" b="1" dirty="0" err="1"/>
              <a:t>bất</a:t>
            </a:r>
            <a:r>
              <a:rPr lang="en-US" sz="2800" b="1" dirty="0"/>
              <a:t> </a:t>
            </a:r>
            <a:r>
              <a:rPr lang="en-US" sz="2800" b="1" dirty="0" err="1"/>
              <a:t>kỳ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chuột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nhấn</a:t>
            </a:r>
            <a:r>
              <a:rPr lang="en-US" sz="2800" dirty="0"/>
              <a:t>.</a:t>
            </a:r>
          </a:p>
          <a:p>
            <a:pPr algn="just">
              <a:lnSpc>
                <a:spcPct val="95000"/>
              </a:lnSpc>
            </a:pP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en-US" sz="2800" dirty="0" err="1"/>
              <a:t>này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kèm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tham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EventArgs</a:t>
            </a:r>
            <a:r>
              <a:rPr lang="en-US" sz="2800" dirty="0"/>
              <a:t>, </a:t>
            </a:r>
            <a:r>
              <a:rPr lang="en-US" sz="2800" dirty="0" err="1"/>
              <a:t>tham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này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chứa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</a:t>
            </a:r>
            <a:r>
              <a:rPr lang="en-US" sz="2800" dirty="0" err="1"/>
              <a:t>về</a:t>
            </a:r>
            <a:r>
              <a:rPr lang="en-US" sz="2800" dirty="0"/>
              <a:t> </a:t>
            </a:r>
            <a:r>
              <a:rPr lang="en-US" sz="2800" dirty="0" err="1"/>
              <a:t>trạng</a:t>
            </a:r>
            <a:r>
              <a:rPr lang="en-US" sz="2800" dirty="0"/>
              <a:t> </a:t>
            </a:r>
            <a:r>
              <a:rPr lang="en-US" sz="2800" dirty="0" err="1"/>
              <a:t>thái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nút</a:t>
            </a:r>
            <a:r>
              <a:rPr lang="en-US" sz="2800" dirty="0"/>
              <a:t> </a:t>
            </a:r>
            <a:r>
              <a:rPr lang="en-US" sz="2800" dirty="0" err="1"/>
              <a:t>chuột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nhấn</a:t>
            </a:r>
            <a:r>
              <a:rPr lang="en-US" sz="2800" dirty="0"/>
              <a:t> </a:t>
            </a:r>
            <a:r>
              <a:rPr lang="en-US" sz="2800" dirty="0" err="1"/>
              <a:t>cũng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vị</a:t>
            </a:r>
            <a:r>
              <a:rPr lang="en-US" sz="2800" dirty="0"/>
              <a:t> </a:t>
            </a:r>
            <a:r>
              <a:rPr lang="en-US" sz="2800" dirty="0" err="1"/>
              <a:t>trí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con </a:t>
            </a:r>
            <a:r>
              <a:rPr lang="en-US" sz="2800" dirty="0" err="1"/>
              <a:t>trỏ</a:t>
            </a:r>
            <a:r>
              <a:rPr lang="en-US" sz="2800" dirty="0"/>
              <a:t> </a:t>
            </a:r>
            <a:r>
              <a:rPr lang="en-US" sz="2800" dirty="0" err="1"/>
              <a:t>chuột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nhấn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Sự kiện Click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538" y="4365104"/>
            <a:ext cx="6858048" cy="165583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95000"/>
              </a:lnSpc>
              <a:buFontTx/>
              <a:buNone/>
            </a:pPr>
            <a:r>
              <a:rPr lang="en-US" sz="2200" dirty="0">
                <a:solidFill>
                  <a:srgbClr val="0000FF"/>
                </a:solidFill>
              </a:rPr>
              <a:t>protected override void</a:t>
            </a:r>
            <a:r>
              <a:rPr lang="en-US" sz="2200" dirty="0"/>
              <a:t> </a:t>
            </a:r>
            <a:r>
              <a:rPr lang="en-US" sz="2200" dirty="0" err="1"/>
              <a:t>OnClick</a:t>
            </a:r>
            <a:r>
              <a:rPr lang="en-US" sz="2200" dirty="0"/>
              <a:t>(</a:t>
            </a:r>
            <a:r>
              <a:rPr lang="en-US" sz="2200" b="1" dirty="0" err="1"/>
              <a:t>EventArgs</a:t>
            </a:r>
            <a:r>
              <a:rPr lang="en-US" sz="2200" dirty="0"/>
              <a:t> </a:t>
            </a:r>
            <a:r>
              <a:rPr lang="en-US" sz="2200" dirty="0" err="1"/>
              <a:t>ea</a:t>
            </a:r>
            <a:r>
              <a:rPr lang="en-US" sz="2200" dirty="0"/>
              <a:t>)</a:t>
            </a:r>
          </a:p>
          <a:p>
            <a:pPr algn="just">
              <a:lnSpc>
                <a:spcPct val="95000"/>
              </a:lnSpc>
              <a:buFontTx/>
              <a:buNone/>
            </a:pPr>
            <a:r>
              <a:rPr lang="en-US" sz="2200" dirty="0"/>
              <a:t>	{</a:t>
            </a:r>
          </a:p>
          <a:p>
            <a:pPr algn="just">
              <a:lnSpc>
                <a:spcPct val="95000"/>
              </a:lnSpc>
              <a:buFontTx/>
              <a:buNone/>
            </a:pPr>
            <a:r>
              <a:rPr lang="en-US" sz="2200" dirty="0"/>
              <a:t>		…</a:t>
            </a:r>
          </a:p>
          <a:p>
            <a:pPr algn="just">
              <a:lnSpc>
                <a:spcPct val="95000"/>
              </a:lnSpc>
              <a:buFontTx/>
              <a:buNone/>
            </a:pPr>
            <a:r>
              <a:rPr lang="en-US" sz="2200" dirty="0"/>
              <a:t>	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410445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 dirty="0" err="1"/>
              <a:t>Khi</a:t>
            </a:r>
            <a:r>
              <a:rPr lang="en-US" sz="2200" dirty="0"/>
              <a:t> DoubleClick </a:t>
            </a:r>
            <a:r>
              <a:rPr lang="en-US" sz="2200" dirty="0" err="1"/>
              <a:t>sẽ</a:t>
            </a:r>
            <a:r>
              <a:rPr lang="en-US" sz="2200" dirty="0"/>
              <a:t> </a:t>
            </a:r>
            <a:r>
              <a:rPr lang="en-US" sz="2200" dirty="0" err="1"/>
              <a:t>phát</a:t>
            </a:r>
            <a:r>
              <a:rPr lang="en-US" sz="2200" dirty="0"/>
              <a:t> </a:t>
            </a:r>
            <a:r>
              <a:rPr lang="en-US" sz="2200" dirty="0" err="1"/>
              <a:t>sinh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dãy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sự</a:t>
            </a:r>
            <a:r>
              <a:rPr lang="en-US" sz="2200" dirty="0"/>
              <a:t> </a:t>
            </a:r>
            <a:r>
              <a:rPr lang="en-US" sz="2200" dirty="0" err="1"/>
              <a:t>kiện</a:t>
            </a:r>
            <a:r>
              <a:rPr lang="en-US" sz="2200" dirty="0"/>
              <a:t> </a:t>
            </a:r>
            <a:r>
              <a:rPr lang="en-US" sz="2200" dirty="0" err="1"/>
              <a:t>sau</a:t>
            </a:r>
            <a:r>
              <a:rPr lang="en-US" sz="2200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sz="2200" dirty="0" err="1"/>
              <a:t>MouseDown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Click</a:t>
            </a:r>
          </a:p>
          <a:p>
            <a:pPr lvl="1">
              <a:lnSpc>
                <a:spcPct val="90000"/>
              </a:lnSpc>
            </a:pPr>
            <a:r>
              <a:rPr lang="en-US" sz="2200" dirty="0" err="1"/>
              <a:t>MouseUp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 err="1"/>
              <a:t>MouseMove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 err="1"/>
              <a:t>MouseDown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DoubleClick</a:t>
            </a:r>
          </a:p>
          <a:p>
            <a:pPr lvl="1">
              <a:lnSpc>
                <a:spcPct val="90000"/>
              </a:lnSpc>
            </a:pPr>
            <a:r>
              <a:rPr lang="en-US" sz="2200" dirty="0" err="1"/>
              <a:t>MouseUp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 err="1"/>
              <a:t>MouseMove</a:t>
            </a:r>
            <a:endParaRPr lang="en-US" sz="22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dirty="0"/>
              <a:t>	</a:t>
            </a:r>
          </a:p>
          <a:p>
            <a:pPr algn="just"/>
            <a:endParaRPr lang="en-US" sz="2200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Sự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kiện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DoubleClick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4797152"/>
            <a:ext cx="7013458" cy="158812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200" dirty="0">
                <a:solidFill>
                  <a:srgbClr val="0000FF"/>
                </a:solidFill>
              </a:rPr>
              <a:t>protected override void</a:t>
            </a:r>
            <a:r>
              <a:rPr lang="en-US" sz="2200" dirty="0"/>
              <a:t> </a:t>
            </a:r>
            <a:r>
              <a:rPr lang="en-US" sz="2200" dirty="0" err="1"/>
              <a:t>OnDoubleClick</a:t>
            </a:r>
            <a:r>
              <a:rPr lang="en-US" sz="2200" dirty="0"/>
              <a:t>(</a:t>
            </a:r>
            <a:r>
              <a:rPr lang="en-US" sz="2200" b="1" dirty="0" err="1"/>
              <a:t>EventArgs</a:t>
            </a:r>
            <a:r>
              <a:rPr lang="en-US" sz="2200" dirty="0"/>
              <a:t> </a:t>
            </a:r>
            <a:r>
              <a:rPr lang="en-US" sz="2200" dirty="0" err="1"/>
              <a:t>ea</a:t>
            </a:r>
            <a:r>
              <a:rPr lang="en-US" sz="2200" dirty="0"/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dirty="0"/>
              <a:t>	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dirty="0"/>
              <a:t>		…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dirty="0"/>
              <a:t>	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Bài tập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000250"/>
            <a:ext cx="3372966" cy="3372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r>
              <a:rPr lang="en-US" dirty="0"/>
              <a:t>Multitasking</a:t>
            </a:r>
          </a:p>
          <a:p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endParaRPr lang="en-US" dirty="0"/>
          </a:p>
          <a:p>
            <a:r>
              <a:rPr lang="en-US" dirty="0" err="1"/>
              <a:t>Autosave</a:t>
            </a:r>
            <a:endParaRPr lang="en-US" dirty="0"/>
          </a:p>
          <a:p>
            <a:r>
              <a:rPr lang="en-US" dirty="0"/>
              <a:t>Demo version</a:t>
            </a:r>
          </a:p>
          <a:p>
            <a:r>
              <a:rPr lang="en-US" dirty="0"/>
              <a:t>Game</a:t>
            </a:r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256584"/>
          </a:xfrm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en-US" sz="2800"/>
              <a:t>Theo lý thuyết thông điệp thời gian do Windows cung cấp là chính xác đến mili giây nhưng thực tế không hoàn toàn như vậy. </a:t>
            </a:r>
          </a:p>
          <a:p>
            <a:pPr algn="just">
              <a:lnSpc>
                <a:spcPct val="120000"/>
              </a:lnSpc>
            </a:pPr>
            <a:r>
              <a:rPr lang="en-US" sz="2800"/>
              <a:t>Sự chính xác còn phụ thuộc vào đồng hồ của hệ thống và các hoạt động hiện thời của chương trình. </a:t>
            </a:r>
          </a:p>
          <a:p>
            <a:pPr algn="just"/>
            <a:endParaRPr lang="en-US" sz="280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Xử lý sự kiện Timer</a:t>
            </a:r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2304256"/>
          </a:xfrm>
        </p:spPr>
        <p:txBody>
          <a:bodyPr/>
          <a:lstStyle/>
          <a:p>
            <a:pPr algn="just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b="1" i="1" dirty="0"/>
              <a:t>Timer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constructor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algn="just">
              <a:buFontTx/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6699"/>
                </a:solidFill>
              </a:rPr>
              <a:t>Timer </a:t>
            </a:r>
            <a:r>
              <a:rPr lang="en-US" dirty="0" err="1">
                <a:solidFill>
                  <a:srgbClr val="006699"/>
                </a:solidFill>
              </a:rPr>
              <a:t>timer</a:t>
            </a:r>
            <a:r>
              <a:rPr lang="en-US" dirty="0">
                <a:solidFill>
                  <a:srgbClr val="006699"/>
                </a:solidFill>
              </a:rPr>
              <a:t> = new Timer();</a:t>
            </a:r>
          </a:p>
          <a:p>
            <a:pPr algn="just"/>
            <a:r>
              <a:rPr lang="en-US" b="1" i="1" dirty="0"/>
              <a:t>Timer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:</a:t>
            </a:r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Lớp Timer</a:t>
            </a:r>
          </a:p>
        </p:txBody>
      </p:sp>
      <p:graphicFrame>
        <p:nvGraphicFramePr>
          <p:cNvPr id="4" name="Group 37"/>
          <p:cNvGraphicFramePr>
            <a:graphicFrameLocks/>
          </p:cNvGraphicFramePr>
          <p:nvPr/>
        </p:nvGraphicFramePr>
        <p:xfrm>
          <a:off x="900113" y="3789363"/>
          <a:ext cx="7632700" cy="190500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Timer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Event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Event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Method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Delegate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Argument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Tick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OnTick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EventHandler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EventArgs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4032448"/>
          </a:xfrm>
        </p:spPr>
        <p:txBody>
          <a:bodyPr/>
          <a:lstStyle/>
          <a:p>
            <a:r>
              <a:rPr lang="en-US" sz="2800" dirty="0" err="1"/>
              <a:t>Chúng</a:t>
            </a:r>
            <a:r>
              <a:rPr lang="en-US" sz="2800" dirty="0"/>
              <a:t> ta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nghĩa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timer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sau</a:t>
            </a:r>
            <a:r>
              <a:rPr lang="en-US" sz="2800" dirty="0"/>
              <a:t>:</a:t>
            </a:r>
          </a:p>
          <a:p>
            <a:pPr>
              <a:buFontTx/>
              <a:buNone/>
            </a:pPr>
            <a:r>
              <a:rPr lang="en-US" sz="2800" dirty="0">
                <a:solidFill>
                  <a:srgbClr val="006699"/>
                </a:solidFill>
              </a:rPr>
              <a:t>	</a:t>
            </a:r>
            <a:r>
              <a:rPr lang="en-US" sz="2400" dirty="0"/>
              <a:t>void </a:t>
            </a:r>
            <a:r>
              <a:rPr lang="en-US" sz="2400" dirty="0" err="1"/>
              <a:t>TimerOnTick</a:t>
            </a:r>
            <a:r>
              <a:rPr lang="en-US" sz="2400" dirty="0"/>
              <a:t>(object </a:t>
            </a:r>
            <a:r>
              <a:rPr lang="en-US" sz="2400" dirty="0" err="1"/>
              <a:t>obj</a:t>
            </a:r>
            <a:r>
              <a:rPr lang="en-US" sz="2400" dirty="0"/>
              <a:t>, </a:t>
            </a:r>
            <a:r>
              <a:rPr lang="en-US" sz="2400" dirty="0" err="1"/>
              <a:t>EventArgs</a:t>
            </a:r>
            <a:r>
              <a:rPr lang="en-US" sz="2400" dirty="0"/>
              <a:t> </a:t>
            </a:r>
            <a:r>
              <a:rPr lang="en-US" sz="2400" dirty="0" err="1"/>
              <a:t>ea</a:t>
            </a:r>
            <a:r>
              <a:rPr lang="en-US" sz="2400" dirty="0"/>
              <a:t>)</a:t>
            </a:r>
          </a:p>
          <a:p>
            <a:pPr>
              <a:buFontTx/>
              <a:buNone/>
            </a:pPr>
            <a:r>
              <a:rPr lang="en-US" sz="2400" dirty="0"/>
              <a:t>	{</a:t>
            </a:r>
          </a:p>
          <a:p>
            <a:pPr lvl="1">
              <a:buFontTx/>
              <a:buNone/>
            </a:pPr>
            <a:r>
              <a:rPr lang="en-US" sz="2400" dirty="0"/>
              <a:t>	….</a:t>
            </a:r>
          </a:p>
          <a:p>
            <a:pPr>
              <a:buFontTx/>
              <a:buNone/>
            </a:pPr>
            <a:r>
              <a:rPr lang="en-US" sz="2400" dirty="0"/>
              <a:t>	}</a:t>
            </a:r>
          </a:p>
          <a:p>
            <a:r>
              <a:rPr lang="en-US" sz="2800" dirty="0" err="1"/>
              <a:t>Đăng</a:t>
            </a:r>
            <a:r>
              <a:rPr lang="en-US" sz="2800" dirty="0"/>
              <a:t> </a:t>
            </a:r>
            <a:r>
              <a:rPr lang="en-US" sz="2800" dirty="0" err="1"/>
              <a:t>ký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:</a:t>
            </a:r>
          </a:p>
          <a:p>
            <a:pPr>
              <a:buFontTx/>
              <a:buNone/>
            </a:pPr>
            <a:r>
              <a:rPr lang="en-US" sz="2800" dirty="0"/>
              <a:t>	</a:t>
            </a:r>
            <a:r>
              <a:rPr lang="en-US" sz="2400" dirty="0" err="1"/>
              <a:t>Timer.Tick</a:t>
            </a:r>
            <a:r>
              <a:rPr lang="en-US" sz="2400" dirty="0"/>
              <a:t> += new </a:t>
            </a:r>
            <a:r>
              <a:rPr lang="en-US" sz="2400" dirty="0" err="1"/>
              <a:t>EventHandler</a:t>
            </a:r>
            <a:r>
              <a:rPr lang="en-US" sz="2400" dirty="0"/>
              <a:t>(</a:t>
            </a:r>
            <a:r>
              <a:rPr lang="en-US" sz="2400" dirty="0" err="1"/>
              <a:t>TimerOnTick</a:t>
            </a:r>
            <a:r>
              <a:rPr lang="en-US" sz="2400" dirty="0"/>
              <a:t>)</a:t>
            </a:r>
          </a:p>
          <a:p>
            <a:pPr algn="just"/>
            <a:endParaRPr lang="en-US" dirty="0"/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Lớp Timer</a:t>
            </a:r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792088"/>
          </a:xfrm>
        </p:spPr>
        <p:txBody>
          <a:bodyPr/>
          <a:lstStyle/>
          <a:p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b="1" i="1" dirty="0"/>
              <a:t>Timer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:</a:t>
            </a:r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Lớp Timer</a:t>
            </a:r>
          </a:p>
        </p:txBody>
      </p:sp>
      <p:graphicFrame>
        <p:nvGraphicFramePr>
          <p:cNvPr id="5" name="Group 49"/>
          <p:cNvGraphicFramePr>
            <a:graphicFrameLocks/>
          </p:cNvGraphicFramePr>
          <p:nvPr/>
        </p:nvGraphicFramePr>
        <p:xfrm>
          <a:off x="827088" y="2420938"/>
          <a:ext cx="7786687" cy="3384551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897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Timer Properties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Property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Accessibility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4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Interval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get/set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Tick time in milliseconds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3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bool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Enabled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get/set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Set to 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true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if timer is running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1872208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b="1" i="1" dirty="0"/>
              <a:t>Timer </a:t>
            </a:r>
            <a:r>
              <a:rPr lang="en-US" dirty="0"/>
              <a:t>:</a:t>
            </a:r>
          </a:p>
          <a:p>
            <a:pPr>
              <a:buFontTx/>
              <a:buNone/>
            </a:pPr>
            <a:r>
              <a:rPr lang="en-US" dirty="0"/>
              <a:t>		void Start()</a:t>
            </a:r>
          </a:p>
          <a:p>
            <a:pPr>
              <a:buFontTx/>
              <a:buNone/>
            </a:pPr>
            <a:r>
              <a:rPr lang="en-US" dirty="0"/>
              <a:t>		void Stop()</a:t>
            </a:r>
          </a:p>
        </p:txBody>
      </p:sp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Lớp Timer</a:t>
            </a:r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Lớp Timer (Ví dụ 1)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23528" y="1484908"/>
            <a:ext cx="8496944" cy="48244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5000"/>
              </a:lnSpc>
              <a:buFontTx/>
              <a:buNone/>
            </a:pPr>
            <a:r>
              <a:rPr lang="en-US" sz="2400"/>
              <a:t>using System;</a:t>
            </a:r>
          </a:p>
          <a:p>
            <a:pPr>
              <a:lnSpc>
                <a:spcPct val="95000"/>
              </a:lnSpc>
              <a:buFontTx/>
              <a:buNone/>
            </a:pPr>
            <a:r>
              <a:rPr lang="en-US" sz="2400"/>
              <a:t>using System.Drawing;</a:t>
            </a:r>
          </a:p>
          <a:p>
            <a:pPr>
              <a:lnSpc>
                <a:spcPct val="95000"/>
              </a:lnSpc>
              <a:buFontTx/>
              <a:buNone/>
            </a:pPr>
            <a:r>
              <a:rPr lang="en-US" sz="2400"/>
              <a:t>using System.Windows.Forms;</a:t>
            </a:r>
          </a:p>
          <a:p>
            <a:pPr>
              <a:lnSpc>
                <a:spcPct val="95000"/>
              </a:lnSpc>
              <a:buFontTx/>
              <a:buNone/>
            </a:pPr>
            <a:r>
              <a:rPr lang="en-US" sz="2400"/>
              <a:t>public class CloselnFive: Form</a:t>
            </a:r>
          </a:p>
          <a:p>
            <a:pPr>
              <a:lnSpc>
                <a:spcPct val="95000"/>
              </a:lnSpc>
              <a:buFontTx/>
              <a:buNone/>
            </a:pPr>
            <a:r>
              <a:rPr lang="en-US" sz="2400"/>
              <a:t>{</a:t>
            </a:r>
          </a:p>
          <a:p>
            <a:pPr>
              <a:lnSpc>
                <a:spcPct val="95000"/>
              </a:lnSpc>
              <a:buFontTx/>
              <a:buNone/>
            </a:pPr>
            <a:r>
              <a:rPr lang="en-US" sz="2400"/>
              <a:t>		public static void Main() </a:t>
            </a:r>
          </a:p>
          <a:p>
            <a:pPr>
              <a:lnSpc>
                <a:spcPct val="95000"/>
              </a:lnSpc>
              <a:buFontTx/>
              <a:buNone/>
            </a:pPr>
            <a:r>
              <a:rPr lang="en-US" sz="2400"/>
              <a:t>		{</a:t>
            </a:r>
          </a:p>
          <a:p>
            <a:pPr>
              <a:lnSpc>
                <a:spcPct val="95000"/>
              </a:lnSpc>
              <a:buFontTx/>
              <a:buNone/>
            </a:pPr>
            <a:r>
              <a:rPr lang="en-US" sz="2400"/>
              <a:t>			Application.Run(new CloselnFive()); </a:t>
            </a:r>
          </a:p>
          <a:p>
            <a:pPr>
              <a:lnSpc>
                <a:spcPct val="95000"/>
              </a:lnSpc>
              <a:buFontTx/>
              <a:buNone/>
            </a:pPr>
            <a:r>
              <a:rPr lang="en-US" sz="2400"/>
              <a:t>		}</a:t>
            </a:r>
          </a:p>
          <a:p>
            <a:pPr>
              <a:lnSpc>
                <a:spcPct val="95000"/>
              </a:lnSpc>
              <a:buFontTx/>
              <a:buNone/>
            </a:pPr>
            <a:r>
              <a:rPr lang="en-US" sz="2400"/>
              <a:t>		//………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Lớp Timer (Ví dụ 1)</a:t>
            </a:r>
          </a:p>
        </p:txBody>
      </p:sp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142844" y="1340567"/>
            <a:ext cx="8749636" cy="537688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public class CloselnFive: Form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{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public CloselnFive(){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	Text = "Closing in Five Minutes";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	Timer timer    = new Timer();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	timer.Interval = 5 * 60 * 1000;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	timer.Tick += new EventHandler(TimerOnTick);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	timer.Enabled  = true;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void TimerOnTick(object obj, EventArgs ea){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	Timer timer = (Timer) obj;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	timer.Stop();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	timer.Tick -= new EventHandler(TimerOnTick);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	Close () 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	}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Lớp Timer (Ví dụ 2)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23528" y="1428884"/>
            <a:ext cx="8496944" cy="502445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using System;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using System.Drawing;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using System.Windows.Forms;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class RandomRectangle: Form{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public static void Main(){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Application.Run(new RandomRectangle());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public RandomRectangle(){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Text = "Random Rectangle";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Timer timer    = new Timer();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timer.Interval = 1;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timer.Tick    += new EventHandler(TimerOnTick);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	timer.Start();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/>
              <a:t>	//………</a:t>
            </a:r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 txBox="1"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b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Lớp Timer (Ví dụ 2)</a:t>
            </a:r>
          </a:p>
        </p:txBody>
      </p:sp>
      <p:sp>
        <p:nvSpPr>
          <p:cNvPr id="5" name="Rectangle 9"/>
          <p:cNvSpPr txBox="1">
            <a:spLocks noChangeArrowheads="1"/>
          </p:cNvSpPr>
          <p:nvPr/>
        </p:nvSpPr>
        <p:spPr bwMode="auto">
          <a:xfrm>
            <a:off x="323528" y="1413023"/>
            <a:ext cx="8568952" cy="50403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void </a:t>
            </a:r>
            <a:r>
              <a:rPr lang="en-US" sz="2000" dirty="0" err="1"/>
              <a:t>TimerOnTick</a:t>
            </a:r>
            <a:r>
              <a:rPr lang="en-US" sz="2000" dirty="0"/>
              <a:t>(object </a:t>
            </a:r>
            <a:r>
              <a:rPr lang="en-US" sz="2000" dirty="0" err="1"/>
              <a:t>obj</a:t>
            </a:r>
            <a:r>
              <a:rPr lang="en-US" sz="2000" dirty="0"/>
              <a:t>, </a:t>
            </a:r>
            <a:r>
              <a:rPr lang="en-US" sz="2000" dirty="0" err="1"/>
              <a:t>EventArgs</a:t>
            </a:r>
            <a:r>
              <a:rPr lang="en-US" sz="2000" dirty="0"/>
              <a:t> </a:t>
            </a:r>
            <a:r>
              <a:rPr lang="en-US" sz="2000" dirty="0" err="1"/>
              <a:t>ea</a:t>
            </a:r>
            <a:r>
              <a:rPr lang="en-US" sz="2000" dirty="0"/>
              <a:t>)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Random rand = new Random();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</a:t>
            </a:r>
            <a:r>
              <a:rPr lang="en-US" sz="2000" dirty="0" err="1"/>
              <a:t>int</a:t>
            </a:r>
            <a:r>
              <a:rPr lang="en-US" sz="2000" dirty="0"/>
              <a:t> x1 = </a:t>
            </a:r>
            <a:r>
              <a:rPr lang="en-US" sz="2000" dirty="0" err="1"/>
              <a:t>rand.Next</a:t>
            </a:r>
            <a:r>
              <a:rPr lang="en-US" sz="2000" dirty="0"/>
              <a:t>(</a:t>
            </a:r>
            <a:r>
              <a:rPr lang="en-US" sz="2000" dirty="0" err="1"/>
              <a:t>ClientSize.Width</a:t>
            </a:r>
            <a:r>
              <a:rPr lang="en-US" sz="2000" dirty="0"/>
              <a:t>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</a:t>
            </a:r>
            <a:r>
              <a:rPr lang="en-US" sz="2000" dirty="0" err="1"/>
              <a:t>int</a:t>
            </a:r>
            <a:r>
              <a:rPr lang="en-US" sz="2000" dirty="0"/>
              <a:t> x2 = </a:t>
            </a:r>
            <a:r>
              <a:rPr lang="en-US" sz="2000" dirty="0" err="1"/>
              <a:t>rand.Next</a:t>
            </a:r>
            <a:r>
              <a:rPr lang="en-US" sz="2000" dirty="0"/>
              <a:t>(</a:t>
            </a:r>
            <a:r>
              <a:rPr lang="en-US" sz="2000" dirty="0" err="1"/>
              <a:t>ClientSize.Width</a:t>
            </a:r>
            <a:r>
              <a:rPr lang="en-US" sz="2000" dirty="0"/>
              <a:t>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</a:t>
            </a:r>
            <a:r>
              <a:rPr lang="en-US" sz="2000" dirty="0" err="1"/>
              <a:t>int</a:t>
            </a:r>
            <a:r>
              <a:rPr lang="en-US" sz="2000" dirty="0"/>
              <a:t> y1 =	</a:t>
            </a:r>
            <a:r>
              <a:rPr lang="en-US" sz="2000" dirty="0" err="1"/>
              <a:t>rand.Next</a:t>
            </a:r>
            <a:r>
              <a:rPr lang="en-US" sz="2000" dirty="0"/>
              <a:t>(</a:t>
            </a:r>
            <a:r>
              <a:rPr lang="en-US" sz="2000" dirty="0" err="1"/>
              <a:t>ClientSize.Height</a:t>
            </a:r>
            <a:r>
              <a:rPr lang="en-US" sz="2000" dirty="0"/>
              <a:t>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</a:t>
            </a:r>
            <a:r>
              <a:rPr lang="en-US" sz="2000" dirty="0" err="1"/>
              <a:t>int</a:t>
            </a:r>
            <a:r>
              <a:rPr lang="en-US" sz="2000" dirty="0"/>
              <a:t> y2 = </a:t>
            </a:r>
            <a:r>
              <a:rPr lang="en-US" sz="2000" dirty="0" err="1"/>
              <a:t>rand.Next</a:t>
            </a:r>
            <a:r>
              <a:rPr lang="en-US" sz="2000" dirty="0"/>
              <a:t>(</a:t>
            </a:r>
            <a:r>
              <a:rPr lang="en-US" sz="2000" dirty="0" err="1"/>
              <a:t>ClientSize.Height</a:t>
            </a:r>
            <a:r>
              <a:rPr lang="en-US" sz="2000" dirty="0"/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Color </a:t>
            </a:r>
            <a:r>
              <a:rPr lang="en-US" sz="2000" dirty="0" err="1"/>
              <a:t>color</a:t>
            </a:r>
            <a:r>
              <a:rPr lang="en-US" sz="2000" dirty="0"/>
              <a:t> = </a:t>
            </a:r>
            <a:r>
              <a:rPr lang="en-US" sz="2000" dirty="0" err="1"/>
              <a:t>Color.FromArgb</a:t>
            </a:r>
            <a:r>
              <a:rPr lang="en-US" sz="2000" dirty="0"/>
              <a:t>(</a:t>
            </a:r>
            <a:r>
              <a:rPr lang="en-US" sz="2000" dirty="0" err="1"/>
              <a:t>rand.Next</a:t>
            </a:r>
            <a:r>
              <a:rPr lang="en-US" sz="2000" dirty="0"/>
              <a:t>(256), 				</a:t>
            </a:r>
            <a:r>
              <a:rPr lang="en-US" sz="2000" dirty="0" err="1"/>
              <a:t>rand.Next</a:t>
            </a:r>
            <a:r>
              <a:rPr lang="en-US" sz="2000" dirty="0"/>
              <a:t>(256), </a:t>
            </a:r>
            <a:r>
              <a:rPr lang="en-US" sz="2000" dirty="0" err="1"/>
              <a:t>rand.Next</a:t>
            </a:r>
            <a:r>
              <a:rPr lang="en-US" sz="2000" dirty="0"/>
              <a:t>(256));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Graphics </a:t>
            </a:r>
            <a:r>
              <a:rPr lang="en-US" sz="2000" dirty="0" err="1"/>
              <a:t>grfx</a:t>
            </a:r>
            <a:r>
              <a:rPr lang="en-US" sz="2000" dirty="0"/>
              <a:t> = </a:t>
            </a:r>
            <a:r>
              <a:rPr lang="en-US" sz="2000" dirty="0" err="1"/>
              <a:t>CreateGraphics</a:t>
            </a:r>
            <a:r>
              <a:rPr lang="en-US" sz="2000" dirty="0"/>
              <a:t>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</a:t>
            </a:r>
            <a:r>
              <a:rPr lang="en-US" sz="2000" dirty="0" err="1"/>
              <a:t>grfx.FillRectangle</a:t>
            </a:r>
            <a:r>
              <a:rPr lang="en-US" sz="2000" dirty="0"/>
              <a:t>(new </a:t>
            </a:r>
            <a:r>
              <a:rPr lang="en-US" sz="2000" dirty="0" err="1"/>
              <a:t>SolidBrush</a:t>
            </a:r>
            <a:r>
              <a:rPr lang="en-US" sz="2000" dirty="0"/>
              <a:t>(color), </a:t>
            </a:r>
            <a:r>
              <a:rPr lang="en-US" sz="2000" dirty="0" err="1"/>
              <a:t>Math.Min</a:t>
            </a:r>
            <a:r>
              <a:rPr lang="en-US" sz="2000" dirty="0"/>
              <a:t>(x1, x2), 			</a:t>
            </a:r>
            <a:r>
              <a:rPr lang="en-US" sz="2000" dirty="0" err="1"/>
              <a:t>Math.Min</a:t>
            </a:r>
            <a:r>
              <a:rPr lang="en-US" sz="2000" dirty="0"/>
              <a:t>(y1, y2), </a:t>
            </a:r>
            <a:r>
              <a:rPr lang="en-US" sz="2000" dirty="0" err="1"/>
              <a:t>Math.Abs</a:t>
            </a:r>
            <a:r>
              <a:rPr lang="en-US" sz="2000" dirty="0"/>
              <a:t>(x2-x1), </a:t>
            </a:r>
            <a:r>
              <a:rPr lang="en-US" sz="2000" dirty="0" err="1"/>
              <a:t>Math.Abs</a:t>
            </a:r>
            <a:r>
              <a:rPr lang="en-US" sz="2000" dirty="0"/>
              <a:t>(y2-y1) 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	</a:t>
            </a:r>
            <a:r>
              <a:rPr lang="en-US" sz="2000" dirty="0" err="1"/>
              <a:t>grfx.Dispose</a:t>
            </a:r>
            <a:r>
              <a:rPr lang="en-US" sz="2000" dirty="0"/>
              <a:t>() 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	}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3978412"/>
      </p:ext>
    </p:extLst>
  </p:cSld>
  <p:clrMapOvr>
    <a:masterClrMapping/>
  </p:clrMapOvr>
</p:sld>
</file>

<file path=ppt/theme/theme1.xml><?xml version="1.0" encoding="utf-8"?>
<a:theme xmlns:a="http://schemas.openxmlformats.org/drawingml/2006/main" name="teach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teach</Template>
  <TotalTime>8593</TotalTime>
  <Words>2933</Words>
  <Application>Microsoft Macintosh PowerPoint</Application>
  <PresentationFormat>On-screen Show (4:3)</PresentationFormat>
  <Paragraphs>547</Paragraphs>
  <Slides>49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Times New Roman</vt:lpstr>
      <vt:lpstr>teach</vt:lpstr>
      <vt:lpstr>PowerPoint Presentation</vt:lpstr>
      <vt:lpstr>Nội dung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Phuoc Binh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Thi Vuong</dc:creator>
  <cp:lastModifiedBy>Mai Trọng Khang</cp:lastModifiedBy>
  <cp:revision>96</cp:revision>
  <dcterms:created xsi:type="dcterms:W3CDTF">2007-04-07T06:57:48Z</dcterms:created>
  <dcterms:modified xsi:type="dcterms:W3CDTF">2025-10-12T05:13:11Z</dcterms:modified>
</cp:coreProperties>
</file>