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x="18288000" cy="10287000"/>
  <p:notesSz cx="6858000" cy="9144000"/>
  <p:embeddedFontLst>
    <p:embeddedFont>
      <p:font typeface="Bungee" charset="1" panose="00000000000000000000"/>
      <p:regular r:id="rId40"/>
    </p:embeddedFont>
    <p:embeddedFont>
      <p:font typeface="Cabin" charset="1" panose="00000500000000000000"/>
      <p:regular r:id="rId41"/>
    </p:embeddedFont>
    <p:embeddedFont>
      <p:font typeface="Cabin Bold" charset="1" panose="00000800000000000000"/>
      <p:regular r:id="rId42"/>
    </p:embeddedFont>
    <p:embeddedFont>
      <p:font typeface="Poppins Bold" charset="1" panose="00000800000000000000"/>
      <p:regular r:id="rId43"/>
    </p:embeddedFont>
    <p:embeddedFont>
      <p:font typeface="Poppins" charset="1" panose="00000500000000000000"/>
      <p:regular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.png" Type="http://schemas.openxmlformats.org/officeDocument/2006/relationships/image"/><Relationship Id="rId11" Target="../media/image2.svg" Type="http://schemas.openxmlformats.org/officeDocument/2006/relationships/image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svg" Type="http://schemas.openxmlformats.org/officeDocument/2006/relationships/image"/><Relationship Id="rId12" Target="../media/image1.png" Type="http://schemas.openxmlformats.org/officeDocument/2006/relationships/image"/><Relationship Id="rId13" Target="../media/image2.svg" Type="http://schemas.openxmlformats.org/officeDocument/2006/relationships/image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Relationship Id="rId8" Target="../media/image32.png" Type="http://schemas.openxmlformats.org/officeDocument/2006/relationships/image"/><Relationship Id="rId9" Target="../media/image3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svg" Type="http://schemas.openxmlformats.org/officeDocument/2006/relationships/image"/><Relationship Id="rId12" Target="../media/image1.png" Type="http://schemas.openxmlformats.org/officeDocument/2006/relationships/image"/><Relationship Id="rId13" Target="../media/image2.svg" Type="http://schemas.openxmlformats.org/officeDocument/2006/relationships/image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Relationship Id="rId8" Target="../media/image32.png" Type="http://schemas.openxmlformats.org/officeDocument/2006/relationships/image"/><Relationship Id="rId9" Target="../media/image3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svg" Type="http://schemas.openxmlformats.org/officeDocument/2006/relationships/image"/><Relationship Id="rId12" Target="../media/image1.png" Type="http://schemas.openxmlformats.org/officeDocument/2006/relationships/image"/><Relationship Id="rId13" Target="../media/image2.svg" Type="http://schemas.openxmlformats.org/officeDocument/2006/relationships/image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Relationship Id="rId8" Target="../media/image32.png" Type="http://schemas.openxmlformats.org/officeDocument/2006/relationships/image"/><Relationship Id="rId9" Target="../media/image33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svg" Type="http://schemas.openxmlformats.org/officeDocument/2006/relationships/image"/><Relationship Id="rId4" Target="../media/image40.png" Type="http://schemas.openxmlformats.org/officeDocument/2006/relationships/image"/><Relationship Id="rId5" Target="../media/image41.svg" Type="http://schemas.openxmlformats.org/officeDocument/2006/relationships/image"/><Relationship Id="rId6" Target="../media/image42.png" Type="http://schemas.openxmlformats.org/officeDocument/2006/relationships/image"/><Relationship Id="rId7" Target="../media/image43.sv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6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svg" Type="http://schemas.openxmlformats.org/officeDocument/2006/relationships/image"/><Relationship Id="rId4" Target="../media/image40.png" Type="http://schemas.openxmlformats.org/officeDocument/2006/relationships/image"/><Relationship Id="rId5" Target="../media/image41.svg" Type="http://schemas.openxmlformats.org/officeDocument/2006/relationships/image"/><Relationship Id="rId6" Target="../media/image42.png" Type="http://schemas.openxmlformats.org/officeDocument/2006/relationships/image"/><Relationship Id="rId7" Target="../media/image43.sv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svg" Type="http://schemas.openxmlformats.org/officeDocument/2006/relationships/image"/><Relationship Id="rId12" Target="../media/image1.png" Type="http://schemas.openxmlformats.org/officeDocument/2006/relationships/image"/><Relationship Id="rId13" Target="../media/image2.svg" Type="http://schemas.openxmlformats.org/officeDocument/2006/relationships/image"/><Relationship Id="rId14" Target="../media/image47.png" Type="http://schemas.openxmlformats.org/officeDocument/2006/relationships/image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Relationship Id="rId8" Target="../media/image32.png" Type="http://schemas.openxmlformats.org/officeDocument/2006/relationships/image"/><Relationship Id="rId9" Target="../media/image33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svg" Type="http://schemas.openxmlformats.org/officeDocument/2006/relationships/image"/><Relationship Id="rId12" Target="../media/image1.png" Type="http://schemas.openxmlformats.org/officeDocument/2006/relationships/image"/><Relationship Id="rId13" Target="../media/image2.svg" Type="http://schemas.openxmlformats.org/officeDocument/2006/relationships/image"/><Relationship Id="rId14" Target="../media/image48.png" Type="http://schemas.openxmlformats.org/officeDocument/2006/relationships/image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Relationship Id="rId8" Target="../media/image32.png" Type="http://schemas.openxmlformats.org/officeDocument/2006/relationships/image"/><Relationship Id="rId9" Target="../media/image33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svg" Type="http://schemas.openxmlformats.org/officeDocument/2006/relationships/image"/><Relationship Id="rId12" Target="../media/image1.png" Type="http://schemas.openxmlformats.org/officeDocument/2006/relationships/image"/><Relationship Id="rId13" Target="../media/image2.svg" Type="http://schemas.openxmlformats.org/officeDocument/2006/relationships/image"/><Relationship Id="rId14" Target="../media/image49.png" Type="http://schemas.openxmlformats.org/officeDocument/2006/relationships/image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Relationship Id="rId8" Target="../media/image32.png" Type="http://schemas.openxmlformats.org/officeDocument/2006/relationships/image"/><Relationship Id="rId9" Target="../media/image33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png" Type="http://schemas.openxmlformats.org/officeDocument/2006/relationships/image"/><Relationship Id="rId3" Target="../media/image51.svg" Type="http://schemas.openxmlformats.org/officeDocument/2006/relationships/image"/><Relationship Id="rId4" Target="../media/image52.png" Type="http://schemas.openxmlformats.org/officeDocument/2006/relationships/image"/><Relationship Id="rId5" Target="../media/image53.svg" Type="http://schemas.openxmlformats.org/officeDocument/2006/relationships/image"/><Relationship Id="rId6" Target="../media/image54.png" Type="http://schemas.openxmlformats.org/officeDocument/2006/relationships/image"/><Relationship Id="rId7" Target="../media/image55.sv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6.png" Type="http://schemas.openxmlformats.org/officeDocument/2006/relationships/image"/><Relationship Id="rId5" Target="../media/image57.png" Type="http://schemas.openxmlformats.org/officeDocument/2006/relationships/image"/><Relationship Id="rId6" Target="../media/image58.png" Type="http://schemas.openxmlformats.org/officeDocument/2006/relationships/image"/><Relationship Id="rId7" Target="../media/image59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.png" Type="http://schemas.openxmlformats.org/officeDocument/2006/relationships/image"/><Relationship Id="rId11" Target="../media/image2.svg" Type="http://schemas.openxmlformats.org/officeDocument/2006/relationships/image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svg" Type="http://schemas.openxmlformats.org/officeDocument/2006/relationships/image"/><Relationship Id="rId12" Target="../media/image1.png" Type="http://schemas.openxmlformats.org/officeDocument/2006/relationships/image"/><Relationship Id="rId13" Target="../media/image2.svg" Type="http://schemas.openxmlformats.org/officeDocument/2006/relationships/image"/><Relationship Id="rId14" Target="../media/image60.png" Type="http://schemas.openxmlformats.org/officeDocument/2006/relationships/image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Relationship Id="rId8" Target="../media/image32.png" Type="http://schemas.openxmlformats.org/officeDocument/2006/relationships/image"/><Relationship Id="rId9" Target="../media/image33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png" Type="http://schemas.openxmlformats.org/officeDocument/2006/relationships/image"/><Relationship Id="rId3" Target="../media/image51.svg" Type="http://schemas.openxmlformats.org/officeDocument/2006/relationships/image"/><Relationship Id="rId4" Target="../media/image52.png" Type="http://schemas.openxmlformats.org/officeDocument/2006/relationships/image"/><Relationship Id="rId5" Target="../media/image53.svg" Type="http://schemas.openxmlformats.org/officeDocument/2006/relationships/image"/><Relationship Id="rId6" Target="../media/image54.png" Type="http://schemas.openxmlformats.org/officeDocument/2006/relationships/image"/><Relationship Id="rId7" Target="../media/image55.sv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png" Type="http://schemas.openxmlformats.org/officeDocument/2006/relationships/image"/><Relationship Id="rId3" Target="../media/image51.svg" Type="http://schemas.openxmlformats.org/officeDocument/2006/relationships/image"/><Relationship Id="rId4" Target="../media/image52.png" Type="http://schemas.openxmlformats.org/officeDocument/2006/relationships/image"/><Relationship Id="rId5" Target="../media/image53.svg" Type="http://schemas.openxmlformats.org/officeDocument/2006/relationships/image"/><Relationship Id="rId6" Target="../media/image54.png" Type="http://schemas.openxmlformats.org/officeDocument/2006/relationships/image"/><Relationship Id="rId7" Target="../media/image55.sv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Relationship Id="rId3" Target="../media/image53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svg" Type="http://schemas.openxmlformats.org/officeDocument/2006/relationships/image"/><Relationship Id="rId4" Target="../media/image40.png" Type="http://schemas.openxmlformats.org/officeDocument/2006/relationships/image"/><Relationship Id="rId5" Target="../media/image41.svg" Type="http://schemas.openxmlformats.org/officeDocument/2006/relationships/image"/><Relationship Id="rId6" Target="../media/image42.png" Type="http://schemas.openxmlformats.org/officeDocument/2006/relationships/image"/><Relationship Id="rId7" Target="../media/image43.sv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1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13448" y="1978812"/>
            <a:ext cx="15061103" cy="471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9999" spc="-349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Mô hình hóa Quy trình CI/CD của DevOPs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721856" y="1152859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8" y="0"/>
                </a:lnTo>
                <a:lnTo>
                  <a:pt x="613688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4974949" y="4791937"/>
            <a:ext cx="3721264" cy="1867398"/>
          </a:xfrm>
          <a:custGeom>
            <a:avLst/>
            <a:gdLst/>
            <a:ahLst/>
            <a:cxnLst/>
            <a:rect r="r" b="b" t="t" l="l"/>
            <a:pathLst>
              <a:path h="1867398" w="3721264">
                <a:moveTo>
                  <a:pt x="0" y="0"/>
                </a:moveTo>
                <a:lnTo>
                  <a:pt x="3721264" y="0"/>
                </a:lnTo>
                <a:lnTo>
                  <a:pt x="3721264" y="1867398"/>
                </a:lnTo>
                <a:lnTo>
                  <a:pt x="0" y="18673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251282" y="6167431"/>
            <a:ext cx="6051521" cy="3828962"/>
          </a:xfrm>
          <a:custGeom>
            <a:avLst/>
            <a:gdLst/>
            <a:ahLst/>
            <a:cxnLst/>
            <a:rect r="r" b="b" t="t" l="l"/>
            <a:pathLst>
              <a:path h="3828962" w="6051521">
                <a:moveTo>
                  <a:pt x="0" y="0"/>
                </a:moveTo>
                <a:lnTo>
                  <a:pt x="6051520" y="0"/>
                </a:lnTo>
                <a:lnTo>
                  <a:pt x="6051520" y="3828962"/>
                </a:lnTo>
                <a:lnTo>
                  <a:pt x="0" y="38289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943534" y="6853628"/>
            <a:ext cx="10400931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spc="1116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GVHD: NGUYỄN CÔNG HOAN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69216" y="1093377"/>
            <a:ext cx="2474318" cy="46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SE101.Q23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102689" y="1130920"/>
            <a:ext cx="1465785" cy="36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sz="2461" spc="-12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Group 7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835581" y="9134475"/>
            <a:ext cx="492224" cy="605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6"/>
              </a:lnSpc>
              <a:spcBef>
                <a:spcPct val="0"/>
              </a:spcBef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13448" y="1997862"/>
            <a:ext cx="15061103" cy="1535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10"/>
              </a:lnSpc>
            </a:pPr>
            <a:r>
              <a:rPr lang="en-US" sz="9000" spc="-31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DANH SÁCH THÀNH VIÊN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721856" y="1152859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8" y="0"/>
                </a:lnTo>
                <a:lnTo>
                  <a:pt x="613688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5579242" y="3144897"/>
            <a:ext cx="3721264" cy="1867398"/>
          </a:xfrm>
          <a:custGeom>
            <a:avLst/>
            <a:gdLst/>
            <a:ahLst/>
            <a:cxnLst/>
            <a:rect r="r" b="b" t="t" l="l"/>
            <a:pathLst>
              <a:path h="1867398" w="3721264">
                <a:moveTo>
                  <a:pt x="0" y="0"/>
                </a:moveTo>
                <a:lnTo>
                  <a:pt x="3721264" y="0"/>
                </a:lnTo>
                <a:lnTo>
                  <a:pt x="3721264" y="1867398"/>
                </a:lnTo>
                <a:lnTo>
                  <a:pt x="0" y="18673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107986" y="6458038"/>
            <a:ext cx="6051521" cy="3828962"/>
          </a:xfrm>
          <a:custGeom>
            <a:avLst/>
            <a:gdLst/>
            <a:ahLst/>
            <a:cxnLst/>
            <a:rect r="r" b="b" t="t" l="l"/>
            <a:pathLst>
              <a:path h="3828962" w="6051521">
                <a:moveTo>
                  <a:pt x="0" y="0"/>
                </a:moveTo>
                <a:lnTo>
                  <a:pt x="6051520" y="0"/>
                </a:lnTo>
                <a:lnTo>
                  <a:pt x="6051520" y="3828962"/>
                </a:lnTo>
                <a:lnTo>
                  <a:pt x="0" y="38289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69216" y="1093377"/>
            <a:ext cx="2474318" cy="46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SE101.Q23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102689" y="1130920"/>
            <a:ext cx="1465785" cy="36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sz="2461" spc="-12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Group 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14789" y="4400195"/>
            <a:ext cx="14458422" cy="3496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67"/>
              </a:lnSpc>
            </a:pPr>
            <a:r>
              <a:rPr lang="en-US" sz="4834" spc="812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Bùi Đức ANh - 24520083</a:t>
            </a:r>
          </a:p>
          <a:p>
            <a:pPr algn="ctr">
              <a:lnSpc>
                <a:spcPts val="6767"/>
              </a:lnSpc>
            </a:pPr>
            <a:r>
              <a:rPr lang="en-US" sz="4834" spc="812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TRẦN NHẬT DUY - 24520403</a:t>
            </a:r>
          </a:p>
          <a:p>
            <a:pPr algn="ctr">
              <a:lnSpc>
                <a:spcPts val="6767"/>
              </a:lnSpc>
            </a:pPr>
            <a:r>
              <a:rPr lang="en-US" sz="4834" spc="812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Nguyễn Đại Hưng - 24520601</a:t>
            </a:r>
          </a:p>
          <a:p>
            <a:pPr algn="ctr">
              <a:lnSpc>
                <a:spcPts val="6767"/>
              </a:lnSpc>
            </a:pPr>
            <a:r>
              <a:rPr lang="en-US" sz="4834" spc="812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Châu Văn Phong - 24521327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827941" y="9134475"/>
            <a:ext cx="507504" cy="605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6"/>
              </a:lnSpc>
              <a:spcBef>
                <a:spcPct val="0"/>
              </a:spcBef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67030" y="1946428"/>
            <a:ext cx="5899931" cy="6568749"/>
          </a:xfrm>
          <a:custGeom>
            <a:avLst/>
            <a:gdLst/>
            <a:ahLst/>
            <a:cxnLst/>
            <a:rect r="r" b="b" t="t" l="l"/>
            <a:pathLst>
              <a:path h="6568749" w="5899931">
                <a:moveTo>
                  <a:pt x="0" y="0"/>
                </a:moveTo>
                <a:lnTo>
                  <a:pt x="5899931" y="0"/>
                </a:lnTo>
                <a:lnTo>
                  <a:pt x="5899931" y="6568748"/>
                </a:lnTo>
                <a:lnTo>
                  <a:pt x="0" y="65687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707704" y="2824743"/>
            <a:ext cx="2226367" cy="2498984"/>
          </a:xfrm>
          <a:custGeom>
            <a:avLst/>
            <a:gdLst/>
            <a:ahLst/>
            <a:cxnLst/>
            <a:rect r="r" b="b" t="t" l="l"/>
            <a:pathLst>
              <a:path h="2498984" w="2226367">
                <a:moveTo>
                  <a:pt x="0" y="0"/>
                </a:moveTo>
                <a:lnTo>
                  <a:pt x="2226367" y="0"/>
                </a:lnTo>
                <a:lnTo>
                  <a:pt x="2226367" y="2498984"/>
                </a:lnTo>
                <a:lnTo>
                  <a:pt x="0" y="24989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35544" y="3649265"/>
            <a:ext cx="7307054" cy="2524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42"/>
              </a:lnSpc>
            </a:pPr>
            <a:r>
              <a:rPr lang="en-US" sz="7851" spc="-274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 1. tổng quan Devops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067381" y="6384559"/>
            <a:ext cx="2509990" cy="2468918"/>
          </a:xfrm>
          <a:custGeom>
            <a:avLst/>
            <a:gdLst/>
            <a:ahLst/>
            <a:cxnLst/>
            <a:rect r="r" b="b" t="t" l="l"/>
            <a:pathLst>
              <a:path h="2468918" w="2509990">
                <a:moveTo>
                  <a:pt x="0" y="0"/>
                </a:moveTo>
                <a:lnTo>
                  <a:pt x="2509990" y="0"/>
                </a:lnTo>
                <a:lnTo>
                  <a:pt x="2509990" y="2468918"/>
                </a:lnTo>
                <a:lnTo>
                  <a:pt x="0" y="24689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21856" y="1152859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8" y="0"/>
                </a:lnTo>
                <a:lnTo>
                  <a:pt x="613688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469216" y="1093377"/>
            <a:ext cx="2474318" cy="46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SE101.Q23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102689" y="1130920"/>
            <a:ext cx="1465785" cy="36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sz="2461" spc="-12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Group 7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24084" y="6475729"/>
            <a:ext cx="8642946" cy="68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spc="450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TẠI SAO DEVOPS LẠI RA ĐỜI?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829380" y="9134475"/>
            <a:ext cx="504627" cy="605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6"/>
              </a:lnSpc>
              <a:spcBef>
                <a:spcPct val="0"/>
              </a:spcBef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21856" y="1152859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8" y="0"/>
                </a:lnTo>
                <a:lnTo>
                  <a:pt x="613688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7779967" y="3935800"/>
            <a:ext cx="9301726" cy="5213893"/>
          </a:xfrm>
          <a:custGeom>
            <a:avLst/>
            <a:gdLst/>
            <a:ahLst/>
            <a:cxnLst/>
            <a:rect r="r" b="b" t="t" l="l"/>
            <a:pathLst>
              <a:path h="5213893" w="9301726">
                <a:moveTo>
                  <a:pt x="0" y="0"/>
                </a:moveTo>
                <a:lnTo>
                  <a:pt x="9301726" y="0"/>
                </a:lnTo>
                <a:lnTo>
                  <a:pt x="9301726" y="5213892"/>
                </a:lnTo>
                <a:lnTo>
                  <a:pt x="0" y="52138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542" t="0" r="-1542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90059" y="3935800"/>
            <a:ext cx="6300190" cy="5665584"/>
          </a:xfrm>
          <a:custGeom>
            <a:avLst/>
            <a:gdLst/>
            <a:ahLst/>
            <a:cxnLst/>
            <a:rect r="r" b="b" t="t" l="l"/>
            <a:pathLst>
              <a:path h="5665584" w="6300190">
                <a:moveTo>
                  <a:pt x="0" y="0"/>
                </a:moveTo>
                <a:lnTo>
                  <a:pt x="6300190" y="0"/>
                </a:lnTo>
                <a:lnTo>
                  <a:pt x="6300190" y="5665584"/>
                </a:lnTo>
                <a:lnTo>
                  <a:pt x="0" y="56655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3409" t="0" r="-23409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21856" y="2115494"/>
            <a:ext cx="16537444" cy="1218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09"/>
              </a:lnSpc>
            </a:pPr>
            <a:r>
              <a:rPr lang="en-US" sz="7151" spc="-250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QUY trình phát triển phần mềm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69216" y="1093377"/>
            <a:ext cx="2474318" cy="46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SE101.Q23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102689" y="1130920"/>
            <a:ext cx="1465785" cy="36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sz="2461" spc="-12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Group 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813902" y="9134475"/>
            <a:ext cx="535583" cy="605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6"/>
              </a:lnSpc>
              <a:spcBef>
                <a:spcPct val="0"/>
              </a:spcBef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21856" y="1152859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8" y="0"/>
                </a:lnTo>
                <a:lnTo>
                  <a:pt x="613688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799627" y="3787936"/>
            <a:ext cx="16688746" cy="5882783"/>
          </a:xfrm>
          <a:custGeom>
            <a:avLst/>
            <a:gdLst/>
            <a:ahLst/>
            <a:cxnLst/>
            <a:rect r="r" b="b" t="t" l="l"/>
            <a:pathLst>
              <a:path h="5882783" w="16688746">
                <a:moveTo>
                  <a:pt x="0" y="0"/>
                </a:moveTo>
                <a:lnTo>
                  <a:pt x="16688746" y="0"/>
                </a:lnTo>
                <a:lnTo>
                  <a:pt x="16688746" y="5882782"/>
                </a:lnTo>
                <a:lnTo>
                  <a:pt x="0" y="58827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21856" y="2115494"/>
            <a:ext cx="16537444" cy="1218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09"/>
              </a:lnSpc>
            </a:pPr>
            <a:r>
              <a:rPr lang="en-US" sz="7151" spc="-250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phát triển phần mềm kiểu silo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69216" y="1093377"/>
            <a:ext cx="2474318" cy="46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SE101.Q23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02689" y="1130920"/>
            <a:ext cx="1465785" cy="36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sz="2461" spc="-12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Group 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826354" y="9134475"/>
            <a:ext cx="510679" cy="605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6"/>
              </a:lnSpc>
              <a:spcBef>
                <a:spcPct val="0"/>
              </a:spcBef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21856" y="1152859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8" y="0"/>
                </a:lnTo>
                <a:lnTo>
                  <a:pt x="613688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280831" y="2872627"/>
            <a:ext cx="13726338" cy="7086905"/>
          </a:xfrm>
          <a:custGeom>
            <a:avLst/>
            <a:gdLst/>
            <a:ahLst/>
            <a:cxnLst/>
            <a:rect r="r" b="b" t="t" l="l"/>
            <a:pathLst>
              <a:path h="7086905" w="13726338">
                <a:moveTo>
                  <a:pt x="0" y="0"/>
                </a:moveTo>
                <a:lnTo>
                  <a:pt x="13726338" y="0"/>
                </a:lnTo>
                <a:lnTo>
                  <a:pt x="13726338" y="7086905"/>
                </a:lnTo>
                <a:lnTo>
                  <a:pt x="0" y="7086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0526" r="0" b="-10526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21856" y="1653870"/>
            <a:ext cx="16537444" cy="1218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09"/>
              </a:lnSpc>
            </a:pPr>
            <a:r>
              <a:rPr lang="en-US" sz="7151" spc="-250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DEV VS OPS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69216" y="1093377"/>
            <a:ext cx="2474318" cy="46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SE101.Q23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02689" y="1130920"/>
            <a:ext cx="1465785" cy="36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sz="2461" spc="-12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Group 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817126" y="9134475"/>
            <a:ext cx="529134" cy="605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6"/>
              </a:lnSpc>
              <a:spcBef>
                <a:spcPct val="0"/>
              </a:spcBef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21856" y="1152859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8" y="0"/>
                </a:lnTo>
                <a:lnTo>
                  <a:pt x="613688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721856" y="1653870"/>
            <a:ext cx="16537444" cy="1218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09"/>
              </a:lnSpc>
            </a:pPr>
            <a:r>
              <a:rPr lang="en-US" sz="7151" spc="-250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DEVOPS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9216" y="1093377"/>
            <a:ext cx="2474318" cy="46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SE101.Q23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102689" y="1130920"/>
            <a:ext cx="1465785" cy="36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sz="2461" spc="-12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Group 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21856" y="3351377"/>
            <a:ext cx="17259300" cy="534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6120"/>
              </a:lnSpc>
              <a:buFont typeface="Arial"/>
              <a:buChar char="•"/>
            </a:pPr>
            <a:r>
              <a:rPr lang="en-US" sz="3600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Sự kết hợp của “Development” (Phát triển) và “Operations” (Vận hành).</a:t>
            </a:r>
          </a:p>
          <a:p>
            <a:pPr algn="l" marL="777240" indent="-388620" lvl="1">
              <a:lnSpc>
                <a:spcPts val="6120"/>
              </a:lnSpc>
              <a:buFont typeface="Arial"/>
              <a:buChar char="•"/>
            </a:pPr>
            <a:r>
              <a:rPr lang="en-US" b="true" sz="3600">
                <a:solidFill>
                  <a:srgbClr val="FFFFFF">
                    <a:alpha val="71765"/>
                  </a:srgbClr>
                </a:solidFill>
                <a:latin typeface="Cabin Bold"/>
                <a:ea typeface="Cabin Bold"/>
                <a:cs typeface="Cabin Bold"/>
                <a:sym typeface="Cabin Bold"/>
              </a:rPr>
              <a:t>Triết lý văn hóa.</a:t>
            </a:r>
          </a:p>
          <a:p>
            <a:pPr algn="l" marL="777240" indent="-388620" lvl="1">
              <a:lnSpc>
                <a:spcPts val="6120"/>
              </a:lnSpc>
              <a:buFont typeface="Arial"/>
              <a:buChar char="•"/>
            </a:pPr>
            <a:r>
              <a:rPr lang="en-US" b="true" sz="3600">
                <a:solidFill>
                  <a:srgbClr val="FFFFFF">
                    <a:alpha val="71765"/>
                  </a:srgbClr>
                </a:solidFill>
                <a:latin typeface="Cabin Bold"/>
                <a:ea typeface="Cabin Bold"/>
                <a:cs typeface="Cabin Bold"/>
                <a:sym typeface="Cabin Bold"/>
              </a:rPr>
              <a:t>Tự động hóa toàn diện.</a:t>
            </a:r>
          </a:p>
          <a:p>
            <a:pPr algn="l" marL="777240" indent="-388620" lvl="1">
              <a:lnSpc>
                <a:spcPts val="6120"/>
              </a:lnSpc>
              <a:buFont typeface="Arial"/>
              <a:buChar char="•"/>
            </a:pPr>
            <a:r>
              <a:rPr lang="en-US" sz="3600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Mục tiêu:</a:t>
            </a:r>
          </a:p>
          <a:p>
            <a:pPr algn="l" marL="1554480" indent="-518160" lvl="2">
              <a:lnSpc>
                <a:spcPts val="6120"/>
              </a:lnSpc>
              <a:buFont typeface="Arial"/>
              <a:buChar char="⚬"/>
            </a:pPr>
            <a:r>
              <a:rPr lang="en-US" sz="3600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Rút ngắn chu kỳ phát triển và tăng tần suất phát hành tính năng mới</a:t>
            </a:r>
          </a:p>
          <a:p>
            <a:pPr algn="l" marL="1554480" indent="-518160" lvl="2">
              <a:lnSpc>
                <a:spcPts val="6120"/>
              </a:lnSpc>
              <a:buFont typeface="Arial"/>
              <a:buChar char="⚬"/>
            </a:pPr>
            <a:r>
              <a:rPr lang="en-US" sz="3600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Đảm bảo</a:t>
            </a:r>
            <a:r>
              <a:rPr lang="en-US" sz="3600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 chất lượng phần mềm cao nhất.</a:t>
            </a:r>
          </a:p>
          <a:p>
            <a:pPr algn="l" marL="1554480" indent="-518160" lvl="2">
              <a:lnSpc>
                <a:spcPts val="6120"/>
              </a:lnSpc>
              <a:spcBef>
                <a:spcPct val="0"/>
              </a:spcBef>
              <a:buFont typeface="Arial"/>
              <a:buChar char="⚬"/>
            </a:pPr>
            <a:r>
              <a:rPr lang="en-US" sz="3600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Loại</a:t>
            </a:r>
            <a:r>
              <a:rPr lang="en-US" sz="3600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 bỏ sự cô lập giữa các bộ phận.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830372" y="9134475"/>
            <a:ext cx="502642" cy="605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6"/>
              </a:lnSpc>
              <a:spcBef>
                <a:spcPct val="0"/>
              </a:spcBef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62992" y="1901819"/>
            <a:ext cx="2624512" cy="4233084"/>
          </a:xfrm>
          <a:custGeom>
            <a:avLst/>
            <a:gdLst/>
            <a:ahLst/>
            <a:cxnLst/>
            <a:rect r="r" b="b" t="t" l="l"/>
            <a:pathLst>
              <a:path h="4233084" w="2624512">
                <a:moveTo>
                  <a:pt x="0" y="0"/>
                </a:moveTo>
                <a:lnTo>
                  <a:pt x="2624512" y="0"/>
                </a:lnTo>
                <a:lnTo>
                  <a:pt x="2624512" y="4233084"/>
                </a:lnTo>
                <a:lnTo>
                  <a:pt x="0" y="42330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795159" y="2201377"/>
            <a:ext cx="2624512" cy="4233084"/>
          </a:xfrm>
          <a:custGeom>
            <a:avLst/>
            <a:gdLst/>
            <a:ahLst/>
            <a:cxnLst/>
            <a:rect r="r" b="b" t="t" l="l"/>
            <a:pathLst>
              <a:path h="4233084" w="2624512">
                <a:moveTo>
                  <a:pt x="0" y="0"/>
                </a:moveTo>
                <a:lnTo>
                  <a:pt x="2624512" y="0"/>
                </a:lnTo>
                <a:lnTo>
                  <a:pt x="2624512" y="4233084"/>
                </a:lnTo>
                <a:lnTo>
                  <a:pt x="0" y="42330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107415" y="4578234"/>
            <a:ext cx="2624512" cy="4233084"/>
          </a:xfrm>
          <a:custGeom>
            <a:avLst/>
            <a:gdLst/>
            <a:ahLst/>
            <a:cxnLst/>
            <a:rect r="r" b="b" t="t" l="l"/>
            <a:pathLst>
              <a:path h="4233084" w="2624512">
                <a:moveTo>
                  <a:pt x="0" y="0"/>
                </a:moveTo>
                <a:lnTo>
                  <a:pt x="2624512" y="0"/>
                </a:lnTo>
                <a:lnTo>
                  <a:pt x="2624512" y="4233084"/>
                </a:lnTo>
                <a:lnTo>
                  <a:pt x="0" y="42330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13417" y="5042826"/>
            <a:ext cx="2036403" cy="3303898"/>
          </a:xfrm>
          <a:custGeom>
            <a:avLst/>
            <a:gdLst/>
            <a:ahLst/>
            <a:cxnLst/>
            <a:rect r="r" b="b" t="t" l="l"/>
            <a:pathLst>
              <a:path h="3303898" w="2036403">
                <a:moveTo>
                  <a:pt x="0" y="0"/>
                </a:moveTo>
                <a:lnTo>
                  <a:pt x="2036403" y="0"/>
                </a:lnTo>
                <a:lnTo>
                  <a:pt x="2036403" y="3303899"/>
                </a:lnTo>
                <a:lnTo>
                  <a:pt x="0" y="33038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466648" y="3109283"/>
            <a:ext cx="9186145" cy="1343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19"/>
              </a:lnSpc>
            </a:pPr>
            <a:r>
              <a:rPr lang="en-US" sz="7831" spc="-274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2. CI/CD LÀ GÌ?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88248" y="4845664"/>
            <a:ext cx="6026285" cy="1327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450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TÌM HIỂU RÕ TỪNG KHÁI NIỆM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21856" y="1152859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8" y="0"/>
                </a:lnTo>
                <a:lnTo>
                  <a:pt x="613688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469216" y="1093377"/>
            <a:ext cx="2474318" cy="46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SE101.Q23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102689" y="1130920"/>
            <a:ext cx="1465785" cy="36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sz="2461" spc="-12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Group 7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817126" y="9134475"/>
            <a:ext cx="529134" cy="605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6"/>
              </a:lnSpc>
              <a:spcBef>
                <a:spcPct val="0"/>
              </a:spcBef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09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21856" y="1152859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8" y="0"/>
                </a:lnTo>
                <a:lnTo>
                  <a:pt x="613688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005073" y="2987563"/>
            <a:ext cx="7322732" cy="6279243"/>
          </a:xfrm>
          <a:custGeom>
            <a:avLst/>
            <a:gdLst/>
            <a:ahLst/>
            <a:cxnLst/>
            <a:rect r="r" b="b" t="t" l="l"/>
            <a:pathLst>
              <a:path h="6279243" w="7322732">
                <a:moveTo>
                  <a:pt x="0" y="0"/>
                </a:moveTo>
                <a:lnTo>
                  <a:pt x="7322732" y="0"/>
                </a:lnTo>
                <a:lnTo>
                  <a:pt x="7322732" y="6279243"/>
                </a:lnTo>
                <a:lnTo>
                  <a:pt x="0" y="62792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938234"/>
            <a:ext cx="12379819" cy="263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5"/>
              </a:lnSpc>
            </a:pPr>
            <a:r>
              <a:rPr lang="en-US" sz="5551" spc="-194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CI — Continuous Integration (Tích hợp liên tục)</a:t>
            </a:r>
          </a:p>
          <a:p>
            <a:pPr algn="l">
              <a:lnSpc>
                <a:spcPts val="6605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721856" y="4344341"/>
            <a:ext cx="8500198" cy="4123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4104"/>
              </a:lnSpc>
              <a:buFont typeface="Arial"/>
              <a:buChar char="•"/>
            </a:pPr>
            <a:r>
              <a:rPr lang="en-US" sz="3600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Quá trình liên tục kiểm tra và hợp nhất mã nguồn mới .</a:t>
            </a:r>
          </a:p>
          <a:p>
            <a:pPr algn="l">
              <a:lnSpc>
                <a:spcPts val="4104"/>
              </a:lnSpc>
            </a:pPr>
          </a:p>
          <a:p>
            <a:pPr algn="l" marL="777240" indent="-388620" lvl="1">
              <a:lnSpc>
                <a:spcPts val="4104"/>
              </a:lnSpc>
              <a:buFont typeface="Arial"/>
              <a:buChar char="•"/>
            </a:pPr>
            <a:r>
              <a:rPr lang="en-US" sz="3600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Mục tiêu: Phát hiện sai sót ngay lập tức.</a:t>
            </a:r>
          </a:p>
          <a:p>
            <a:pPr algn="l">
              <a:lnSpc>
                <a:spcPts val="4104"/>
              </a:lnSpc>
            </a:pPr>
          </a:p>
          <a:p>
            <a:pPr algn="l" marL="777240" indent="-388620" lvl="1">
              <a:lnSpc>
                <a:spcPts val="4104"/>
              </a:lnSpc>
              <a:buFont typeface="Arial"/>
              <a:buChar char="•"/>
            </a:pPr>
            <a:r>
              <a:rPr lang="en-US" sz="3600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Cơ chế: Hệ thống tự động kích hoạt (trigger) các bài kiểm tra ngay khi lập trình viên thực hiện commit/push code.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69216" y="1093377"/>
            <a:ext cx="2474318" cy="46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SE101.Q23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102689" y="1130920"/>
            <a:ext cx="1465785" cy="36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sz="2461" spc="-12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Group 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835581" y="9190606"/>
            <a:ext cx="492224" cy="605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6"/>
              </a:lnSpc>
              <a:spcBef>
                <a:spcPct val="0"/>
              </a:spcBef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21856" y="1152859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8" y="0"/>
                </a:lnTo>
                <a:lnTo>
                  <a:pt x="613688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1791376"/>
            <a:ext cx="8423760" cy="7223374"/>
          </a:xfrm>
          <a:custGeom>
            <a:avLst/>
            <a:gdLst/>
            <a:ahLst/>
            <a:cxnLst/>
            <a:rect r="r" b="b" t="t" l="l"/>
            <a:pathLst>
              <a:path h="7223374" w="8423760">
                <a:moveTo>
                  <a:pt x="0" y="0"/>
                </a:moveTo>
                <a:lnTo>
                  <a:pt x="8423760" y="0"/>
                </a:lnTo>
                <a:lnTo>
                  <a:pt x="8423760" y="7223374"/>
                </a:lnTo>
                <a:lnTo>
                  <a:pt x="0" y="72233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176963"/>
            <a:ext cx="12379819" cy="179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5"/>
              </a:lnSpc>
            </a:pPr>
            <a:r>
              <a:rPr lang="en-US" sz="5551" spc="-194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Lợi ích của ci</a:t>
            </a:r>
          </a:p>
          <a:p>
            <a:pPr algn="l">
              <a:lnSpc>
                <a:spcPts val="6605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643802" y="4502334"/>
            <a:ext cx="8500198" cy="2897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4608"/>
              </a:lnSpc>
              <a:buFont typeface="Arial"/>
              <a:buChar char="•"/>
            </a:pPr>
            <a:r>
              <a:rPr lang="en-US" sz="3600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Phát hiện &amp; Sửa lỗi sớm.</a:t>
            </a:r>
          </a:p>
          <a:p>
            <a:pPr algn="l">
              <a:lnSpc>
                <a:spcPts val="4608"/>
              </a:lnSpc>
            </a:pPr>
          </a:p>
          <a:p>
            <a:pPr algn="l" marL="777240" indent="-388620" lvl="1">
              <a:lnSpc>
                <a:spcPts val="4608"/>
              </a:lnSpc>
              <a:buFont typeface="Arial"/>
              <a:buChar char="•"/>
            </a:pPr>
            <a:r>
              <a:rPr lang="en-US" sz="3600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Tăng cường minh bạch.</a:t>
            </a:r>
          </a:p>
          <a:p>
            <a:pPr algn="l">
              <a:lnSpc>
                <a:spcPts val="4608"/>
              </a:lnSpc>
            </a:pPr>
          </a:p>
          <a:p>
            <a:pPr algn="l" marL="777240" indent="-388620" lvl="1">
              <a:lnSpc>
                <a:spcPts val="4608"/>
              </a:lnSpc>
              <a:buFont typeface="Arial"/>
              <a:buChar char="•"/>
            </a:pPr>
            <a:r>
              <a:rPr lang="en-US" sz="3600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Giảm thiểu rủi ro tích hợp.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69216" y="1093377"/>
            <a:ext cx="2474318" cy="46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SE101.Q23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102689" y="1130920"/>
            <a:ext cx="1465785" cy="36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sz="2461" spc="-12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Group 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860882" y="9190606"/>
            <a:ext cx="441623" cy="605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6"/>
              </a:lnSpc>
              <a:spcBef>
                <a:spcPct val="0"/>
              </a:spcBef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07884" y="2104189"/>
            <a:ext cx="2402757" cy="3496075"/>
          </a:xfrm>
          <a:custGeom>
            <a:avLst/>
            <a:gdLst/>
            <a:ahLst/>
            <a:cxnLst/>
            <a:rect r="r" b="b" t="t" l="l"/>
            <a:pathLst>
              <a:path h="3496075" w="2402757">
                <a:moveTo>
                  <a:pt x="0" y="0"/>
                </a:moveTo>
                <a:lnTo>
                  <a:pt x="2402757" y="0"/>
                </a:lnTo>
                <a:lnTo>
                  <a:pt x="2402757" y="3496075"/>
                </a:lnTo>
                <a:lnTo>
                  <a:pt x="0" y="3496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9216" y="3042698"/>
            <a:ext cx="2858935" cy="4343685"/>
          </a:xfrm>
          <a:custGeom>
            <a:avLst/>
            <a:gdLst/>
            <a:ahLst/>
            <a:cxnLst/>
            <a:rect r="r" b="b" t="t" l="l"/>
            <a:pathLst>
              <a:path h="4343685" w="2858935">
                <a:moveTo>
                  <a:pt x="0" y="0"/>
                </a:moveTo>
                <a:lnTo>
                  <a:pt x="2858935" y="0"/>
                </a:lnTo>
                <a:lnTo>
                  <a:pt x="2858935" y="4343685"/>
                </a:lnTo>
                <a:lnTo>
                  <a:pt x="0" y="43436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581310" y="4745286"/>
            <a:ext cx="3174839" cy="4343685"/>
          </a:xfrm>
          <a:custGeom>
            <a:avLst/>
            <a:gdLst/>
            <a:ahLst/>
            <a:cxnLst/>
            <a:rect r="r" b="b" t="t" l="l"/>
            <a:pathLst>
              <a:path h="4343685" w="3174839">
                <a:moveTo>
                  <a:pt x="0" y="0"/>
                </a:moveTo>
                <a:lnTo>
                  <a:pt x="3174839" y="0"/>
                </a:lnTo>
                <a:lnTo>
                  <a:pt x="3174839" y="4343685"/>
                </a:lnTo>
                <a:lnTo>
                  <a:pt x="0" y="43436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215554" y="5050901"/>
            <a:ext cx="1906350" cy="3074758"/>
          </a:xfrm>
          <a:custGeom>
            <a:avLst/>
            <a:gdLst/>
            <a:ahLst/>
            <a:cxnLst/>
            <a:rect r="r" b="b" t="t" l="l"/>
            <a:pathLst>
              <a:path h="3074758" w="1906350">
                <a:moveTo>
                  <a:pt x="0" y="0"/>
                </a:moveTo>
                <a:lnTo>
                  <a:pt x="1906350" y="0"/>
                </a:lnTo>
                <a:lnTo>
                  <a:pt x="1906350" y="3074759"/>
                </a:lnTo>
                <a:lnTo>
                  <a:pt x="0" y="3074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98959" y="2104189"/>
            <a:ext cx="1799450" cy="2618248"/>
          </a:xfrm>
          <a:custGeom>
            <a:avLst/>
            <a:gdLst/>
            <a:ahLst/>
            <a:cxnLst/>
            <a:rect r="r" b="b" t="t" l="l"/>
            <a:pathLst>
              <a:path h="2618248" w="1799450">
                <a:moveTo>
                  <a:pt x="0" y="0"/>
                </a:moveTo>
                <a:lnTo>
                  <a:pt x="1799450" y="0"/>
                </a:lnTo>
                <a:lnTo>
                  <a:pt x="1799450" y="2618248"/>
                </a:lnTo>
                <a:lnTo>
                  <a:pt x="0" y="26182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567813" y="1740392"/>
            <a:ext cx="7307054" cy="2635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4"/>
              </a:lnSpc>
            </a:pPr>
            <a:r>
              <a:rPr lang="en-US" sz="5550" spc="-194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Khái niệm chung về  CD</a:t>
            </a:r>
          </a:p>
          <a:p>
            <a:pPr algn="l">
              <a:lnSpc>
                <a:spcPts val="6604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8567813" y="4573836"/>
            <a:ext cx="7267862" cy="302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20"/>
              </a:lnSpc>
              <a:spcBef>
                <a:spcPct val="0"/>
              </a:spcBef>
            </a:pPr>
            <a:r>
              <a:rPr lang="en-US" sz="3600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Quá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 trình 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đưa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mã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 ng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uồ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n từ môi trường phát t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r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i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ể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n đến tay người 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dù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n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g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c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u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ố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i 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thô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n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g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q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u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a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các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hệ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 th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ống như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w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ebsite 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hoặ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c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ứ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ng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 dụng di động.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721856" y="1152859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8" y="0"/>
                </a:lnTo>
                <a:lnTo>
                  <a:pt x="613688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469216" y="1093377"/>
            <a:ext cx="2474318" cy="46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SE101.Q23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102689" y="1130920"/>
            <a:ext cx="1465785" cy="36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sz="2461" spc="-12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Group 7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853212" y="9134475"/>
            <a:ext cx="456962" cy="605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6"/>
              </a:lnSpc>
              <a:spcBef>
                <a:spcPct val="0"/>
              </a:spcBef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07884" y="2104189"/>
            <a:ext cx="2402757" cy="3496075"/>
          </a:xfrm>
          <a:custGeom>
            <a:avLst/>
            <a:gdLst/>
            <a:ahLst/>
            <a:cxnLst/>
            <a:rect r="r" b="b" t="t" l="l"/>
            <a:pathLst>
              <a:path h="3496075" w="2402757">
                <a:moveTo>
                  <a:pt x="0" y="0"/>
                </a:moveTo>
                <a:lnTo>
                  <a:pt x="2402757" y="0"/>
                </a:lnTo>
                <a:lnTo>
                  <a:pt x="2402757" y="3496075"/>
                </a:lnTo>
                <a:lnTo>
                  <a:pt x="0" y="3496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9216" y="3042698"/>
            <a:ext cx="2858935" cy="4343685"/>
          </a:xfrm>
          <a:custGeom>
            <a:avLst/>
            <a:gdLst/>
            <a:ahLst/>
            <a:cxnLst/>
            <a:rect r="r" b="b" t="t" l="l"/>
            <a:pathLst>
              <a:path h="4343685" w="2858935">
                <a:moveTo>
                  <a:pt x="0" y="0"/>
                </a:moveTo>
                <a:lnTo>
                  <a:pt x="2858935" y="0"/>
                </a:lnTo>
                <a:lnTo>
                  <a:pt x="2858935" y="4343685"/>
                </a:lnTo>
                <a:lnTo>
                  <a:pt x="0" y="43436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581310" y="4745286"/>
            <a:ext cx="3174839" cy="4343685"/>
          </a:xfrm>
          <a:custGeom>
            <a:avLst/>
            <a:gdLst/>
            <a:ahLst/>
            <a:cxnLst/>
            <a:rect r="r" b="b" t="t" l="l"/>
            <a:pathLst>
              <a:path h="4343685" w="3174839">
                <a:moveTo>
                  <a:pt x="0" y="0"/>
                </a:moveTo>
                <a:lnTo>
                  <a:pt x="3174839" y="0"/>
                </a:lnTo>
                <a:lnTo>
                  <a:pt x="3174839" y="4343685"/>
                </a:lnTo>
                <a:lnTo>
                  <a:pt x="0" y="43436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215554" y="5050901"/>
            <a:ext cx="1906350" cy="3074758"/>
          </a:xfrm>
          <a:custGeom>
            <a:avLst/>
            <a:gdLst/>
            <a:ahLst/>
            <a:cxnLst/>
            <a:rect r="r" b="b" t="t" l="l"/>
            <a:pathLst>
              <a:path h="3074758" w="1906350">
                <a:moveTo>
                  <a:pt x="0" y="0"/>
                </a:moveTo>
                <a:lnTo>
                  <a:pt x="1906350" y="0"/>
                </a:lnTo>
                <a:lnTo>
                  <a:pt x="1906350" y="3074759"/>
                </a:lnTo>
                <a:lnTo>
                  <a:pt x="0" y="3074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98959" y="2104189"/>
            <a:ext cx="1799450" cy="2618248"/>
          </a:xfrm>
          <a:custGeom>
            <a:avLst/>
            <a:gdLst/>
            <a:ahLst/>
            <a:cxnLst/>
            <a:rect r="r" b="b" t="t" l="l"/>
            <a:pathLst>
              <a:path h="2618248" w="1799450">
                <a:moveTo>
                  <a:pt x="0" y="0"/>
                </a:moveTo>
                <a:lnTo>
                  <a:pt x="1799450" y="0"/>
                </a:lnTo>
                <a:lnTo>
                  <a:pt x="1799450" y="2618248"/>
                </a:lnTo>
                <a:lnTo>
                  <a:pt x="0" y="26182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567813" y="1740392"/>
            <a:ext cx="7307054" cy="3474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4"/>
              </a:lnSpc>
            </a:pPr>
            <a:r>
              <a:rPr lang="en-US" sz="5550" spc="-194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CD — Continuous Delivery (Phân phối liên tục)</a:t>
            </a:r>
          </a:p>
          <a:p>
            <a:pPr algn="l">
              <a:lnSpc>
                <a:spcPts val="6604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8567813" y="4669086"/>
            <a:ext cx="8267768" cy="5224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184"/>
              </a:lnSpc>
              <a:buFont typeface="Arial"/>
              <a:buChar char="•"/>
            </a:pPr>
            <a:r>
              <a:rPr lang="en-US" sz="3600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Đảm bả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o mã nguồn luôn ở 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trạ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ng 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thá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i sẵn sàng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 để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 triển khai bất cứ lúc nào.</a:t>
            </a:r>
          </a:p>
          <a:p>
            <a:pPr algn="l">
              <a:lnSpc>
                <a:spcPts val="5184"/>
              </a:lnSpc>
            </a:pPr>
          </a:p>
          <a:p>
            <a:pPr algn="l" marL="777240" indent="-388620" lvl="1">
              <a:lnSpc>
                <a:spcPts val="5184"/>
              </a:lnSpc>
              <a:buFont typeface="Arial"/>
              <a:buChar char="•"/>
            </a:pP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Việc đưa mã 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nguồn lên môi trường Production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 cuối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 cùng 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vẫn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 cần s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ự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 can 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th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i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ệp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hoặ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c ph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ê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 d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u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y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ệt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 thủ c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ông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 của con người.</a:t>
            </a:r>
          </a:p>
          <a:p>
            <a:pPr algn="l" marL="0" indent="0" lvl="0">
              <a:lnSpc>
                <a:spcPts val="5184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721856" y="1152859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8" y="0"/>
                </a:lnTo>
                <a:lnTo>
                  <a:pt x="613688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469216" y="1093377"/>
            <a:ext cx="2474318" cy="46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SE101.Q23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102689" y="1130920"/>
            <a:ext cx="1465785" cy="36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sz="2461" spc="-12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Group 7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853629" y="9134475"/>
            <a:ext cx="456128" cy="605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6"/>
              </a:lnSpc>
              <a:spcBef>
                <a:spcPct val="0"/>
              </a:spcBef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07884" y="2104189"/>
            <a:ext cx="2402757" cy="3496075"/>
          </a:xfrm>
          <a:custGeom>
            <a:avLst/>
            <a:gdLst/>
            <a:ahLst/>
            <a:cxnLst/>
            <a:rect r="r" b="b" t="t" l="l"/>
            <a:pathLst>
              <a:path h="3496075" w="2402757">
                <a:moveTo>
                  <a:pt x="0" y="0"/>
                </a:moveTo>
                <a:lnTo>
                  <a:pt x="2402757" y="0"/>
                </a:lnTo>
                <a:lnTo>
                  <a:pt x="2402757" y="3496075"/>
                </a:lnTo>
                <a:lnTo>
                  <a:pt x="0" y="3496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9216" y="3042698"/>
            <a:ext cx="2858935" cy="4343685"/>
          </a:xfrm>
          <a:custGeom>
            <a:avLst/>
            <a:gdLst/>
            <a:ahLst/>
            <a:cxnLst/>
            <a:rect r="r" b="b" t="t" l="l"/>
            <a:pathLst>
              <a:path h="4343685" w="2858935">
                <a:moveTo>
                  <a:pt x="0" y="0"/>
                </a:moveTo>
                <a:lnTo>
                  <a:pt x="2858935" y="0"/>
                </a:lnTo>
                <a:lnTo>
                  <a:pt x="2858935" y="4343685"/>
                </a:lnTo>
                <a:lnTo>
                  <a:pt x="0" y="43436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581310" y="4745286"/>
            <a:ext cx="3174839" cy="4343685"/>
          </a:xfrm>
          <a:custGeom>
            <a:avLst/>
            <a:gdLst/>
            <a:ahLst/>
            <a:cxnLst/>
            <a:rect r="r" b="b" t="t" l="l"/>
            <a:pathLst>
              <a:path h="4343685" w="3174839">
                <a:moveTo>
                  <a:pt x="0" y="0"/>
                </a:moveTo>
                <a:lnTo>
                  <a:pt x="3174839" y="0"/>
                </a:lnTo>
                <a:lnTo>
                  <a:pt x="3174839" y="4343685"/>
                </a:lnTo>
                <a:lnTo>
                  <a:pt x="0" y="43436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215554" y="5050901"/>
            <a:ext cx="1906350" cy="3074758"/>
          </a:xfrm>
          <a:custGeom>
            <a:avLst/>
            <a:gdLst/>
            <a:ahLst/>
            <a:cxnLst/>
            <a:rect r="r" b="b" t="t" l="l"/>
            <a:pathLst>
              <a:path h="3074758" w="1906350">
                <a:moveTo>
                  <a:pt x="0" y="0"/>
                </a:moveTo>
                <a:lnTo>
                  <a:pt x="1906350" y="0"/>
                </a:lnTo>
                <a:lnTo>
                  <a:pt x="1906350" y="3074759"/>
                </a:lnTo>
                <a:lnTo>
                  <a:pt x="0" y="3074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98959" y="2104189"/>
            <a:ext cx="1799450" cy="2618248"/>
          </a:xfrm>
          <a:custGeom>
            <a:avLst/>
            <a:gdLst/>
            <a:ahLst/>
            <a:cxnLst/>
            <a:rect r="r" b="b" t="t" l="l"/>
            <a:pathLst>
              <a:path h="2618248" w="1799450">
                <a:moveTo>
                  <a:pt x="0" y="0"/>
                </a:moveTo>
                <a:lnTo>
                  <a:pt x="1799450" y="0"/>
                </a:lnTo>
                <a:lnTo>
                  <a:pt x="1799450" y="2618248"/>
                </a:lnTo>
                <a:lnTo>
                  <a:pt x="0" y="26182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567813" y="1740392"/>
            <a:ext cx="8267768" cy="2635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4"/>
              </a:lnSpc>
            </a:pPr>
            <a:r>
              <a:rPr lang="en-US" sz="5550" spc="-194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CD — Continuous Deployment (Triển khai liên tục)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97562" y="4659561"/>
            <a:ext cx="8267768" cy="4634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256"/>
              </a:lnSpc>
              <a:buFont typeface="Arial"/>
              <a:buChar char="•"/>
            </a:pPr>
            <a:r>
              <a:rPr lang="en-US" sz="3600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Tự động hóa hoàn t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oàn quy trình đưa mã nguồn lên môi tr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ườ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ng chạy th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ực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 tế.</a:t>
            </a:r>
          </a:p>
          <a:p>
            <a:pPr algn="l">
              <a:lnSpc>
                <a:spcPts val="5256"/>
              </a:lnSpc>
            </a:pPr>
          </a:p>
          <a:p>
            <a:pPr algn="l" marL="777240" indent="-388620" lvl="1">
              <a:lnSpc>
                <a:spcPts val="5256"/>
              </a:lnSpc>
              <a:buFont typeface="Arial"/>
              <a:buChar char="•"/>
            </a:pP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Hệ thống 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tự 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đ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ộng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 triển khai ngay khi mã nguồn vượt qua tất c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ả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 các bài kiểm tra mà kh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ông</a:t>
            </a:r>
            <a:r>
              <a:rPr lang="en-US" sz="3600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 cần phê duyệt thủ công.</a:t>
            </a:r>
          </a:p>
          <a:p>
            <a:pPr algn="l" marL="0" indent="0" lvl="0">
              <a:lnSpc>
                <a:spcPts val="5256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721856" y="1152859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8" y="0"/>
                </a:lnTo>
                <a:lnTo>
                  <a:pt x="613688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469216" y="1093377"/>
            <a:ext cx="2474318" cy="46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SE101.Q23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102689" y="1130920"/>
            <a:ext cx="1465785" cy="36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sz="2461" spc="-12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Group 7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845175" y="9134475"/>
            <a:ext cx="473035" cy="605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6"/>
              </a:lnSpc>
              <a:spcBef>
                <a:spcPct val="0"/>
              </a:spcBef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14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21856" y="1152859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8" y="0"/>
                </a:lnTo>
                <a:lnTo>
                  <a:pt x="613688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821645"/>
            <a:ext cx="16230600" cy="7993571"/>
          </a:xfrm>
          <a:custGeom>
            <a:avLst/>
            <a:gdLst/>
            <a:ahLst/>
            <a:cxnLst/>
            <a:rect r="r" b="b" t="t" l="l"/>
            <a:pathLst>
              <a:path h="7993571" w="16230600">
                <a:moveTo>
                  <a:pt x="0" y="0"/>
                </a:moveTo>
                <a:lnTo>
                  <a:pt x="16230600" y="0"/>
                </a:lnTo>
                <a:lnTo>
                  <a:pt x="16230600" y="7993570"/>
                </a:lnTo>
                <a:lnTo>
                  <a:pt x="0" y="79935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69216" y="1093377"/>
            <a:ext cx="2474318" cy="46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SE101.Q23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102689" y="1130920"/>
            <a:ext cx="1465785" cy="36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sz="2461" spc="-12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Group 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338385" y="9450553"/>
            <a:ext cx="460177" cy="605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6"/>
              </a:lnSpc>
              <a:spcBef>
                <a:spcPct val="0"/>
              </a:spcBef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15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21856" y="1152859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8" y="0"/>
                </a:lnTo>
                <a:lnTo>
                  <a:pt x="613688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11079" y="3895935"/>
            <a:ext cx="17865843" cy="4904357"/>
          </a:xfrm>
          <a:custGeom>
            <a:avLst/>
            <a:gdLst/>
            <a:ahLst/>
            <a:cxnLst/>
            <a:rect r="r" b="b" t="t" l="l"/>
            <a:pathLst>
              <a:path h="4904357" w="17865843">
                <a:moveTo>
                  <a:pt x="0" y="0"/>
                </a:moveTo>
                <a:lnTo>
                  <a:pt x="17865842" y="0"/>
                </a:lnTo>
                <a:lnTo>
                  <a:pt x="17865842" y="4904357"/>
                </a:lnTo>
                <a:lnTo>
                  <a:pt x="0" y="49043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1089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22157" y="1740392"/>
            <a:ext cx="17322205" cy="959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4"/>
              </a:lnSpc>
            </a:pPr>
            <a:r>
              <a:rPr lang="en-US" sz="5550" spc="-194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tổng kết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69216" y="1093377"/>
            <a:ext cx="2474318" cy="46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SE101.Q23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02689" y="1130920"/>
            <a:ext cx="1465785" cy="36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sz="2461" spc="-12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Group 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842377" y="9134475"/>
            <a:ext cx="478631" cy="605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6"/>
              </a:lnSpc>
              <a:spcBef>
                <a:spcPct val="0"/>
              </a:spcBef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16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10346" y="1776366"/>
            <a:ext cx="3306692" cy="4915353"/>
          </a:xfrm>
          <a:custGeom>
            <a:avLst/>
            <a:gdLst/>
            <a:ahLst/>
            <a:cxnLst/>
            <a:rect r="r" b="b" t="t" l="l"/>
            <a:pathLst>
              <a:path h="4915353" w="3306692">
                <a:moveTo>
                  <a:pt x="0" y="0"/>
                </a:moveTo>
                <a:lnTo>
                  <a:pt x="3306692" y="0"/>
                </a:lnTo>
                <a:lnTo>
                  <a:pt x="3306692" y="4915353"/>
                </a:lnTo>
                <a:lnTo>
                  <a:pt x="0" y="4915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648749" y="4269958"/>
            <a:ext cx="2763113" cy="4719604"/>
          </a:xfrm>
          <a:custGeom>
            <a:avLst/>
            <a:gdLst/>
            <a:ahLst/>
            <a:cxnLst/>
            <a:rect r="r" b="b" t="t" l="l"/>
            <a:pathLst>
              <a:path h="4719604" w="2763113">
                <a:moveTo>
                  <a:pt x="0" y="0"/>
                </a:moveTo>
                <a:lnTo>
                  <a:pt x="2763113" y="0"/>
                </a:lnTo>
                <a:lnTo>
                  <a:pt x="2763113" y="4719604"/>
                </a:lnTo>
                <a:lnTo>
                  <a:pt x="0" y="47196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175511" y="5574811"/>
            <a:ext cx="3508802" cy="4114800"/>
          </a:xfrm>
          <a:custGeom>
            <a:avLst/>
            <a:gdLst/>
            <a:ahLst/>
            <a:cxnLst/>
            <a:rect r="r" b="b" t="t" l="l"/>
            <a:pathLst>
              <a:path h="4114800" w="3508802">
                <a:moveTo>
                  <a:pt x="0" y="0"/>
                </a:moveTo>
                <a:lnTo>
                  <a:pt x="3508802" y="0"/>
                </a:lnTo>
                <a:lnTo>
                  <a:pt x="35088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62840" y="3277701"/>
            <a:ext cx="9999605" cy="1343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41"/>
              </a:lnSpc>
            </a:pPr>
            <a:r>
              <a:rPr lang="en-US" sz="7850" spc="-274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 3</a:t>
            </a:r>
            <a:r>
              <a:rPr lang="en-US" sz="7850" spc="-274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. CI/CD PIPELINE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36790" y="4741862"/>
            <a:ext cx="7503312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2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5 GIAI ĐOẠN CỐT LÕI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21856" y="1152859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8" y="0"/>
                </a:lnTo>
                <a:lnTo>
                  <a:pt x="613688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469216" y="1093377"/>
            <a:ext cx="2474318" cy="46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SE101.Q23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102689" y="1130920"/>
            <a:ext cx="1465785" cy="36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sz="2461" spc="-12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Group 7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855593" y="9134475"/>
            <a:ext cx="452199" cy="605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6"/>
              </a:lnSpc>
              <a:spcBef>
                <a:spcPct val="0"/>
              </a:spcBef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17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21856" y="1152859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8" y="0"/>
                </a:lnTo>
                <a:lnTo>
                  <a:pt x="613688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860352" y="1711244"/>
            <a:ext cx="14567296" cy="8194104"/>
          </a:xfrm>
          <a:custGeom>
            <a:avLst/>
            <a:gdLst/>
            <a:ahLst/>
            <a:cxnLst/>
            <a:rect r="r" b="b" t="t" l="l"/>
            <a:pathLst>
              <a:path h="8194104" w="14567296">
                <a:moveTo>
                  <a:pt x="0" y="0"/>
                </a:moveTo>
                <a:lnTo>
                  <a:pt x="14567296" y="0"/>
                </a:lnTo>
                <a:lnTo>
                  <a:pt x="14567296" y="8194104"/>
                </a:lnTo>
                <a:lnTo>
                  <a:pt x="0" y="81941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69216" y="1093377"/>
            <a:ext cx="2474318" cy="46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SE101.Q23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102689" y="1130920"/>
            <a:ext cx="1465785" cy="36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sz="2461" spc="-12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Group 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838746" y="9134475"/>
            <a:ext cx="485894" cy="605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6"/>
              </a:lnSpc>
              <a:spcBef>
                <a:spcPct val="0"/>
              </a:spcBef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18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21856" y="1152859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8" y="0"/>
                </a:lnTo>
                <a:lnTo>
                  <a:pt x="613688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0" y="2729163"/>
            <a:ext cx="18288000" cy="6057900"/>
          </a:xfrm>
          <a:custGeom>
            <a:avLst/>
            <a:gdLst/>
            <a:ahLst/>
            <a:cxnLst/>
            <a:rect r="r" b="b" t="t" l="l"/>
            <a:pathLst>
              <a:path h="6057900" w="18288000">
                <a:moveTo>
                  <a:pt x="0" y="0"/>
                </a:moveTo>
                <a:lnTo>
                  <a:pt x="18288000" y="0"/>
                </a:lnTo>
                <a:lnTo>
                  <a:pt x="18288000" y="6057900"/>
                </a:lnTo>
                <a:lnTo>
                  <a:pt x="0" y="60579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69216" y="1093377"/>
            <a:ext cx="2474318" cy="46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SE101.Q23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102689" y="1130920"/>
            <a:ext cx="1465785" cy="36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sz="2461" spc="-12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Group 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842377" y="9134475"/>
            <a:ext cx="478631" cy="605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6"/>
              </a:lnSpc>
              <a:spcBef>
                <a:spcPct val="0"/>
              </a:spcBef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19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21856" y="1152859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8" y="0"/>
                </a:lnTo>
                <a:lnTo>
                  <a:pt x="613688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325540" y="2560033"/>
            <a:ext cx="18613540" cy="6534201"/>
          </a:xfrm>
          <a:custGeom>
            <a:avLst/>
            <a:gdLst/>
            <a:ahLst/>
            <a:cxnLst/>
            <a:rect r="r" b="b" t="t" l="l"/>
            <a:pathLst>
              <a:path h="6534201" w="18613540">
                <a:moveTo>
                  <a:pt x="0" y="0"/>
                </a:moveTo>
                <a:lnTo>
                  <a:pt x="18613540" y="0"/>
                </a:lnTo>
                <a:lnTo>
                  <a:pt x="18613540" y="6534200"/>
                </a:lnTo>
                <a:lnTo>
                  <a:pt x="0" y="65342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63" t="0" r="-2314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69216" y="1093377"/>
            <a:ext cx="2474318" cy="46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SE101.Q23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102689" y="1130920"/>
            <a:ext cx="1465785" cy="36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sz="2461" spc="-12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Group 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835581" y="9394907"/>
            <a:ext cx="507563" cy="605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6"/>
              </a:lnSpc>
              <a:spcBef>
                <a:spcPct val="0"/>
              </a:spcBef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20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10346" y="1776366"/>
            <a:ext cx="3306692" cy="4915353"/>
          </a:xfrm>
          <a:custGeom>
            <a:avLst/>
            <a:gdLst/>
            <a:ahLst/>
            <a:cxnLst/>
            <a:rect r="r" b="b" t="t" l="l"/>
            <a:pathLst>
              <a:path h="4915353" w="3306692">
                <a:moveTo>
                  <a:pt x="0" y="0"/>
                </a:moveTo>
                <a:lnTo>
                  <a:pt x="3306692" y="0"/>
                </a:lnTo>
                <a:lnTo>
                  <a:pt x="3306692" y="4915353"/>
                </a:lnTo>
                <a:lnTo>
                  <a:pt x="0" y="4915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648749" y="4269958"/>
            <a:ext cx="2763113" cy="4719604"/>
          </a:xfrm>
          <a:custGeom>
            <a:avLst/>
            <a:gdLst/>
            <a:ahLst/>
            <a:cxnLst/>
            <a:rect r="r" b="b" t="t" l="l"/>
            <a:pathLst>
              <a:path h="4719604" w="2763113">
                <a:moveTo>
                  <a:pt x="0" y="0"/>
                </a:moveTo>
                <a:lnTo>
                  <a:pt x="2763113" y="0"/>
                </a:lnTo>
                <a:lnTo>
                  <a:pt x="2763113" y="4719604"/>
                </a:lnTo>
                <a:lnTo>
                  <a:pt x="0" y="47196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175511" y="5574811"/>
            <a:ext cx="3508802" cy="4114800"/>
          </a:xfrm>
          <a:custGeom>
            <a:avLst/>
            <a:gdLst/>
            <a:ahLst/>
            <a:cxnLst/>
            <a:rect r="r" b="b" t="t" l="l"/>
            <a:pathLst>
              <a:path h="4114800" w="3508802">
                <a:moveTo>
                  <a:pt x="0" y="0"/>
                </a:moveTo>
                <a:lnTo>
                  <a:pt x="3508802" y="0"/>
                </a:lnTo>
                <a:lnTo>
                  <a:pt x="35088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62840" y="3277701"/>
            <a:ext cx="10312671" cy="1343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694820" indent="-847410" lvl="1">
              <a:lnSpc>
                <a:spcPts val="9341"/>
              </a:lnSpc>
              <a:buAutoNum type="arabicPeriod" startAt="1"/>
            </a:pPr>
            <a:r>
              <a:rPr lang="en-US" sz="7850" spc="-274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CHiến lược ZDD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36790" y="4741862"/>
            <a:ext cx="7503312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3600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3 chiến lược phổ biến</a:t>
            </a:r>
          </a:p>
          <a:p>
            <a:pPr algn="l" marL="0" indent="0" lvl="0">
              <a:lnSpc>
                <a:spcPts val="6120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21856" y="1152859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8" y="0"/>
                </a:lnTo>
                <a:lnTo>
                  <a:pt x="613688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469216" y="1093377"/>
            <a:ext cx="2474318" cy="46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SE101.Q23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102689" y="1130920"/>
            <a:ext cx="1465785" cy="36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sz="2461" spc="-12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Group 7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853212" y="9134475"/>
            <a:ext cx="456962" cy="605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6"/>
              </a:lnSpc>
              <a:spcBef>
                <a:spcPct val="0"/>
              </a:spcBef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21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07884" y="2104189"/>
            <a:ext cx="2402757" cy="3496075"/>
          </a:xfrm>
          <a:custGeom>
            <a:avLst/>
            <a:gdLst/>
            <a:ahLst/>
            <a:cxnLst/>
            <a:rect r="r" b="b" t="t" l="l"/>
            <a:pathLst>
              <a:path h="3496075" w="2402757">
                <a:moveTo>
                  <a:pt x="0" y="0"/>
                </a:moveTo>
                <a:lnTo>
                  <a:pt x="2402757" y="0"/>
                </a:lnTo>
                <a:lnTo>
                  <a:pt x="2402757" y="3496075"/>
                </a:lnTo>
                <a:lnTo>
                  <a:pt x="0" y="3496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9216" y="3042698"/>
            <a:ext cx="2858935" cy="4343685"/>
          </a:xfrm>
          <a:custGeom>
            <a:avLst/>
            <a:gdLst/>
            <a:ahLst/>
            <a:cxnLst/>
            <a:rect r="r" b="b" t="t" l="l"/>
            <a:pathLst>
              <a:path h="4343685" w="2858935">
                <a:moveTo>
                  <a:pt x="0" y="0"/>
                </a:moveTo>
                <a:lnTo>
                  <a:pt x="2858935" y="0"/>
                </a:lnTo>
                <a:lnTo>
                  <a:pt x="2858935" y="4343685"/>
                </a:lnTo>
                <a:lnTo>
                  <a:pt x="0" y="43436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581310" y="4745286"/>
            <a:ext cx="3174839" cy="4343685"/>
          </a:xfrm>
          <a:custGeom>
            <a:avLst/>
            <a:gdLst/>
            <a:ahLst/>
            <a:cxnLst/>
            <a:rect r="r" b="b" t="t" l="l"/>
            <a:pathLst>
              <a:path h="4343685" w="3174839">
                <a:moveTo>
                  <a:pt x="0" y="0"/>
                </a:moveTo>
                <a:lnTo>
                  <a:pt x="3174839" y="0"/>
                </a:lnTo>
                <a:lnTo>
                  <a:pt x="3174839" y="4343685"/>
                </a:lnTo>
                <a:lnTo>
                  <a:pt x="0" y="43436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215554" y="5050901"/>
            <a:ext cx="1906350" cy="3074758"/>
          </a:xfrm>
          <a:custGeom>
            <a:avLst/>
            <a:gdLst/>
            <a:ahLst/>
            <a:cxnLst/>
            <a:rect r="r" b="b" t="t" l="l"/>
            <a:pathLst>
              <a:path h="3074758" w="1906350">
                <a:moveTo>
                  <a:pt x="0" y="0"/>
                </a:moveTo>
                <a:lnTo>
                  <a:pt x="1906350" y="0"/>
                </a:lnTo>
                <a:lnTo>
                  <a:pt x="1906350" y="3074759"/>
                </a:lnTo>
                <a:lnTo>
                  <a:pt x="0" y="3074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98959" y="2104189"/>
            <a:ext cx="1799450" cy="2618248"/>
          </a:xfrm>
          <a:custGeom>
            <a:avLst/>
            <a:gdLst/>
            <a:ahLst/>
            <a:cxnLst/>
            <a:rect r="r" b="b" t="t" l="l"/>
            <a:pathLst>
              <a:path h="2618248" w="1799450">
                <a:moveTo>
                  <a:pt x="0" y="0"/>
                </a:moveTo>
                <a:lnTo>
                  <a:pt x="1799450" y="0"/>
                </a:lnTo>
                <a:lnTo>
                  <a:pt x="1799450" y="2618248"/>
                </a:lnTo>
                <a:lnTo>
                  <a:pt x="0" y="26182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21856" y="1152859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8" y="0"/>
                </a:lnTo>
                <a:lnTo>
                  <a:pt x="613688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8081033" y="2894026"/>
            <a:ext cx="9487440" cy="5691165"/>
          </a:xfrm>
          <a:custGeom>
            <a:avLst/>
            <a:gdLst/>
            <a:ahLst/>
            <a:cxnLst/>
            <a:rect r="r" b="b" t="t" l="l"/>
            <a:pathLst>
              <a:path h="5691165" w="9487440">
                <a:moveTo>
                  <a:pt x="0" y="0"/>
                </a:moveTo>
                <a:lnTo>
                  <a:pt x="9487440" y="0"/>
                </a:lnTo>
                <a:lnTo>
                  <a:pt x="9487440" y="5691165"/>
                </a:lnTo>
                <a:lnTo>
                  <a:pt x="0" y="569116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-3202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081033" y="1567265"/>
            <a:ext cx="9000660" cy="959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4"/>
              </a:lnSpc>
            </a:pPr>
            <a:r>
              <a:rPr lang="en-US" sz="5550" spc="-194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Blue-Green Deploymen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69216" y="1093377"/>
            <a:ext cx="2474318" cy="46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SE101.Q23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102689" y="1130920"/>
            <a:ext cx="1465785" cy="36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sz="2461" spc="-12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Group 7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845592" y="9134475"/>
            <a:ext cx="472202" cy="605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6"/>
              </a:lnSpc>
              <a:spcBef>
                <a:spcPct val="0"/>
              </a:spcBef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22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07884" y="2104189"/>
            <a:ext cx="2402757" cy="3496075"/>
          </a:xfrm>
          <a:custGeom>
            <a:avLst/>
            <a:gdLst/>
            <a:ahLst/>
            <a:cxnLst/>
            <a:rect r="r" b="b" t="t" l="l"/>
            <a:pathLst>
              <a:path h="3496075" w="2402757">
                <a:moveTo>
                  <a:pt x="0" y="0"/>
                </a:moveTo>
                <a:lnTo>
                  <a:pt x="2402757" y="0"/>
                </a:lnTo>
                <a:lnTo>
                  <a:pt x="2402757" y="3496075"/>
                </a:lnTo>
                <a:lnTo>
                  <a:pt x="0" y="3496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9216" y="3042698"/>
            <a:ext cx="2858935" cy="4343685"/>
          </a:xfrm>
          <a:custGeom>
            <a:avLst/>
            <a:gdLst/>
            <a:ahLst/>
            <a:cxnLst/>
            <a:rect r="r" b="b" t="t" l="l"/>
            <a:pathLst>
              <a:path h="4343685" w="2858935">
                <a:moveTo>
                  <a:pt x="0" y="0"/>
                </a:moveTo>
                <a:lnTo>
                  <a:pt x="2858935" y="0"/>
                </a:lnTo>
                <a:lnTo>
                  <a:pt x="2858935" y="4343685"/>
                </a:lnTo>
                <a:lnTo>
                  <a:pt x="0" y="43436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581310" y="4745286"/>
            <a:ext cx="3174839" cy="4343685"/>
          </a:xfrm>
          <a:custGeom>
            <a:avLst/>
            <a:gdLst/>
            <a:ahLst/>
            <a:cxnLst/>
            <a:rect r="r" b="b" t="t" l="l"/>
            <a:pathLst>
              <a:path h="4343685" w="3174839">
                <a:moveTo>
                  <a:pt x="0" y="0"/>
                </a:moveTo>
                <a:lnTo>
                  <a:pt x="3174839" y="0"/>
                </a:lnTo>
                <a:lnTo>
                  <a:pt x="3174839" y="4343685"/>
                </a:lnTo>
                <a:lnTo>
                  <a:pt x="0" y="43436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215554" y="5050901"/>
            <a:ext cx="1906350" cy="3074758"/>
          </a:xfrm>
          <a:custGeom>
            <a:avLst/>
            <a:gdLst/>
            <a:ahLst/>
            <a:cxnLst/>
            <a:rect r="r" b="b" t="t" l="l"/>
            <a:pathLst>
              <a:path h="3074758" w="1906350">
                <a:moveTo>
                  <a:pt x="0" y="0"/>
                </a:moveTo>
                <a:lnTo>
                  <a:pt x="1906350" y="0"/>
                </a:lnTo>
                <a:lnTo>
                  <a:pt x="1906350" y="3074759"/>
                </a:lnTo>
                <a:lnTo>
                  <a:pt x="0" y="3074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98959" y="2104189"/>
            <a:ext cx="1799450" cy="2618248"/>
          </a:xfrm>
          <a:custGeom>
            <a:avLst/>
            <a:gdLst/>
            <a:ahLst/>
            <a:cxnLst/>
            <a:rect r="r" b="b" t="t" l="l"/>
            <a:pathLst>
              <a:path h="2618248" w="1799450">
                <a:moveTo>
                  <a:pt x="0" y="0"/>
                </a:moveTo>
                <a:lnTo>
                  <a:pt x="1799450" y="0"/>
                </a:lnTo>
                <a:lnTo>
                  <a:pt x="1799450" y="2618248"/>
                </a:lnTo>
                <a:lnTo>
                  <a:pt x="0" y="26182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21856" y="1152859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8" y="0"/>
                </a:lnTo>
                <a:lnTo>
                  <a:pt x="613688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7834921" y="3042698"/>
            <a:ext cx="10107343" cy="4946602"/>
          </a:xfrm>
          <a:custGeom>
            <a:avLst/>
            <a:gdLst/>
            <a:ahLst/>
            <a:cxnLst/>
            <a:rect r="r" b="b" t="t" l="l"/>
            <a:pathLst>
              <a:path h="4946602" w="10107343">
                <a:moveTo>
                  <a:pt x="0" y="0"/>
                </a:moveTo>
                <a:lnTo>
                  <a:pt x="10107343" y="0"/>
                </a:lnTo>
                <a:lnTo>
                  <a:pt x="10107343" y="4946602"/>
                </a:lnTo>
                <a:lnTo>
                  <a:pt x="0" y="494660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834921" y="1567265"/>
            <a:ext cx="8267768" cy="959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4"/>
              </a:lnSpc>
            </a:pPr>
            <a:r>
              <a:rPr lang="en-US" sz="5550" spc="-194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Canary Release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69216" y="1093377"/>
            <a:ext cx="2474318" cy="46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SE101.Q23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102689" y="1130920"/>
            <a:ext cx="1465785" cy="36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sz="2461" spc="-12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Group 7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846009" y="9134475"/>
            <a:ext cx="471368" cy="605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6"/>
              </a:lnSpc>
              <a:spcBef>
                <a:spcPct val="0"/>
              </a:spcBef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23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07884" y="2104189"/>
            <a:ext cx="2402757" cy="3496075"/>
          </a:xfrm>
          <a:custGeom>
            <a:avLst/>
            <a:gdLst/>
            <a:ahLst/>
            <a:cxnLst/>
            <a:rect r="r" b="b" t="t" l="l"/>
            <a:pathLst>
              <a:path h="3496075" w="2402757">
                <a:moveTo>
                  <a:pt x="0" y="0"/>
                </a:moveTo>
                <a:lnTo>
                  <a:pt x="2402757" y="0"/>
                </a:lnTo>
                <a:lnTo>
                  <a:pt x="2402757" y="3496075"/>
                </a:lnTo>
                <a:lnTo>
                  <a:pt x="0" y="3496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9216" y="3042698"/>
            <a:ext cx="2858935" cy="4343685"/>
          </a:xfrm>
          <a:custGeom>
            <a:avLst/>
            <a:gdLst/>
            <a:ahLst/>
            <a:cxnLst/>
            <a:rect r="r" b="b" t="t" l="l"/>
            <a:pathLst>
              <a:path h="4343685" w="2858935">
                <a:moveTo>
                  <a:pt x="0" y="0"/>
                </a:moveTo>
                <a:lnTo>
                  <a:pt x="2858935" y="0"/>
                </a:lnTo>
                <a:lnTo>
                  <a:pt x="2858935" y="4343685"/>
                </a:lnTo>
                <a:lnTo>
                  <a:pt x="0" y="43436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581310" y="4745286"/>
            <a:ext cx="3174839" cy="4343685"/>
          </a:xfrm>
          <a:custGeom>
            <a:avLst/>
            <a:gdLst/>
            <a:ahLst/>
            <a:cxnLst/>
            <a:rect r="r" b="b" t="t" l="l"/>
            <a:pathLst>
              <a:path h="4343685" w="3174839">
                <a:moveTo>
                  <a:pt x="0" y="0"/>
                </a:moveTo>
                <a:lnTo>
                  <a:pt x="3174839" y="0"/>
                </a:lnTo>
                <a:lnTo>
                  <a:pt x="3174839" y="4343685"/>
                </a:lnTo>
                <a:lnTo>
                  <a:pt x="0" y="43436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215554" y="5050901"/>
            <a:ext cx="1906350" cy="3074758"/>
          </a:xfrm>
          <a:custGeom>
            <a:avLst/>
            <a:gdLst/>
            <a:ahLst/>
            <a:cxnLst/>
            <a:rect r="r" b="b" t="t" l="l"/>
            <a:pathLst>
              <a:path h="3074758" w="1906350">
                <a:moveTo>
                  <a:pt x="0" y="0"/>
                </a:moveTo>
                <a:lnTo>
                  <a:pt x="1906350" y="0"/>
                </a:lnTo>
                <a:lnTo>
                  <a:pt x="1906350" y="3074759"/>
                </a:lnTo>
                <a:lnTo>
                  <a:pt x="0" y="3074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98959" y="2104189"/>
            <a:ext cx="1799450" cy="2618248"/>
          </a:xfrm>
          <a:custGeom>
            <a:avLst/>
            <a:gdLst/>
            <a:ahLst/>
            <a:cxnLst/>
            <a:rect r="r" b="b" t="t" l="l"/>
            <a:pathLst>
              <a:path h="2618248" w="1799450">
                <a:moveTo>
                  <a:pt x="0" y="0"/>
                </a:moveTo>
                <a:lnTo>
                  <a:pt x="1799450" y="0"/>
                </a:lnTo>
                <a:lnTo>
                  <a:pt x="1799450" y="2618248"/>
                </a:lnTo>
                <a:lnTo>
                  <a:pt x="0" y="26182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21856" y="1152859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8" y="0"/>
                </a:lnTo>
                <a:lnTo>
                  <a:pt x="613688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8567813" y="2801860"/>
            <a:ext cx="7667066" cy="6697277"/>
          </a:xfrm>
          <a:custGeom>
            <a:avLst/>
            <a:gdLst/>
            <a:ahLst/>
            <a:cxnLst/>
            <a:rect r="r" b="b" t="t" l="l"/>
            <a:pathLst>
              <a:path h="6697277" w="7667066">
                <a:moveTo>
                  <a:pt x="0" y="0"/>
                </a:moveTo>
                <a:lnTo>
                  <a:pt x="7667066" y="0"/>
                </a:lnTo>
                <a:lnTo>
                  <a:pt x="7667066" y="6697277"/>
                </a:lnTo>
                <a:lnTo>
                  <a:pt x="0" y="669727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-2180" r="-569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567813" y="1740392"/>
            <a:ext cx="8267768" cy="959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4"/>
              </a:lnSpc>
            </a:pPr>
            <a:r>
              <a:rPr lang="en-US" sz="5550" spc="-194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Rolling Update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69216" y="1093377"/>
            <a:ext cx="2474318" cy="46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SE101.Q23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102689" y="1130920"/>
            <a:ext cx="1465785" cy="36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sz="2461" spc="-12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Group 7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832555" y="9134475"/>
            <a:ext cx="498277" cy="605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6"/>
              </a:lnSpc>
              <a:spcBef>
                <a:spcPct val="0"/>
              </a:spcBef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24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31645" y="2785510"/>
            <a:ext cx="4074611" cy="3778276"/>
          </a:xfrm>
          <a:custGeom>
            <a:avLst/>
            <a:gdLst/>
            <a:ahLst/>
            <a:cxnLst/>
            <a:rect r="r" b="b" t="t" l="l"/>
            <a:pathLst>
              <a:path h="3778276" w="4074611">
                <a:moveTo>
                  <a:pt x="0" y="0"/>
                </a:moveTo>
                <a:lnTo>
                  <a:pt x="4074611" y="0"/>
                </a:lnTo>
                <a:lnTo>
                  <a:pt x="4074611" y="3778276"/>
                </a:lnTo>
                <a:lnTo>
                  <a:pt x="0" y="3778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61939" y="3306962"/>
            <a:ext cx="2615426" cy="3805513"/>
          </a:xfrm>
          <a:custGeom>
            <a:avLst/>
            <a:gdLst/>
            <a:ahLst/>
            <a:cxnLst/>
            <a:rect r="r" b="b" t="t" l="l"/>
            <a:pathLst>
              <a:path h="3805513" w="2615426">
                <a:moveTo>
                  <a:pt x="0" y="0"/>
                </a:moveTo>
                <a:lnTo>
                  <a:pt x="2615426" y="0"/>
                </a:lnTo>
                <a:lnTo>
                  <a:pt x="2615426" y="3805513"/>
                </a:lnTo>
                <a:lnTo>
                  <a:pt x="0" y="3805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10759" y="5267128"/>
            <a:ext cx="4058757" cy="3468393"/>
          </a:xfrm>
          <a:custGeom>
            <a:avLst/>
            <a:gdLst/>
            <a:ahLst/>
            <a:cxnLst/>
            <a:rect r="r" b="b" t="t" l="l"/>
            <a:pathLst>
              <a:path h="3468393" w="4058757">
                <a:moveTo>
                  <a:pt x="0" y="0"/>
                </a:moveTo>
                <a:lnTo>
                  <a:pt x="4058758" y="0"/>
                </a:lnTo>
                <a:lnTo>
                  <a:pt x="4058758" y="3468392"/>
                </a:lnTo>
                <a:lnTo>
                  <a:pt x="0" y="34683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265043" y="5124253"/>
            <a:ext cx="6269750" cy="1327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450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NHỮNG HỆ SINH THÁI PHỔ BIẾN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21856" y="1152859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8" y="0"/>
                </a:lnTo>
                <a:lnTo>
                  <a:pt x="613688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469216" y="1093377"/>
            <a:ext cx="2474318" cy="46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SE101.Q23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102689" y="1130920"/>
            <a:ext cx="1465785" cy="36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sz="2461" spc="-12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Group 7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952968" y="3547657"/>
            <a:ext cx="9999605" cy="1343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41"/>
              </a:lnSpc>
            </a:pPr>
            <a:r>
              <a:rPr lang="en-US" sz="7850" spc="-274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 5</a:t>
            </a:r>
            <a:r>
              <a:rPr lang="en-US" sz="7850" spc="-274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. Công cụ ci/cd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843985" y="9134475"/>
            <a:ext cx="475417" cy="605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6"/>
              </a:lnSpc>
              <a:spcBef>
                <a:spcPct val="0"/>
              </a:spcBef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25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8581" y="8895099"/>
            <a:ext cx="2645625" cy="91703"/>
            <a:chOff x="0" y="0"/>
            <a:chExt cx="648377" cy="224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8377" cy="22474"/>
            </a:xfrm>
            <a:custGeom>
              <a:avLst/>
              <a:gdLst/>
              <a:ahLst/>
              <a:cxnLst/>
              <a:rect r="r" b="b" t="t" l="l"/>
              <a:pathLst>
                <a:path h="22474" w="648377">
                  <a:moveTo>
                    <a:pt x="0" y="0"/>
                  </a:moveTo>
                  <a:lnTo>
                    <a:pt x="648377" y="0"/>
                  </a:lnTo>
                  <a:lnTo>
                    <a:pt x="648377" y="22474"/>
                  </a:lnTo>
                  <a:lnTo>
                    <a:pt x="0" y="2247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648377" cy="796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69718" y="6568841"/>
            <a:ext cx="3875667" cy="2391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18"/>
              </a:lnSpc>
              <a:spcBef>
                <a:spcPct val="0"/>
              </a:spcBef>
            </a:pPr>
            <a:r>
              <a:rPr lang="en-US" sz="2834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Tí</a:t>
            </a:r>
            <a:r>
              <a:rPr lang="en-US" sz="2834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ch h</a:t>
            </a:r>
            <a:r>
              <a:rPr lang="en-US" sz="2834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ợ</a:t>
            </a:r>
            <a:r>
              <a:rPr lang="en-US" sz="2834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p trực tiếp t</a:t>
            </a:r>
            <a:r>
              <a:rPr lang="en-US" sz="2834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ro</a:t>
            </a:r>
            <a:r>
              <a:rPr lang="en-US" sz="2834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ng</a:t>
            </a:r>
            <a:r>
              <a:rPr lang="en-US" sz="2834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 G</a:t>
            </a:r>
            <a:r>
              <a:rPr lang="en-US" sz="2834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itHub. YAML workflow, miễn phí</a:t>
            </a:r>
            <a:r>
              <a:rPr lang="en-US" sz="2834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2834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cho public repo.</a:t>
            </a:r>
          </a:p>
          <a:p>
            <a:pPr algn="l" marL="0" indent="0" lvl="0">
              <a:lnSpc>
                <a:spcPts val="4818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847003" y="8883899"/>
            <a:ext cx="2091370" cy="102903"/>
            <a:chOff x="0" y="0"/>
            <a:chExt cx="512543" cy="252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2543" cy="25219"/>
            </a:xfrm>
            <a:custGeom>
              <a:avLst/>
              <a:gdLst/>
              <a:ahLst/>
              <a:cxnLst/>
              <a:rect r="r" b="b" t="t" l="l"/>
              <a:pathLst>
                <a:path h="25219" w="512543">
                  <a:moveTo>
                    <a:pt x="0" y="0"/>
                  </a:moveTo>
                  <a:lnTo>
                    <a:pt x="512543" y="0"/>
                  </a:lnTo>
                  <a:lnTo>
                    <a:pt x="512543" y="25219"/>
                  </a:lnTo>
                  <a:lnTo>
                    <a:pt x="0" y="25219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512543" cy="82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21856" y="1152859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8" y="0"/>
                </a:lnTo>
                <a:lnTo>
                  <a:pt x="613688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4881979" y="8895099"/>
            <a:ext cx="2645625" cy="91703"/>
            <a:chOff x="0" y="0"/>
            <a:chExt cx="648377" cy="2247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8377" cy="22474"/>
            </a:xfrm>
            <a:custGeom>
              <a:avLst/>
              <a:gdLst/>
              <a:ahLst/>
              <a:cxnLst/>
              <a:rect r="r" b="b" t="t" l="l"/>
              <a:pathLst>
                <a:path h="22474" w="648377">
                  <a:moveTo>
                    <a:pt x="0" y="0"/>
                  </a:moveTo>
                  <a:lnTo>
                    <a:pt x="648377" y="0"/>
                  </a:lnTo>
                  <a:lnTo>
                    <a:pt x="648377" y="22474"/>
                  </a:lnTo>
                  <a:lnTo>
                    <a:pt x="0" y="2247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648377" cy="796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370400" y="8883899"/>
            <a:ext cx="2091370" cy="102903"/>
            <a:chOff x="0" y="0"/>
            <a:chExt cx="512543" cy="252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2543" cy="25219"/>
            </a:xfrm>
            <a:custGeom>
              <a:avLst/>
              <a:gdLst/>
              <a:ahLst/>
              <a:cxnLst/>
              <a:rect r="r" b="b" t="t" l="l"/>
              <a:pathLst>
                <a:path h="25219" w="512543">
                  <a:moveTo>
                    <a:pt x="0" y="0"/>
                  </a:moveTo>
                  <a:lnTo>
                    <a:pt x="512543" y="0"/>
                  </a:lnTo>
                  <a:lnTo>
                    <a:pt x="512543" y="25219"/>
                  </a:lnTo>
                  <a:lnTo>
                    <a:pt x="0" y="25219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512543" cy="82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804290" y="8895099"/>
            <a:ext cx="2645625" cy="91703"/>
            <a:chOff x="0" y="0"/>
            <a:chExt cx="648377" cy="2247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48377" cy="22474"/>
            </a:xfrm>
            <a:custGeom>
              <a:avLst/>
              <a:gdLst/>
              <a:ahLst/>
              <a:cxnLst/>
              <a:rect r="r" b="b" t="t" l="l"/>
              <a:pathLst>
                <a:path h="22474" w="648377">
                  <a:moveTo>
                    <a:pt x="0" y="0"/>
                  </a:moveTo>
                  <a:lnTo>
                    <a:pt x="648377" y="0"/>
                  </a:lnTo>
                  <a:lnTo>
                    <a:pt x="648377" y="22474"/>
                  </a:lnTo>
                  <a:lnTo>
                    <a:pt x="0" y="2247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648377" cy="796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292712" y="8883899"/>
            <a:ext cx="2091370" cy="102903"/>
            <a:chOff x="0" y="0"/>
            <a:chExt cx="512543" cy="2521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12543" cy="25219"/>
            </a:xfrm>
            <a:custGeom>
              <a:avLst/>
              <a:gdLst/>
              <a:ahLst/>
              <a:cxnLst/>
              <a:rect r="r" b="b" t="t" l="l"/>
              <a:pathLst>
                <a:path h="25219" w="512543">
                  <a:moveTo>
                    <a:pt x="0" y="0"/>
                  </a:moveTo>
                  <a:lnTo>
                    <a:pt x="512543" y="0"/>
                  </a:lnTo>
                  <a:lnTo>
                    <a:pt x="512543" y="25219"/>
                  </a:lnTo>
                  <a:lnTo>
                    <a:pt x="0" y="25219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512543" cy="82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172695" y="8895099"/>
            <a:ext cx="2645625" cy="91703"/>
            <a:chOff x="0" y="0"/>
            <a:chExt cx="648377" cy="2247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48377" cy="22474"/>
            </a:xfrm>
            <a:custGeom>
              <a:avLst/>
              <a:gdLst/>
              <a:ahLst/>
              <a:cxnLst/>
              <a:rect r="r" b="b" t="t" l="l"/>
              <a:pathLst>
                <a:path h="22474" w="648377">
                  <a:moveTo>
                    <a:pt x="0" y="0"/>
                  </a:moveTo>
                  <a:lnTo>
                    <a:pt x="648377" y="0"/>
                  </a:lnTo>
                  <a:lnTo>
                    <a:pt x="648377" y="22474"/>
                  </a:lnTo>
                  <a:lnTo>
                    <a:pt x="0" y="2247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648377" cy="796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5661117" y="8883899"/>
            <a:ext cx="2091370" cy="102903"/>
            <a:chOff x="0" y="0"/>
            <a:chExt cx="512543" cy="2521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12543" cy="25219"/>
            </a:xfrm>
            <a:custGeom>
              <a:avLst/>
              <a:gdLst/>
              <a:ahLst/>
              <a:cxnLst/>
              <a:rect r="r" b="b" t="t" l="l"/>
              <a:pathLst>
                <a:path h="25219" w="512543">
                  <a:moveTo>
                    <a:pt x="0" y="0"/>
                  </a:moveTo>
                  <a:lnTo>
                    <a:pt x="512543" y="0"/>
                  </a:lnTo>
                  <a:lnTo>
                    <a:pt x="512543" y="25219"/>
                  </a:lnTo>
                  <a:lnTo>
                    <a:pt x="0" y="25219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512543" cy="82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5907222" y="3780212"/>
            <a:ext cx="1363288" cy="1363288"/>
          </a:xfrm>
          <a:custGeom>
            <a:avLst/>
            <a:gdLst/>
            <a:ahLst/>
            <a:cxnLst/>
            <a:rect r="r" b="b" t="t" l="l"/>
            <a:pathLst>
              <a:path h="1363288" w="1363288">
                <a:moveTo>
                  <a:pt x="0" y="0"/>
                </a:moveTo>
                <a:lnTo>
                  <a:pt x="1363288" y="0"/>
                </a:lnTo>
                <a:lnTo>
                  <a:pt x="1363288" y="1363288"/>
                </a:lnTo>
                <a:lnTo>
                  <a:pt x="0" y="13632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335544" y="3780212"/>
            <a:ext cx="1644129" cy="1363288"/>
          </a:xfrm>
          <a:custGeom>
            <a:avLst/>
            <a:gdLst/>
            <a:ahLst/>
            <a:cxnLst/>
            <a:rect r="r" b="b" t="t" l="l"/>
            <a:pathLst>
              <a:path h="1363288" w="1644129">
                <a:moveTo>
                  <a:pt x="0" y="0"/>
                </a:moveTo>
                <a:lnTo>
                  <a:pt x="1644130" y="0"/>
                </a:lnTo>
                <a:lnTo>
                  <a:pt x="1644130" y="1363288"/>
                </a:lnTo>
                <a:lnTo>
                  <a:pt x="0" y="13632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6698" t="-32129" r="-65858" b="-25632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0075750" y="3780212"/>
            <a:ext cx="3036872" cy="1363288"/>
          </a:xfrm>
          <a:custGeom>
            <a:avLst/>
            <a:gdLst/>
            <a:ahLst/>
            <a:cxnLst/>
            <a:rect r="r" b="b" t="t" l="l"/>
            <a:pathLst>
              <a:path h="1363288" w="3036872">
                <a:moveTo>
                  <a:pt x="0" y="0"/>
                </a:moveTo>
                <a:lnTo>
                  <a:pt x="3036872" y="0"/>
                </a:lnTo>
                <a:lnTo>
                  <a:pt x="3036872" y="1363288"/>
                </a:lnTo>
                <a:lnTo>
                  <a:pt x="0" y="13632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14499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4329663" y="3780212"/>
            <a:ext cx="3113289" cy="1363288"/>
          </a:xfrm>
          <a:custGeom>
            <a:avLst/>
            <a:gdLst/>
            <a:ahLst/>
            <a:cxnLst/>
            <a:rect r="r" b="b" t="t" l="l"/>
            <a:pathLst>
              <a:path h="1363288" w="3113289">
                <a:moveTo>
                  <a:pt x="0" y="0"/>
                </a:moveTo>
                <a:lnTo>
                  <a:pt x="3113289" y="0"/>
                </a:lnTo>
                <a:lnTo>
                  <a:pt x="3113289" y="1363288"/>
                </a:lnTo>
                <a:lnTo>
                  <a:pt x="0" y="13632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9374" t="0" r="-8942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3364001" y="2115494"/>
            <a:ext cx="11559999" cy="1218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09"/>
              </a:lnSpc>
            </a:pPr>
            <a:r>
              <a:rPr lang="en-US" sz="7151" spc="-250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CÔNG CỤ CI PHỔ BIẾN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75574" y="5476875"/>
            <a:ext cx="3579791" cy="1583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1"/>
              </a:lnSpc>
            </a:pPr>
            <a:r>
              <a:rPr lang="en-US" sz="2901" spc="362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GITHUB</a:t>
            </a:r>
          </a:p>
          <a:p>
            <a:pPr algn="ctr">
              <a:lnSpc>
                <a:spcPts val="4061"/>
              </a:lnSpc>
            </a:pPr>
            <a:r>
              <a:rPr lang="en-US" sz="2901" spc="362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ACTIONS</a:t>
            </a:r>
          </a:p>
          <a:p>
            <a:pPr algn="ctr">
              <a:lnSpc>
                <a:spcPts val="4061"/>
              </a:lnSpc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1469216" y="1093377"/>
            <a:ext cx="2474318" cy="46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SE101.Q23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6102689" y="1130920"/>
            <a:ext cx="1465785" cy="36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sz="2461" spc="-12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Group 7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893115" y="6568841"/>
            <a:ext cx="4120600" cy="2391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18"/>
              </a:lnSpc>
              <a:spcBef>
                <a:spcPct val="0"/>
              </a:spcBef>
            </a:pPr>
            <a:r>
              <a:rPr lang="en-US" sz="2834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Tí</a:t>
            </a:r>
            <a:r>
              <a:rPr lang="en-US" sz="2834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ch hợp sẵn trong GitLab. .gitlab-ci.yml, mạnh </a:t>
            </a:r>
            <a:r>
              <a:rPr lang="en-US" sz="2834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về</a:t>
            </a:r>
            <a:r>
              <a:rPr lang="en-US" sz="2834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 pipeline phức tạp.</a:t>
            </a:r>
          </a:p>
          <a:p>
            <a:pPr algn="l" marL="0" indent="0" lvl="0">
              <a:lnSpc>
                <a:spcPts val="4818"/>
              </a:lnSpc>
              <a:spcBef>
                <a:spcPct val="0"/>
              </a:spcBef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4798971" y="5705475"/>
            <a:ext cx="3579791" cy="1583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1"/>
              </a:lnSpc>
            </a:pPr>
            <a:r>
              <a:rPr lang="en-US" sz="2901" spc="362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GITLAB CI</a:t>
            </a:r>
          </a:p>
          <a:p>
            <a:pPr algn="ctr">
              <a:lnSpc>
                <a:spcPts val="4061"/>
              </a:lnSpc>
            </a:pPr>
          </a:p>
          <a:p>
            <a:pPr algn="ctr">
              <a:lnSpc>
                <a:spcPts val="4061"/>
              </a:lnSpc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9815427" y="6568841"/>
            <a:ext cx="3875667" cy="2391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18"/>
              </a:lnSpc>
              <a:spcBef>
                <a:spcPct val="0"/>
              </a:spcBef>
            </a:pPr>
            <a:r>
              <a:rPr lang="en-US" sz="2834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Open-sour</a:t>
            </a:r>
            <a:r>
              <a:rPr lang="en-US" sz="2834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ce, cực mạnh, linh hoạt. Hàng </a:t>
            </a:r>
            <a:r>
              <a:rPr lang="en-US" sz="2834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nghìn</a:t>
            </a:r>
            <a:r>
              <a:rPr lang="en-US" sz="2834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 plugin. Cần </a:t>
            </a:r>
            <a:r>
              <a:rPr lang="en-US" sz="2834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tự</a:t>
            </a:r>
            <a:r>
              <a:rPr lang="en-US" sz="2834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 quản lý.</a:t>
            </a:r>
          </a:p>
          <a:p>
            <a:pPr algn="l" marL="0" indent="0" lvl="0">
              <a:lnSpc>
                <a:spcPts val="4818"/>
              </a:lnSpc>
              <a:spcBef>
                <a:spcPct val="0"/>
              </a:spcBef>
            </a:pPr>
          </a:p>
        </p:txBody>
      </p:sp>
      <p:sp>
        <p:nvSpPr>
          <p:cNvPr name="TextBox 40" id="40"/>
          <p:cNvSpPr txBox="true"/>
          <p:nvPr/>
        </p:nvSpPr>
        <p:spPr>
          <a:xfrm rot="0">
            <a:off x="9804290" y="5705475"/>
            <a:ext cx="3579791" cy="1069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1"/>
              </a:lnSpc>
            </a:pPr>
            <a:r>
              <a:rPr lang="en-US" sz="2901" spc="362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JENKINS</a:t>
            </a:r>
          </a:p>
          <a:p>
            <a:pPr algn="ctr">
              <a:lnSpc>
                <a:spcPts val="4061"/>
              </a:lnSpc>
            </a:pPr>
          </a:p>
        </p:txBody>
      </p:sp>
      <p:sp>
        <p:nvSpPr>
          <p:cNvPr name="TextBox 41" id="41"/>
          <p:cNvSpPr txBox="true"/>
          <p:nvPr/>
        </p:nvSpPr>
        <p:spPr>
          <a:xfrm rot="0">
            <a:off x="14136759" y="6568841"/>
            <a:ext cx="3875667" cy="2391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18"/>
              </a:lnSpc>
              <a:spcBef>
                <a:spcPct val="0"/>
              </a:spcBef>
            </a:pPr>
            <a:r>
              <a:rPr lang="en-US" sz="2834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C</a:t>
            </a:r>
            <a:r>
              <a:rPr lang="en-US" sz="2834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huyên biệt cho Mobile (Android/iOS). Tích hợp Fastlane, dễ cấu hình.</a:t>
            </a:r>
          </a:p>
          <a:p>
            <a:pPr algn="l" marL="0" indent="0" lvl="0">
              <a:lnSpc>
                <a:spcPts val="4818"/>
              </a:lnSpc>
              <a:spcBef>
                <a:spcPct val="0"/>
              </a:spcBef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14089687" y="5705475"/>
            <a:ext cx="3579791" cy="1069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1"/>
              </a:lnSpc>
            </a:pPr>
            <a:r>
              <a:rPr lang="en-US" sz="2901" spc="362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BITRISE</a:t>
            </a:r>
          </a:p>
          <a:p>
            <a:pPr algn="ctr">
              <a:lnSpc>
                <a:spcPts val="4061"/>
              </a:lnSpc>
            </a:pPr>
          </a:p>
        </p:txBody>
      </p:sp>
      <p:sp>
        <p:nvSpPr>
          <p:cNvPr name="TextBox 43" id="43"/>
          <p:cNvSpPr txBox="true"/>
          <p:nvPr/>
        </p:nvSpPr>
        <p:spPr>
          <a:xfrm rot="0">
            <a:off x="16834757" y="9134475"/>
            <a:ext cx="493871" cy="605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6"/>
              </a:lnSpc>
              <a:spcBef>
                <a:spcPct val="0"/>
              </a:spcBef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26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21856" y="1152859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8" y="0"/>
                </a:lnTo>
                <a:lnTo>
                  <a:pt x="613688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879418" y="8710666"/>
            <a:ext cx="2645625" cy="91703"/>
            <a:chOff x="0" y="0"/>
            <a:chExt cx="648377" cy="2247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48377" cy="22474"/>
            </a:xfrm>
            <a:custGeom>
              <a:avLst/>
              <a:gdLst/>
              <a:ahLst/>
              <a:cxnLst/>
              <a:rect r="r" b="b" t="t" l="l"/>
              <a:pathLst>
                <a:path h="22474" w="648377">
                  <a:moveTo>
                    <a:pt x="0" y="0"/>
                  </a:moveTo>
                  <a:lnTo>
                    <a:pt x="648377" y="0"/>
                  </a:lnTo>
                  <a:lnTo>
                    <a:pt x="648377" y="22474"/>
                  </a:lnTo>
                  <a:lnTo>
                    <a:pt x="0" y="2247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648377" cy="796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367839" y="8699466"/>
            <a:ext cx="2091370" cy="102903"/>
            <a:chOff x="0" y="0"/>
            <a:chExt cx="512543" cy="2521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12543" cy="25219"/>
            </a:xfrm>
            <a:custGeom>
              <a:avLst/>
              <a:gdLst/>
              <a:ahLst/>
              <a:cxnLst/>
              <a:rect r="r" b="b" t="t" l="l"/>
              <a:pathLst>
                <a:path h="25219" w="512543">
                  <a:moveTo>
                    <a:pt x="0" y="0"/>
                  </a:moveTo>
                  <a:lnTo>
                    <a:pt x="512543" y="0"/>
                  </a:lnTo>
                  <a:lnTo>
                    <a:pt x="512543" y="25219"/>
                  </a:lnTo>
                  <a:lnTo>
                    <a:pt x="0" y="25219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512543" cy="82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354104" y="8710666"/>
            <a:ext cx="2645625" cy="91703"/>
            <a:chOff x="0" y="0"/>
            <a:chExt cx="648377" cy="2247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8377" cy="22474"/>
            </a:xfrm>
            <a:custGeom>
              <a:avLst/>
              <a:gdLst/>
              <a:ahLst/>
              <a:cxnLst/>
              <a:rect r="r" b="b" t="t" l="l"/>
              <a:pathLst>
                <a:path h="22474" w="648377">
                  <a:moveTo>
                    <a:pt x="0" y="0"/>
                  </a:moveTo>
                  <a:lnTo>
                    <a:pt x="648377" y="0"/>
                  </a:lnTo>
                  <a:lnTo>
                    <a:pt x="648377" y="22474"/>
                  </a:lnTo>
                  <a:lnTo>
                    <a:pt x="0" y="2247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648377" cy="796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842526" y="8699466"/>
            <a:ext cx="2091370" cy="102903"/>
            <a:chOff x="0" y="0"/>
            <a:chExt cx="512543" cy="2521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12543" cy="25219"/>
            </a:xfrm>
            <a:custGeom>
              <a:avLst/>
              <a:gdLst/>
              <a:ahLst/>
              <a:cxnLst/>
              <a:rect r="r" b="b" t="t" l="l"/>
              <a:pathLst>
                <a:path h="25219" w="512543">
                  <a:moveTo>
                    <a:pt x="0" y="0"/>
                  </a:moveTo>
                  <a:lnTo>
                    <a:pt x="512543" y="0"/>
                  </a:lnTo>
                  <a:lnTo>
                    <a:pt x="512543" y="25219"/>
                  </a:lnTo>
                  <a:lnTo>
                    <a:pt x="0" y="25219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512543" cy="82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522897" y="8670415"/>
            <a:ext cx="2645625" cy="91703"/>
            <a:chOff x="0" y="0"/>
            <a:chExt cx="648377" cy="2247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48377" cy="22474"/>
            </a:xfrm>
            <a:custGeom>
              <a:avLst/>
              <a:gdLst/>
              <a:ahLst/>
              <a:cxnLst/>
              <a:rect r="r" b="b" t="t" l="l"/>
              <a:pathLst>
                <a:path h="22474" w="648377">
                  <a:moveTo>
                    <a:pt x="0" y="0"/>
                  </a:moveTo>
                  <a:lnTo>
                    <a:pt x="648377" y="0"/>
                  </a:lnTo>
                  <a:lnTo>
                    <a:pt x="648377" y="22474"/>
                  </a:lnTo>
                  <a:lnTo>
                    <a:pt x="0" y="2247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648377" cy="796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011319" y="8659215"/>
            <a:ext cx="2091370" cy="102903"/>
            <a:chOff x="0" y="0"/>
            <a:chExt cx="512543" cy="2521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12543" cy="25219"/>
            </a:xfrm>
            <a:custGeom>
              <a:avLst/>
              <a:gdLst/>
              <a:ahLst/>
              <a:cxnLst/>
              <a:rect r="r" b="b" t="t" l="l"/>
              <a:pathLst>
                <a:path h="25219" w="512543">
                  <a:moveTo>
                    <a:pt x="0" y="0"/>
                  </a:moveTo>
                  <a:lnTo>
                    <a:pt x="512543" y="0"/>
                  </a:lnTo>
                  <a:lnTo>
                    <a:pt x="512543" y="25219"/>
                  </a:lnTo>
                  <a:lnTo>
                    <a:pt x="0" y="25219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512543" cy="82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472600" y="2114483"/>
            <a:ext cx="13342801" cy="1007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81"/>
              </a:lnSpc>
            </a:pPr>
            <a:r>
              <a:rPr lang="en-US" sz="5951" spc="-208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CÔNG CỤ CD TRIỂN KHAI/GIÁM SÁT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69216" y="1093377"/>
            <a:ext cx="2474318" cy="46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SE101.Q23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102689" y="1130920"/>
            <a:ext cx="1465785" cy="36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sz="2461" spc="-12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Group 7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31480" y="5325254"/>
            <a:ext cx="3875667" cy="3763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7175" indent="-273588" lvl="1">
              <a:lnSpc>
                <a:spcPts val="4308"/>
              </a:lnSpc>
              <a:buFont typeface="Arial"/>
              <a:buChar char="•"/>
            </a:pPr>
            <a:r>
              <a:rPr lang="en-US" sz="2534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Do</a:t>
            </a:r>
            <a:r>
              <a:rPr lang="en-US" sz="2534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cker — đóng gói ứng dụng</a:t>
            </a:r>
          </a:p>
          <a:p>
            <a:pPr algn="l" marL="547175" indent="-273588" lvl="1">
              <a:lnSpc>
                <a:spcPts val="4308"/>
              </a:lnSpc>
              <a:buFont typeface="Arial"/>
              <a:buChar char="•"/>
            </a:pPr>
            <a:r>
              <a:rPr lang="en-US" sz="2534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Kubernetes (K8s) — điều phối container</a:t>
            </a:r>
          </a:p>
          <a:p>
            <a:pPr algn="l" marL="547175" indent="-273588" lvl="1">
              <a:lnSpc>
                <a:spcPts val="4308"/>
              </a:lnSpc>
              <a:buFont typeface="Arial"/>
              <a:buChar char="•"/>
            </a:pPr>
            <a:r>
              <a:rPr lang="en-US" sz="2534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Amazon ECR / Docker Hub — lưu image</a:t>
            </a:r>
          </a:p>
          <a:p>
            <a:pPr algn="l">
              <a:lnSpc>
                <a:spcPts val="4308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450166" y="3652747"/>
            <a:ext cx="4620829" cy="244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1"/>
              </a:lnSpc>
            </a:pPr>
            <a:r>
              <a:rPr lang="en-US" sz="3401" spc="42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CONTAINER &amp; ORCHESTRATION</a:t>
            </a:r>
          </a:p>
          <a:p>
            <a:pPr algn="ctr">
              <a:lnSpc>
                <a:spcPts val="4761"/>
              </a:lnSpc>
            </a:pPr>
          </a:p>
          <a:p>
            <a:pPr algn="ctr">
              <a:lnSpc>
                <a:spcPts val="4761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7206166" y="5191125"/>
            <a:ext cx="4104068" cy="3220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7175" indent="-273588" lvl="1">
              <a:lnSpc>
                <a:spcPts val="4308"/>
              </a:lnSpc>
              <a:buFont typeface="Arial"/>
              <a:buChar char="•"/>
            </a:pPr>
            <a:r>
              <a:rPr lang="en-US" sz="2534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ArgoCD</a:t>
            </a:r>
            <a:r>
              <a:rPr lang="en-US" sz="2534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 — GitOps CD cho K8s</a:t>
            </a:r>
          </a:p>
          <a:p>
            <a:pPr algn="l" marL="547175" indent="-273588" lvl="1">
              <a:lnSpc>
                <a:spcPts val="4308"/>
              </a:lnSpc>
              <a:buFont typeface="Arial"/>
              <a:buChar char="•"/>
            </a:pPr>
            <a:r>
              <a:rPr lang="en-US" sz="2534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Fastlane — tự động hóa mobile</a:t>
            </a:r>
          </a:p>
          <a:p>
            <a:pPr algn="l" marL="547175" indent="-273588" lvl="1">
              <a:lnSpc>
                <a:spcPts val="4308"/>
              </a:lnSpc>
              <a:buFont typeface="Arial"/>
              <a:buChar char="•"/>
            </a:pPr>
            <a:r>
              <a:rPr lang="en-US" sz="2534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Firebase App Distribution — test nội bộ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006341" y="3662272"/>
            <a:ext cx="4332469" cy="184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1"/>
              </a:lnSpc>
            </a:pPr>
            <a:r>
              <a:rPr lang="en-US" sz="3401" spc="42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CD &amp; DEPLOYMENT</a:t>
            </a:r>
          </a:p>
          <a:p>
            <a:pPr algn="ctr">
              <a:lnSpc>
                <a:spcPts val="4761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2415134" y="5325254"/>
            <a:ext cx="3875667" cy="3220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7175" indent="-273588" lvl="1">
              <a:lnSpc>
                <a:spcPts val="4308"/>
              </a:lnSpc>
              <a:buFont typeface="Arial"/>
              <a:buChar char="•"/>
            </a:pPr>
            <a:r>
              <a:rPr lang="en-US" sz="2534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So</a:t>
            </a:r>
            <a:r>
              <a:rPr lang="en-US" sz="2534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narQube — phân tích chất lượng code</a:t>
            </a:r>
          </a:p>
          <a:p>
            <a:pPr algn="l" marL="547175" indent="-273588" lvl="1">
              <a:lnSpc>
                <a:spcPts val="4308"/>
              </a:lnSpc>
              <a:buFont typeface="Arial"/>
              <a:buChar char="•"/>
            </a:pPr>
            <a:r>
              <a:rPr lang="en-US" sz="2534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SAST tools — quét bảo mật</a:t>
            </a:r>
          </a:p>
          <a:p>
            <a:pPr algn="l" marL="547175" indent="-273588" lvl="1">
              <a:lnSpc>
                <a:spcPts val="4308"/>
              </a:lnSpc>
              <a:buFont typeface="Arial"/>
              <a:buChar char="•"/>
            </a:pPr>
            <a:r>
              <a:rPr lang="en-US" sz="2534" strike="noStrike" u="none">
                <a:solidFill>
                  <a:srgbClr val="FFFFFF">
                    <a:alpha val="71765"/>
                  </a:srgbClr>
                </a:solidFill>
                <a:latin typeface="Cabin"/>
                <a:ea typeface="Cabin"/>
                <a:cs typeface="Cabin"/>
                <a:sym typeface="Cabin"/>
              </a:rPr>
              <a:t>Maven/Gradle — build tool Java/Android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177576" y="3535220"/>
            <a:ext cx="4312684" cy="184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1"/>
              </a:lnSpc>
            </a:pPr>
            <a:r>
              <a:rPr lang="en-US" sz="3401" spc="42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CODE QUALITY &amp; SECURITY</a:t>
            </a:r>
          </a:p>
          <a:p>
            <a:pPr algn="ctr">
              <a:lnSpc>
                <a:spcPts val="4761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16847973" y="9134475"/>
            <a:ext cx="467439" cy="605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6"/>
              </a:lnSpc>
              <a:spcBef>
                <a:spcPct val="0"/>
              </a:spcBef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27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90796" y="9258300"/>
            <a:ext cx="18250096" cy="1881172"/>
            <a:chOff x="0" y="0"/>
            <a:chExt cx="4806610" cy="4954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06610" cy="495453"/>
            </a:xfrm>
            <a:custGeom>
              <a:avLst/>
              <a:gdLst/>
              <a:ahLst/>
              <a:cxnLst/>
              <a:rect r="r" b="b" t="t" l="l"/>
              <a:pathLst>
                <a:path h="495453" w="4806610">
                  <a:moveTo>
                    <a:pt x="42421" y="0"/>
                  </a:moveTo>
                  <a:lnTo>
                    <a:pt x="4764189" y="0"/>
                  </a:lnTo>
                  <a:cubicBezTo>
                    <a:pt x="4775439" y="0"/>
                    <a:pt x="4786229" y="4469"/>
                    <a:pt x="4794185" y="12425"/>
                  </a:cubicBezTo>
                  <a:cubicBezTo>
                    <a:pt x="4802140" y="20380"/>
                    <a:pt x="4806610" y="31170"/>
                    <a:pt x="4806610" y="42421"/>
                  </a:cubicBezTo>
                  <a:lnTo>
                    <a:pt x="4806610" y="453031"/>
                  </a:lnTo>
                  <a:cubicBezTo>
                    <a:pt x="4806610" y="464282"/>
                    <a:pt x="4802140" y="475072"/>
                    <a:pt x="4794185" y="483028"/>
                  </a:cubicBezTo>
                  <a:cubicBezTo>
                    <a:pt x="4786229" y="490983"/>
                    <a:pt x="4775439" y="495453"/>
                    <a:pt x="4764189" y="495453"/>
                  </a:cubicBezTo>
                  <a:lnTo>
                    <a:pt x="42421" y="495453"/>
                  </a:lnTo>
                  <a:cubicBezTo>
                    <a:pt x="31170" y="495453"/>
                    <a:pt x="20380" y="490983"/>
                    <a:pt x="12425" y="483028"/>
                  </a:cubicBezTo>
                  <a:cubicBezTo>
                    <a:pt x="4469" y="475072"/>
                    <a:pt x="0" y="464282"/>
                    <a:pt x="0" y="453031"/>
                  </a:cubicBezTo>
                  <a:lnTo>
                    <a:pt x="0" y="42421"/>
                  </a:lnTo>
                  <a:cubicBezTo>
                    <a:pt x="0" y="31170"/>
                    <a:pt x="4469" y="20380"/>
                    <a:pt x="12425" y="12425"/>
                  </a:cubicBezTo>
                  <a:cubicBezTo>
                    <a:pt x="20380" y="4469"/>
                    <a:pt x="31170" y="0"/>
                    <a:pt x="4242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C014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06610" cy="5526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161894" y="1837198"/>
            <a:ext cx="2624512" cy="4233084"/>
          </a:xfrm>
          <a:custGeom>
            <a:avLst/>
            <a:gdLst/>
            <a:ahLst/>
            <a:cxnLst/>
            <a:rect r="r" b="b" t="t" l="l"/>
            <a:pathLst>
              <a:path h="4233084" w="2624512">
                <a:moveTo>
                  <a:pt x="0" y="0"/>
                </a:moveTo>
                <a:lnTo>
                  <a:pt x="2624512" y="0"/>
                </a:lnTo>
                <a:lnTo>
                  <a:pt x="2624512" y="4233084"/>
                </a:lnTo>
                <a:lnTo>
                  <a:pt x="0" y="42330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94061" y="2136757"/>
            <a:ext cx="2624512" cy="4233084"/>
          </a:xfrm>
          <a:custGeom>
            <a:avLst/>
            <a:gdLst/>
            <a:ahLst/>
            <a:cxnLst/>
            <a:rect r="r" b="b" t="t" l="l"/>
            <a:pathLst>
              <a:path h="4233084" w="2624512">
                <a:moveTo>
                  <a:pt x="0" y="0"/>
                </a:moveTo>
                <a:lnTo>
                  <a:pt x="2624512" y="0"/>
                </a:lnTo>
                <a:lnTo>
                  <a:pt x="2624512" y="4233084"/>
                </a:lnTo>
                <a:lnTo>
                  <a:pt x="0" y="42330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206317" y="4513613"/>
            <a:ext cx="2624512" cy="4233084"/>
          </a:xfrm>
          <a:custGeom>
            <a:avLst/>
            <a:gdLst/>
            <a:ahLst/>
            <a:cxnLst/>
            <a:rect r="r" b="b" t="t" l="l"/>
            <a:pathLst>
              <a:path h="4233084" w="2624512">
                <a:moveTo>
                  <a:pt x="0" y="0"/>
                </a:moveTo>
                <a:lnTo>
                  <a:pt x="2624512" y="0"/>
                </a:lnTo>
                <a:lnTo>
                  <a:pt x="2624512" y="4233084"/>
                </a:lnTo>
                <a:lnTo>
                  <a:pt x="0" y="42330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12319" y="4978206"/>
            <a:ext cx="2036403" cy="3303898"/>
          </a:xfrm>
          <a:custGeom>
            <a:avLst/>
            <a:gdLst/>
            <a:ahLst/>
            <a:cxnLst/>
            <a:rect r="r" b="b" t="t" l="l"/>
            <a:pathLst>
              <a:path h="3303898" w="2036403">
                <a:moveTo>
                  <a:pt x="0" y="0"/>
                </a:moveTo>
                <a:lnTo>
                  <a:pt x="2036403" y="0"/>
                </a:lnTo>
                <a:lnTo>
                  <a:pt x="2036403" y="3303898"/>
                </a:lnTo>
                <a:lnTo>
                  <a:pt x="0" y="33038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252594" y="3417429"/>
            <a:ext cx="10315880" cy="2524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19"/>
              </a:lnSpc>
            </a:pPr>
            <a:r>
              <a:rPr lang="en-US" sz="7831" spc="-274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5. demo ci/cd bằng mini project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35847" y="6284116"/>
            <a:ext cx="6026285" cy="395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sz="2048" spc="256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THỰC CHIẾN CI/CD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721856" y="1152859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8" y="0"/>
                </a:lnTo>
                <a:lnTo>
                  <a:pt x="613688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1469216" y="1093377"/>
            <a:ext cx="2474318" cy="46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SE101.Q23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102689" y="1130920"/>
            <a:ext cx="1465785" cy="36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sz="2461" spc="-12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Group 7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317906" y="9373204"/>
            <a:ext cx="501134" cy="605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6"/>
              </a:lnSpc>
              <a:spcBef>
                <a:spcPct val="0"/>
              </a:spcBef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28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07884" y="2104189"/>
            <a:ext cx="2402757" cy="3496075"/>
          </a:xfrm>
          <a:custGeom>
            <a:avLst/>
            <a:gdLst/>
            <a:ahLst/>
            <a:cxnLst/>
            <a:rect r="r" b="b" t="t" l="l"/>
            <a:pathLst>
              <a:path h="3496075" w="2402757">
                <a:moveTo>
                  <a:pt x="0" y="0"/>
                </a:moveTo>
                <a:lnTo>
                  <a:pt x="2402757" y="0"/>
                </a:lnTo>
                <a:lnTo>
                  <a:pt x="2402757" y="3496075"/>
                </a:lnTo>
                <a:lnTo>
                  <a:pt x="0" y="3496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9216" y="3042698"/>
            <a:ext cx="2858935" cy="4343685"/>
          </a:xfrm>
          <a:custGeom>
            <a:avLst/>
            <a:gdLst/>
            <a:ahLst/>
            <a:cxnLst/>
            <a:rect r="r" b="b" t="t" l="l"/>
            <a:pathLst>
              <a:path h="4343685" w="2858935">
                <a:moveTo>
                  <a:pt x="0" y="0"/>
                </a:moveTo>
                <a:lnTo>
                  <a:pt x="2858935" y="0"/>
                </a:lnTo>
                <a:lnTo>
                  <a:pt x="2858935" y="4343685"/>
                </a:lnTo>
                <a:lnTo>
                  <a:pt x="0" y="43436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581310" y="4745286"/>
            <a:ext cx="3174839" cy="4343685"/>
          </a:xfrm>
          <a:custGeom>
            <a:avLst/>
            <a:gdLst/>
            <a:ahLst/>
            <a:cxnLst/>
            <a:rect r="r" b="b" t="t" l="l"/>
            <a:pathLst>
              <a:path h="4343685" w="3174839">
                <a:moveTo>
                  <a:pt x="0" y="0"/>
                </a:moveTo>
                <a:lnTo>
                  <a:pt x="3174839" y="0"/>
                </a:lnTo>
                <a:lnTo>
                  <a:pt x="3174839" y="4343685"/>
                </a:lnTo>
                <a:lnTo>
                  <a:pt x="0" y="43436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215554" y="5050901"/>
            <a:ext cx="1906350" cy="3074758"/>
          </a:xfrm>
          <a:custGeom>
            <a:avLst/>
            <a:gdLst/>
            <a:ahLst/>
            <a:cxnLst/>
            <a:rect r="r" b="b" t="t" l="l"/>
            <a:pathLst>
              <a:path h="3074758" w="1906350">
                <a:moveTo>
                  <a:pt x="0" y="0"/>
                </a:moveTo>
                <a:lnTo>
                  <a:pt x="1906350" y="0"/>
                </a:lnTo>
                <a:lnTo>
                  <a:pt x="1906350" y="3074759"/>
                </a:lnTo>
                <a:lnTo>
                  <a:pt x="0" y="3074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98959" y="2104189"/>
            <a:ext cx="1799450" cy="2618248"/>
          </a:xfrm>
          <a:custGeom>
            <a:avLst/>
            <a:gdLst/>
            <a:ahLst/>
            <a:cxnLst/>
            <a:rect r="r" b="b" t="t" l="l"/>
            <a:pathLst>
              <a:path h="2618248" w="1799450">
                <a:moveTo>
                  <a:pt x="0" y="0"/>
                </a:moveTo>
                <a:lnTo>
                  <a:pt x="1799450" y="0"/>
                </a:lnTo>
                <a:lnTo>
                  <a:pt x="1799450" y="2618248"/>
                </a:lnTo>
                <a:lnTo>
                  <a:pt x="0" y="26182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21856" y="1152859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8" y="0"/>
                </a:lnTo>
                <a:lnTo>
                  <a:pt x="613688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8567813" y="3527428"/>
            <a:ext cx="5166137" cy="5283932"/>
          </a:xfrm>
          <a:custGeom>
            <a:avLst/>
            <a:gdLst/>
            <a:ahLst/>
            <a:cxnLst/>
            <a:rect r="r" b="b" t="t" l="l"/>
            <a:pathLst>
              <a:path h="5283932" w="5166137">
                <a:moveTo>
                  <a:pt x="0" y="0"/>
                </a:moveTo>
                <a:lnTo>
                  <a:pt x="5166137" y="0"/>
                </a:lnTo>
                <a:lnTo>
                  <a:pt x="5166137" y="5283931"/>
                </a:lnTo>
                <a:lnTo>
                  <a:pt x="0" y="528393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567813" y="1740392"/>
            <a:ext cx="8267768" cy="959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4"/>
              </a:lnSpc>
            </a:pPr>
            <a:r>
              <a:rPr lang="en-US" sz="5550" spc="-194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LINK WEB DEMO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69216" y="1093377"/>
            <a:ext cx="2474318" cy="46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SE101.Q23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102689" y="1130920"/>
            <a:ext cx="1465785" cy="36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sz="2461" spc="-12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Group 7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832555" y="9134475"/>
            <a:ext cx="498277" cy="605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6"/>
              </a:lnSpc>
              <a:spcBef>
                <a:spcPct val="0"/>
              </a:spcBef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24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6007" y="4166398"/>
            <a:ext cx="4074611" cy="3778276"/>
          </a:xfrm>
          <a:custGeom>
            <a:avLst/>
            <a:gdLst/>
            <a:ahLst/>
            <a:cxnLst/>
            <a:rect r="r" b="b" t="t" l="l"/>
            <a:pathLst>
              <a:path h="3778276" w="4074611">
                <a:moveTo>
                  <a:pt x="0" y="0"/>
                </a:moveTo>
                <a:lnTo>
                  <a:pt x="4074611" y="0"/>
                </a:lnTo>
                <a:lnTo>
                  <a:pt x="4074611" y="3778276"/>
                </a:lnTo>
                <a:lnTo>
                  <a:pt x="0" y="3778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1504" y="5859583"/>
            <a:ext cx="2615426" cy="3805513"/>
          </a:xfrm>
          <a:custGeom>
            <a:avLst/>
            <a:gdLst/>
            <a:ahLst/>
            <a:cxnLst/>
            <a:rect r="r" b="b" t="t" l="l"/>
            <a:pathLst>
              <a:path h="3805513" w="2615426">
                <a:moveTo>
                  <a:pt x="0" y="0"/>
                </a:moveTo>
                <a:lnTo>
                  <a:pt x="2615425" y="0"/>
                </a:lnTo>
                <a:lnTo>
                  <a:pt x="2615425" y="3805513"/>
                </a:lnTo>
                <a:lnTo>
                  <a:pt x="0" y="3805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467003" y="5451243"/>
            <a:ext cx="4058757" cy="3468393"/>
          </a:xfrm>
          <a:custGeom>
            <a:avLst/>
            <a:gdLst/>
            <a:ahLst/>
            <a:cxnLst/>
            <a:rect r="r" b="b" t="t" l="l"/>
            <a:pathLst>
              <a:path h="3468393" w="4058757">
                <a:moveTo>
                  <a:pt x="0" y="0"/>
                </a:moveTo>
                <a:lnTo>
                  <a:pt x="4058758" y="0"/>
                </a:lnTo>
                <a:lnTo>
                  <a:pt x="4058758" y="3468393"/>
                </a:lnTo>
                <a:lnTo>
                  <a:pt x="0" y="34683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171096" y="5462914"/>
            <a:ext cx="9277164" cy="216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spc="499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CODE → DEBUG → PUSH GITHUB → AUTOMATION TEST →DEPLOY VERCEL 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21856" y="1152859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8" y="0"/>
                </a:lnTo>
                <a:lnTo>
                  <a:pt x="613688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469216" y="1093377"/>
            <a:ext cx="2474318" cy="46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SE101.Q23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102689" y="1130920"/>
            <a:ext cx="1465785" cy="36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sz="2461" spc="-12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Group 7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41795" y="1833091"/>
            <a:ext cx="14595045" cy="2333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27"/>
              </a:lnSpc>
            </a:pPr>
            <a:r>
              <a:rPr lang="en-US" sz="7250" spc="-253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tiến trình ci/cd cơ bản sử dụng github actions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843985" y="9134475"/>
            <a:ext cx="475417" cy="605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6"/>
              </a:lnSpc>
              <a:spcBef>
                <a:spcPct val="0"/>
              </a:spcBef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25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6007" y="4166398"/>
            <a:ext cx="4074611" cy="3778276"/>
          </a:xfrm>
          <a:custGeom>
            <a:avLst/>
            <a:gdLst/>
            <a:ahLst/>
            <a:cxnLst/>
            <a:rect r="r" b="b" t="t" l="l"/>
            <a:pathLst>
              <a:path h="3778276" w="4074611">
                <a:moveTo>
                  <a:pt x="0" y="0"/>
                </a:moveTo>
                <a:lnTo>
                  <a:pt x="4074611" y="0"/>
                </a:lnTo>
                <a:lnTo>
                  <a:pt x="4074611" y="3778276"/>
                </a:lnTo>
                <a:lnTo>
                  <a:pt x="0" y="3778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1504" y="5859583"/>
            <a:ext cx="2615426" cy="3805513"/>
          </a:xfrm>
          <a:custGeom>
            <a:avLst/>
            <a:gdLst/>
            <a:ahLst/>
            <a:cxnLst/>
            <a:rect r="r" b="b" t="t" l="l"/>
            <a:pathLst>
              <a:path h="3805513" w="2615426">
                <a:moveTo>
                  <a:pt x="0" y="0"/>
                </a:moveTo>
                <a:lnTo>
                  <a:pt x="2615425" y="0"/>
                </a:lnTo>
                <a:lnTo>
                  <a:pt x="2615425" y="3805513"/>
                </a:lnTo>
                <a:lnTo>
                  <a:pt x="0" y="3805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467003" y="5451243"/>
            <a:ext cx="4058757" cy="3468393"/>
          </a:xfrm>
          <a:custGeom>
            <a:avLst/>
            <a:gdLst/>
            <a:ahLst/>
            <a:cxnLst/>
            <a:rect r="r" b="b" t="t" l="l"/>
            <a:pathLst>
              <a:path h="3468393" w="4058757">
                <a:moveTo>
                  <a:pt x="0" y="0"/>
                </a:moveTo>
                <a:lnTo>
                  <a:pt x="4058758" y="0"/>
                </a:lnTo>
                <a:lnTo>
                  <a:pt x="4058758" y="3468393"/>
                </a:lnTo>
                <a:lnTo>
                  <a:pt x="0" y="34683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21856" y="1152859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8" y="0"/>
                </a:lnTo>
                <a:lnTo>
                  <a:pt x="613688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469216" y="1093377"/>
            <a:ext cx="2474318" cy="46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SE101.Q23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102689" y="1130920"/>
            <a:ext cx="1465785" cy="36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sz="2461" spc="-12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Group 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428328" y="1908354"/>
            <a:ext cx="14595045" cy="2065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5"/>
              </a:lnSpc>
            </a:pPr>
            <a:r>
              <a:rPr lang="en-US" sz="6450" spc="-22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tiến trình ci/cd cơ bản tích hợp claude trong ide antigravity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843985" y="9134475"/>
            <a:ext cx="475417" cy="605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6"/>
              </a:lnSpc>
              <a:spcBef>
                <a:spcPct val="0"/>
              </a:spcBef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25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395319" y="6481487"/>
            <a:ext cx="2615426" cy="3805513"/>
          </a:xfrm>
          <a:custGeom>
            <a:avLst/>
            <a:gdLst/>
            <a:ahLst/>
            <a:cxnLst/>
            <a:rect r="r" b="b" t="t" l="l"/>
            <a:pathLst>
              <a:path h="3805513" w="2615426">
                <a:moveTo>
                  <a:pt x="0" y="0"/>
                </a:moveTo>
                <a:lnTo>
                  <a:pt x="2615425" y="0"/>
                </a:lnTo>
                <a:lnTo>
                  <a:pt x="2615425" y="3805513"/>
                </a:lnTo>
                <a:lnTo>
                  <a:pt x="0" y="3805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21856" y="1152859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8" y="0"/>
                </a:lnTo>
                <a:lnTo>
                  <a:pt x="613688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469216" y="1093377"/>
            <a:ext cx="2474318" cy="46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SE101.Q23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102689" y="1130920"/>
            <a:ext cx="1465785" cy="36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sz="2461" spc="-12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Group 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85248" y="1748771"/>
            <a:ext cx="12917505" cy="2333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27"/>
              </a:lnSpc>
            </a:pPr>
            <a:r>
              <a:rPr lang="en-US" sz="7250" spc="-253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tiến trình ci/cd n âng cao sử dụng claude -p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843985" y="9134475"/>
            <a:ext cx="475417" cy="605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6"/>
              </a:lnSpc>
              <a:spcBef>
                <a:spcPct val="0"/>
              </a:spcBef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25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10346" y="1776366"/>
            <a:ext cx="3306692" cy="4915353"/>
          </a:xfrm>
          <a:custGeom>
            <a:avLst/>
            <a:gdLst/>
            <a:ahLst/>
            <a:cxnLst/>
            <a:rect r="r" b="b" t="t" l="l"/>
            <a:pathLst>
              <a:path h="4915353" w="3306692">
                <a:moveTo>
                  <a:pt x="0" y="0"/>
                </a:moveTo>
                <a:lnTo>
                  <a:pt x="3306692" y="0"/>
                </a:lnTo>
                <a:lnTo>
                  <a:pt x="3306692" y="4915353"/>
                </a:lnTo>
                <a:lnTo>
                  <a:pt x="0" y="4915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648749" y="4269958"/>
            <a:ext cx="2763113" cy="4719604"/>
          </a:xfrm>
          <a:custGeom>
            <a:avLst/>
            <a:gdLst/>
            <a:ahLst/>
            <a:cxnLst/>
            <a:rect r="r" b="b" t="t" l="l"/>
            <a:pathLst>
              <a:path h="4719604" w="2763113">
                <a:moveTo>
                  <a:pt x="0" y="0"/>
                </a:moveTo>
                <a:lnTo>
                  <a:pt x="2763113" y="0"/>
                </a:lnTo>
                <a:lnTo>
                  <a:pt x="2763113" y="4719604"/>
                </a:lnTo>
                <a:lnTo>
                  <a:pt x="0" y="47196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175511" y="5574811"/>
            <a:ext cx="3508802" cy="4114800"/>
          </a:xfrm>
          <a:custGeom>
            <a:avLst/>
            <a:gdLst/>
            <a:ahLst/>
            <a:cxnLst/>
            <a:rect r="r" b="b" t="t" l="l"/>
            <a:pathLst>
              <a:path h="4114800" w="3508802">
                <a:moveTo>
                  <a:pt x="0" y="0"/>
                </a:moveTo>
                <a:lnTo>
                  <a:pt x="3508802" y="0"/>
                </a:lnTo>
                <a:lnTo>
                  <a:pt x="35088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62840" y="4624170"/>
            <a:ext cx="10312671" cy="1343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694820" indent="-847410" lvl="1">
              <a:lnSpc>
                <a:spcPts val="9341"/>
              </a:lnSpc>
              <a:buAutoNum type="arabicPeriod" startAt="1"/>
            </a:pPr>
            <a:r>
              <a:rPr lang="en-US" sz="7850" spc="-274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Tổng kết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21856" y="1152859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8" y="0"/>
                </a:lnTo>
                <a:lnTo>
                  <a:pt x="613688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469216" y="1093377"/>
            <a:ext cx="2474318" cy="46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SE101.Q23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102689" y="1130920"/>
            <a:ext cx="1465785" cy="36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sz="2461" spc="-12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Group 7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853212" y="9134475"/>
            <a:ext cx="456962" cy="605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6"/>
              </a:lnSpc>
              <a:spcBef>
                <a:spcPct val="0"/>
              </a:spcBef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21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21856" y="1152859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8" y="0"/>
                </a:lnTo>
                <a:lnTo>
                  <a:pt x="613688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75278" y="1961153"/>
            <a:ext cx="16537444" cy="7297147"/>
          </a:xfrm>
          <a:custGeom>
            <a:avLst/>
            <a:gdLst/>
            <a:ahLst/>
            <a:cxnLst/>
            <a:rect r="r" b="b" t="t" l="l"/>
            <a:pathLst>
              <a:path h="7297147" w="16537444">
                <a:moveTo>
                  <a:pt x="0" y="0"/>
                </a:moveTo>
                <a:lnTo>
                  <a:pt x="16537444" y="0"/>
                </a:lnTo>
                <a:lnTo>
                  <a:pt x="16537444" y="7297147"/>
                </a:lnTo>
                <a:lnTo>
                  <a:pt x="0" y="72971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69216" y="1093377"/>
            <a:ext cx="2474318" cy="46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SE101.Q23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102689" y="1130920"/>
            <a:ext cx="1465785" cy="36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sz="2461" spc="-12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Group 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813505" y="9134475"/>
            <a:ext cx="536377" cy="605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6"/>
              </a:lnSpc>
              <a:spcBef>
                <a:spcPct val="0"/>
              </a:spcBef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08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625707"/>
            <a:ext cx="16230600" cy="3483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67"/>
              </a:lnSpc>
            </a:pPr>
            <a:r>
              <a:rPr lang="en-US" b="true" sz="21737" spc="-76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990796" y="9258300"/>
            <a:ext cx="19278796" cy="1987207"/>
            <a:chOff x="0" y="0"/>
            <a:chExt cx="5077543" cy="5233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77543" cy="523380"/>
            </a:xfrm>
            <a:custGeom>
              <a:avLst/>
              <a:gdLst/>
              <a:ahLst/>
              <a:cxnLst/>
              <a:rect r="r" b="b" t="t" l="l"/>
              <a:pathLst>
                <a:path h="523380" w="5077543">
                  <a:moveTo>
                    <a:pt x="40158" y="0"/>
                  </a:moveTo>
                  <a:lnTo>
                    <a:pt x="5037385" y="0"/>
                  </a:lnTo>
                  <a:cubicBezTo>
                    <a:pt x="5059564" y="0"/>
                    <a:pt x="5077543" y="17979"/>
                    <a:pt x="5077543" y="40158"/>
                  </a:cubicBezTo>
                  <a:lnTo>
                    <a:pt x="5077543" y="483222"/>
                  </a:lnTo>
                  <a:cubicBezTo>
                    <a:pt x="5077543" y="505400"/>
                    <a:pt x="5059564" y="523380"/>
                    <a:pt x="5037385" y="523380"/>
                  </a:cubicBezTo>
                  <a:lnTo>
                    <a:pt x="40158" y="523380"/>
                  </a:lnTo>
                  <a:cubicBezTo>
                    <a:pt x="17979" y="523380"/>
                    <a:pt x="0" y="505400"/>
                    <a:pt x="0" y="483222"/>
                  </a:cubicBezTo>
                  <a:lnTo>
                    <a:pt x="0" y="40158"/>
                  </a:lnTo>
                  <a:cubicBezTo>
                    <a:pt x="0" y="17979"/>
                    <a:pt x="17979" y="0"/>
                    <a:pt x="4015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C014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077543" cy="580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943534" y="6209072"/>
            <a:ext cx="10400931" cy="541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0"/>
              </a:lnSpc>
            </a:pPr>
            <a:r>
              <a:rPr lang="en-US" sz="3050" spc="11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FOR YOUR LISTENING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21856" y="1152859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8" y="0"/>
                </a:lnTo>
                <a:lnTo>
                  <a:pt x="613688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469216" y="1093377"/>
            <a:ext cx="2474318" cy="46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SE101.Q23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102689" y="1130920"/>
            <a:ext cx="1465785" cy="36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sz="2461" spc="-12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Group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DAHG1xOhh-o</dc:identifier>
  <dcterms:modified xsi:type="dcterms:W3CDTF">2011-08-01T06:04:30Z</dcterms:modified>
  <cp:revision>1</cp:revision>
  <dc:title>SE101_Q23-Group07-SlideSeminar</dc:title>
</cp:coreProperties>
</file>