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65"/>
  </p:notesMasterIdLst>
  <p:handoutMasterIdLst>
    <p:handoutMasterId r:id="rId66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303" r:id="rId15"/>
    <p:sldId id="271" r:id="rId16"/>
    <p:sldId id="272" r:id="rId17"/>
    <p:sldId id="273" r:id="rId18"/>
    <p:sldId id="274" r:id="rId19"/>
    <p:sldId id="275" r:id="rId20"/>
    <p:sldId id="276" r:id="rId21"/>
    <p:sldId id="304" r:id="rId22"/>
    <p:sldId id="332" r:id="rId23"/>
    <p:sldId id="305" r:id="rId24"/>
    <p:sldId id="306" r:id="rId25"/>
    <p:sldId id="277" r:id="rId26"/>
    <p:sldId id="330" r:id="rId27"/>
    <p:sldId id="331" r:id="rId28"/>
    <p:sldId id="329" r:id="rId29"/>
    <p:sldId id="279" r:id="rId30"/>
    <p:sldId id="278" r:id="rId31"/>
    <p:sldId id="328" r:id="rId32"/>
    <p:sldId id="307" r:id="rId33"/>
    <p:sldId id="280" r:id="rId34"/>
    <p:sldId id="301" r:id="rId35"/>
    <p:sldId id="281" r:id="rId36"/>
    <p:sldId id="308" r:id="rId37"/>
    <p:sldId id="333" r:id="rId38"/>
    <p:sldId id="282" r:id="rId39"/>
    <p:sldId id="302" r:id="rId40"/>
    <p:sldId id="313" r:id="rId41"/>
    <p:sldId id="343" r:id="rId42"/>
    <p:sldId id="334" r:id="rId43"/>
    <p:sldId id="285" r:id="rId44"/>
    <p:sldId id="286" r:id="rId45"/>
    <p:sldId id="287" r:id="rId46"/>
    <p:sldId id="326" r:id="rId47"/>
    <p:sldId id="288" r:id="rId48"/>
    <p:sldId id="289" r:id="rId49"/>
    <p:sldId id="320" r:id="rId50"/>
    <p:sldId id="322" r:id="rId51"/>
    <p:sldId id="290" r:id="rId52"/>
    <p:sldId id="291" r:id="rId53"/>
    <p:sldId id="292" r:id="rId54"/>
    <p:sldId id="335" r:id="rId55"/>
    <p:sldId id="337" r:id="rId56"/>
    <p:sldId id="298" r:id="rId57"/>
    <p:sldId id="295" r:id="rId58"/>
    <p:sldId id="300" r:id="rId59"/>
    <p:sldId id="336" r:id="rId60"/>
    <p:sldId id="338" r:id="rId61"/>
    <p:sldId id="342" r:id="rId62"/>
    <p:sldId id="340" r:id="rId63"/>
    <p:sldId id="341" r:id="rId64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CCC00"/>
    <a:srgbClr val="6666FF"/>
    <a:srgbClr val="009900"/>
    <a:srgbClr val="CC3300"/>
    <a:srgbClr val="800080"/>
    <a:srgbClr val="339966"/>
    <a:srgbClr val="99CC00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3AD94F-192A-43C9-8B91-25A96E008EB3}" v="2" dt="2023-04-27T02:06:32.3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Van" userId="580e5297ab0e7592" providerId="LiveId" clId="{043AD94F-192A-43C9-8B91-25A96E008EB3}"/>
    <pc:docChg chg="undo modSld">
      <pc:chgData name="Le Van" userId="580e5297ab0e7592" providerId="LiveId" clId="{043AD94F-192A-43C9-8B91-25A96E008EB3}" dt="2023-04-27T02:06:32.370" v="3"/>
      <pc:docMkLst>
        <pc:docMk/>
      </pc:docMkLst>
      <pc:sldChg chg="modSp mod">
        <pc:chgData name="Le Van" userId="580e5297ab0e7592" providerId="LiveId" clId="{043AD94F-192A-43C9-8B91-25A96E008EB3}" dt="2023-04-27T02:06:32.370" v="3"/>
        <pc:sldMkLst>
          <pc:docMk/>
          <pc:sldMk cId="0" sldId="303"/>
        </pc:sldMkLst>
        <pc:spChg chg="mod">
          <ac:chgData name="Le Van" userId="580e5297ab0e7592" providerId="LiveId" clId="{043AD94F-192A-43C9-8B91-25A96E008EB3}" dt="2023-04-27T02:06:32.370" v="3"/>
          <ac:spMkLst>
            <pc:docMk/>
            <pc:sldMk cId="0" sldId="303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8E5BE480-82EC-4904-BAA0-BD7F86682068}" type="datetime1">
              <a:rPr lang="vi-VN" smtClean="0"/>
              <a:pPr/>
              <a:t>27/04/2023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F7097089-306A-46FA-B4B0-8EA863B941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77038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EC1882F-4F2C-4A8C-BFB3-80EDA1D39399}" type="datetime1">
              <a:rPr lang="vi-VN" smtClean="0"/>
              <a:pPr/>
              <a:t>27/04/2023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C7F91533-D538-474A-B255-53BD35DAA7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31535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1B047EB-3FF8-44B8-B26B-487C8BB7DFA9}" type="datetime1">
              <a:rPr lang="vi-VN" smtClean="0"/>
              <a:pPr/>
              <a:t>27/04/2023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355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27/04/2023</a:t>
            </a:fld>
            <a:endParaRPr lang="en-US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180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27/04/2023</a:t>
            </a:fld>
            <a:endParaRPr lang="en-US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61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27/04/2023</a:t>
            </a:fld>
            <a:endParaRPr lang="en-US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313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27/04/2023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05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27/04/2023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307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27/04/2023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2840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27/04/2023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22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27/04/2023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3503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27/04/2023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746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27/04/2023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186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27/04/2023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0328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27/04/2023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290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27/04/2023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1351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27/04/2023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4901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27/04/2023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2069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27/04/2023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7975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27/04/2023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270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263170" name="Rectangle 2"/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charset="0"/>
              </a:endParaRPr>
            </a:p>
          </p:txBody>
        </p:sp>
        <p:grpSp>
          <p:nvGrpSpPr>
            <p:cNvPr id="3" name="Group 14"/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263171" name="Rectangle 3"/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2400">
                  <a:latin typeface="Times New Roman" charset="0"/>
                </a:endParaRPr>
              </a:p>
            </p:txBody>
          </p:sp>
          <p:sp>
            <p:nvSpPr>
              <p:cNvPr id="263172" name="Rectangle 4"/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2400">
                  <a:latin typeface="Times New Roman" charset="0"/>
                </a:endParaRPr>
              </a:p>
            </p:txBody>
          </p:sp>
          <p:sp>
            <p:nvSpPr>
              <p:cNvPr id="263178" name="Line 10"/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" name="Group 15"/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263179" name="Rectangle 11"/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2400">
                  <a:latin typeface="Times New Roman" charset="0"/>
                </a:endParaRPr>
              </a:p>
            </p:txBody>
          </p:sp>
          <p:sp>
            <p:nvSpPr>
              <p:cNvPr id="263180" name="Line 12"/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6317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3174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63175" name="Rectangle 7"/>
          <p:cNvSpPr>
            <a:spLocks noGrp="1" noChangeArrowheads="1"/>
          </p:cNvSpPr>
          <p:nvPr>
            <p:ph type="dt" sz="half" idx="2"/>
          </p:nvPr>
        </p:nvSpPr>
        <p:spPr>
          <a:xfrm>
            <a:off x="912813" y="625157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Chương 1. Cơ sở lôgic</a:t>
            </a:r>
          </a:p>
        </p:txBody>
      </p:sp>
      <p:sp>
        <p:nvSpPr>
          <p:cNvPr id="26317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3354388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263177" name="Rectangle 9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4FC18A56-02AF-4E34-A4B4-7465085CE6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Chương 1. Cơ sở lôgic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9E56B6-077A-4A36-A778-66B152E4D6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Chương 1. Cơ sở lôgic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2E8974-8525-48C6-8B8B-0CF1E605D2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Chương 1. Cơ sở lôgic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F1462C-95F2-4338-9725-C420CDFDE0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Chương 1. Cơ sở lôgic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A3DE1C-4BDA-440A-A41F-E16C4E2D53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Chương 1. Cơ sở lôgic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C7534F-29FB-4919-8BAB-5FEBEEEB81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Chương 1. Cơ sở lôgic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4600A1-4633-4F5B-897C-D8E656B3F1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Chương 1. Cơ sở lôgic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8A9772-CA93-4EB4-9EBF-42A5979DC0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Chương 1. Cơ sở lôgic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E5C556-580B-475C-AFB0-CFDBA8156D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Chương 1. Cơ sở lôgic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5A1CE8-D3B8-43CA-81C2-73EAD8A6CF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77813"/>
            <a:ext cx="19431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7813"/>
            <a:ext cx="56769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Chương 1. Cơ sở lôgic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D5E666-5980-4488-BF3C-D9BF1569460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0" y="0"/>
            <a:ext cx="8686800" cy="4876800"/>
            <a:chOff x="0" y="0"/>
            <a:chExt cx="5472" cy="3072"/>
          </a:xfrm>
        </p:grpSpPr>
        <p:sp>
          <p:nvSpPr>
            <p:cNvPr id="262147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charset="0"/>
              </a:endParaRPr>
            </a:p>
          </p:txBody>
        </p:sp>
        <p:grpSp>
          <p:nvGrpSpPr>
            <p:cNvPr id="3" name="Group 11"/>
            <p:cNvGrpSpPr>
              <a:grpSpLocks/>
            </p:cNvGrpSpPr>
            <p:nvPr/>
          </p:nvGrpSpPr>
          <p:grpSpPr bwMode="auto"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262146" name="Rectangle 2"/>
              <p:cNvSpPr>
                <a:spLocks noChangeArrowheads="1"/>
              </p:cNvSpPr>
              <p:nvPr/>
            </p:nvSpPr>
            <p:spPr bwMode="auto">
              <a:xfrm>
                <a:off x="4320" y="893"/>
                <a:ext cx="1152" cy="11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2400">
                  <a:latin typeface="Times New Roman" charset="0"/>
                </a:endParaRPr>
              </a:p>
            </p:txBody>
          </p:sp>
          <p:sp>
            <p:nvSpPr>
              <p:cNvPr id="262148" name="Line 4"/>
              <p:cNvSpPr>
                <a:spLocks noChangeShapeType="1"/>
              </p:cNvSpPr>
              <p:nvPr/>
            </p:nvSpPr>
            <p:spPr bwMode="auto">
              <a:xfrm>
                <a:off x="240" y="941"/>
                <a:ext cx="523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6214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7813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6215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600200"/>
            <a:ext cx="77724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2151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51575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r>
              <a:rPr lang="en-US"/>
              <a:t>Chương 1. Cơ sở lôgic</a:t>
            </a:r>
          </a:p>
        </p:txBody>
      </p:sp>
      <p:sp>
        <p:nvSpPr>
          <p:cNvPr id="262152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endParaRPr lang="en-US"/>
          </a:p>
        </p:txBody>
      </p:sp>
      <p:sp>
        <p:nvSpPr>
          <p:cNvPr id="262153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7E771C45-088B-4C6D-8E84-CBEAD85176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2154" name="Line 10"/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itchFamily="2" charset="2"/>
        <a:buChar char="n"/>
        <a:defRPr sz="23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12.emf"/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12" Type="http://schemas.openxmlformats.org/officeDocument/2006/relationships/oleObject" Target="../embeddings/oleObject12.bin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1.wmf"/><Relationship Id="rId5" Type="http://schemas.openxmlformats.org/officeDocument/2006/relationships/image" Target="../media/image8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0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8.bin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1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11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17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0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3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5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35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34.bin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43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42.wmf"/><Relationship Id="rId4" Type="http://schemas.openxmlformats.org/officeDocument/2006/relationships/image" Target="../media/image39.wmf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44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w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55.wmf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981200" y="1143000"/>
            <a:ext cx="7010400" cy="2209800"/>
          </a:xfrm>
        </p:spPr>
        <p:txBody>
          <a:bodyPr/>
          <a:lstStyle/>
          <a:p>
            <a:r>
              <a:rPr lang="en-US" sz="5400" b="1" dirty="0"/>
              <a:t>CẤU TRÚC RỜI RẠC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C18A56-02AF-4E34-A4B4-7465085CE680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" name="Hình chữ nhật 1"/>
          <p:cNvSpPr/>
          <p:nvPr/>
        </p:nvSpPr>
        <p:spPr>
          <a:xfrm>
            <a:off x="1524000" y="4038600"/>
            <a:ext cx="65532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200" dirty="0">
                <a:solidFill>
                  <a:schemeClr val="bg2"/>
                </a:solidFill>
              </a:rPr>
              <a:t>CHƯƠNG I: CƠ SỞ LOGIC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CHƯƠNG I: CƠ SỞ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endParaRPr lang="en-US" sz="3200" dirty="0">
              <a:solidFill>
                <a:srgbClr val="0070C0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Ø"/>
            </a:pPr>
            <a:r>
              <a:rPr lang="vi-VN" sz="3200" dirty="0">
                <a:solidFill>
                  <a:srgbClr val="0070C0"/>
                </a:solidFill>
              </a:rPr>
              <a:t>Mệnh đề</a:t>
            </a:r>
          </a:p>
          <a:p>
            <a:pPr>
              <a:buClr>
                <a:schemeClr val="accent2"/>
              </a:buClr>
              <a:buFont typeface="Wingdings" pitchFamily="2" charset="2"/>
              <a:buChar char="Ø"/>
            </a:pPr>
            <a:r>
              <a:rPr lang="en-US" sz="3200" dirty="0" err="1">
                <a:solidFill>
                  <a:srgbClr val="0070C0"/>
                </a:solidFill>
              </a:rPr>
              <a:t>Biểu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thức</a:t>
            </a:r>
            <a:r>
              <a:rPr lang="en-US" sz="3200" dirty="0">
                <a:solidFill>
                  <a:srgbClr val="0070C0"/>
                </a:solidFill>
              </a:rPr>
              <a:t> logic (</a:t>
            </a:r>
            <a:r>
              <a:rPr lang="en-US" sz="3200" dirty="0" err="1">
                <a:solidFill>
                  <a:srgbClr val="0070C0"/>
                </a:solidFill>
              </a:rPr>
              <a:t>Dạng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mệnh</a:t>
            </a: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3200" dirty="0" err="1">
                <a:solidFill>
                  <a:srgbClr val="0070C0"/>
                </a:solidFill>
              </a:rPr>
              <a:t>đề</a:t>
            </a:r>
            <a:r>
              <a:rPr lang="en-US" sz="3200" dirty="0">
                <a:solidFill>
                  <a:srgbClr val="0070C0"/>
                </a:solidFill>
              </a:rPr>
              <a:t>)</a:t>
            </a:r>
            <a:endParaRPr lang="vi-VN" sz="3200" dirty="0">
              <a:solidFill>
                <a:srgbClr val="0070C0"/>
              </a:solidFill>
            </a:endParaRPr>
          </a:p>
          <a:p>
            <a:pPr>
              <a:buClr>
                <a:schemeClr val="accent2"/>
              </a:buClr>
              <a:buFont typeface="Wingdings" pitchFamily="2" charset="2"/>
              <a:buChar char="Ø"/>
            </a:pPr>
            <a:r>
              <a:rPr lang="vi-VN" sz="3200" dirty="0">
                <a:solidFill>
                  <a:srgbClr val="0070C0"/>
                </a:solidFill>
              </a:rPr>
              <a:t>Qui tắc suy diễn</a:t>
            </a:r>
          </a:p>
          <a:p>
            <a:pPr>
              <a:buClr>
                <a:schemeClr val="accent2"/>
              </a:buClr>
              <a:buFont typeface="Wingdings" pitchFamily="2" charset="2"/>
              <a:buChar char="Ø"/>
            </a:pPr>
            <a:r>
              <a:rPr lang="vi-VN" sz="3200" dirty="0">
                <a:solidFill>
                  <a:srgbClr val="0070C0"/>
                </a:solidFill>
              </a:rPr>
              <a:t>Vị từ, lượng từ</a:t>
            </a:r>
          </a:p>
          <a:p>
            <a:pPr>
              <a:buClr>
                <a:schemeClr val="accent2"/>
              </a:buClr>
              <a:buFont typeface="Wingdings" pitchFamily="2" charset="2"/>
              <a:buChar char="Ø"/>
            </a:pPr>
            <a:r>
              <a:rPr lang="vi-VN" sz="3200" dirty="0">
                <a:solidFill>
                  <a:srgbClr val="0070C0"/>
                </a:solidFill>
              </a:rPr>
              <a:t>Quy nạp toán học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Mệnh</a:t>
            </a:r>
            <a:r>
              <a:rPr lang="en-US" sz="4800" b="1" dirty="0"/>
              <a:t> </a:t>
            </a:r>
            <a:r>
              <a:rPr lang="en-US" sz="4800" b="1" dirty="0" err="1"/>
              <a:t>đề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vi-VN" b="1" dirty="0">
                <a:solidFill>
                  <a:srgbClr val="0070C0"/>
                </a:solidFill>
              </a:rPr>
              <a:t> Định nghĩa: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vi-VN" dirty="0"/>
              <a:t>Mệnh đề là một khẳng định có giá trị chân lý</a:t>
            </a:r>
            <a:r>
              <a:rPr lang="en-US" dirty="0"/>
              <a:t> </a:t>
            </a:r>
            <a:r>
              <a:rPr lang="vi-VN" dirty="0"/>
              <a:t>xác định, đúng hoặc sai.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vi-VN" dirty="0"/>
              <a:t>Câu hỏi, câu cảm thán, mệnh lệnh… không là mệnh đề.</a:t>
            </a:r>
            <a:endParaRPr lang="en-US" dirty="0"/>
          </a:p>
          <a:p>
            <a:pPr>
              <a:buNone/>
            </a:pPr>
            <a:r>
              <a:rPr lang="vi-VN" dirty="0">
                <a:solidFill>
                  <a:srgbClr val="CC3300"/>
                </a:solidFill>
              </a:rPr>
              <a:t>Ví dụ: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vi-VN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CNTT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ĐHQG TP.HCM.</a:t>
            </a:r>
            <a:endParaRPr lang="vi-VN" dirty="0"/>
          </a:p>
          <a:p>
            <a:pPr>
              <a:buFont typeface="Wingdings" panose="05000000000000000000" pitchFamily="2" charset="2"/>
              <a:buChar char="ü"/>
            </a:pPr>
            <a:r>
              <a:rPr lang="vi-VN" dirty="0"/>
              <a:t> 1+</a:t>
            </a:r>
            <a:r>
              <a:rPr lang="en-US" dirty="0"/>
              <a:t>7</a:t>
            </a:r>
            <a:r>
              <a:rPr lang="vi-VN" dirty="0"/>
              <a:t> =</a:t>
            </a:r>
            <a:r>
              <a:rPr lang="en-US" dirty="0"/>
              <a:t>8.</a:t>
            </a:r>
            <a:endParaRPr lang="vi-VN" dirty="0"/>
          </a:p>
          <a:p>
            <a:pPr>
              <a:buFont typeface="Wingdings" panose="05000000000000000000" pitchFamily="2" charset="2"/>
              <a:buChar char="ü"/>
            </a:pPr>
            <a:r>
              <a:rPr lang="vi-VN" dirty="0"/>
              <a:t> Hôm nay </a:t>
            </a:r>
            <a:r>
              <a:rPr lang="en-US" dirty="0" err="1"/>
              <a:t>em</a:t>
            </a:r>
            <a:r>
              <a:rPr lang="vi-VN" dirty="0"/>
              <a:t> đẹp quá!  (k</a:t>
            </a:r>
            <a:r>
              <a:rPr lang="en-US" dirty="0" err="1"/>
              <a:t>hông</a:t>
            </a:r>
            <a:r>
              <a:rPr lang="vi-VN" dirty="0"/>
              <a:t> là mệnh đề)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dirty="0" err="1"/>
              <a:t>Hôm</a:t>
            </a:r>
            <a:r>
              <a:rPr lang="en-US" dirty="0"/>
              <a:t> nay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mấy</a:t>
            </a:r>
            <a:r>
              <a:rPr lang="en-US" dirty="0"/>
              <a:t>?</a:t>
            </a:r>
            <a:r>
              <a:rPr lang="vi-VN" dirty="0"/>
              <a:t> (k</a:t>
            </a:r>
            <a:r>
              <a:rPr lang="en-US" dirty="0" err="1"/>
              <a:t>hông</a:t>
            </a:r>
            <a:r>
              <a:rPr lang="vi-VN" dirty="0"/>
              <a:t> là mệnh đề)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Mệnh</a:t>
            </a:r>
            <a:r>
              <a:rPr lang="en-US" sz="4800" b="1" dirty="0"/>
              <a:t> </a:t>
            </a:r>
            <a:r>
              <a:rPr lang="en-US" sz="4800" b="1" dirty="0" err="1"/>
              <a:t>đề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dirty="0">
                <a:solidFill>
                  <a:srgbClr val="CC3300"/>
                </a:solidFill>
              </a:rPr>
              <a:t>Ký hiệu:  </a:t>
            </a:r>
            <a:r>
              <a:rPr lang="vi-VN" dirty="0"/>
              <a:t>người ta dùng các ký hiệu P, Q, R… </a:t>
            </a:r>
            <a:r>
              <a:rPr lang="en-US" dirty="0"/>
              <a:t>(</a:t>
            </a:r>
            <a:r>
              <a:rPr lang="en-US" dirty="0" err="1"/>
              <a:t>p,q,r</a:t>
            </a:r>
            <a:r>
              <a:rPr lang="en-US" dirty="0"/>
              <a:t>,…) </a:t>
            </a:r>
            <a:r>
              <a:rPr lang="vi-VN" dirty="0"/>
              <a:t>để chỉ mệnh đề.</a:t>
            </a:r>
          </a:p>
          <a:p>
            <a:pPr algn="just"/>
            <a:r>
              <a:rPr lang="vi-VN" dirty="0">
                <a:solidFill>
                  <a:srgbClr val="CC3300"/>
                </a:solidFill>
              </a:rPr>
              <a:t>Chân trị của mệnh đề: </a:t>
            </a:r>
            <a:r>
              <a:rPr lang="vi-VN" dirty="0"/>
              <a:t>Một mệnh đề chỉ có thể đúng hoặc sai, không thể</a:t>
            </a:r>
            <a:r>
              <a:rPr lang="en-US" dirty="0"/>
              <a:t> </a:t>
            </a:r>
            <a:r>
              <a:rPr lang="vi-VN" dirty="0"/>
              <a:t>đồng thời vừa đúng vừa sai. Khi mệnh đề P đúng ta nói P có chân trị đúng, ngược lại ta nói P có chân</a:t>
            </a:r>
            <a:r>
              <a:rPr lang="en-US" dirty="0"/>
              <a:t> </a:t>
            </a:r>
            <a:r>
              <a:rPr lang="vi-VN" dirty="0"/>
              <a:t>trị sai. </a:t>
            </a:r>
          </a:p>
          <a:p>
            <a:pPr algn="just"/>
            <a:r>
              <a:rPr lang="vi-VN" dirty="0"/>
              <a:t>Chân trị đúng và chân trị sai sẽ được ký hiệu lần lượt </a:t>
            </a:r>
            <a:r>
              <a:rPr lang="vi-VN" dirty="0" err="1"/>
              <a:t>là</a:t>
            </a:r>
            <a:r>
              <a:rPr lang="vi-VN" dirty="0"/>
              <a:t> 1 (hay Đ, T) </a:t>
            </a:r>
            <a:r>
              <a:rPr lang="vi-VN" dirty="0" err="1"/>
              <a:t>và</a:t>
            </a:r>
            <a:r>
              <a:rPr lang="vi-VN" dirty="0"/>
              <a:t> 0 (hay S, F)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Mệnh</a:t>
            </a:r>
            <a:r>
              <a:rPr lang="en-US" sz="4800" b="1" dirty="0"/>
              <a:t> </a:t>
            </a:r>
            <a:r>
              <a:rPr lang="en-US" sz="4800" b="1" dirty="0" err="1"/>
              <a:t>đề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vi-VN" dirty="0">
                <a:solidFill>
                  <a:srgbClr val="0070C0"/>
                </a:solidFill>
              </a:rPr>
              <a:t>Phân loại: </a:t>
            </a:r>
            <a:r>
              <a:rPr lang="vi-VN" dirty="0"/>
              <a:t>gồm 2 loại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 </a:t>
            </a:r>
            <a:r>
              <a:rPr lang="vi-VN" dirty="0">
                <a:solidFill>
                  <a:srgbClr val="CC3300"/>
                </a:solidFill>
              </a:rPr>
              <a:t>Mệnh đề phức hợp: </a:t>
            </a:r>
            <a:r>
              <a:rPr lang="vi-VN" dirty="0"/>
              <a:t>là mệnh đề được xây dựng từ các</a:t>
            </a:r>
            <a:r>
              <a:rPr lang="en-US" dirty="0"/>
              <a:t> </a:t>
            </a:r>
            <a:r>
              <a:rPr lang="vi-VN" dirty="0"/>
              <a:t>mệnh đề khác nhờ liên kết bằng các liên từ (và, hay, khi</a:t>
            </a:r>
            <a:r>
              <a:rPr lang="en-US" dirty="0"/>
              <a:t> </a:t>
            </a:r>
            <a:r>
              <a:rPr lang="vi-VN" dirty="0"/>
              <a:t>và chỉ khi,…) hoặc trạng từ “không”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 </a:t>
            </a:r>
            <a:r>
              <a:rPr lang="vi-VN" dirty="0">
                <a:solidFill>
                  <a:srgbClr val="CC3300"/>
                </a:solidFill>
              </a:rPr>
              <a:t>Mệnh đề sơ cấp (nguyên thủy): </a:t>
            </a:r>
            <a:r>
              <a:rPr lang="vi-VN" dirty="0"/>
              <a:t>Là mệnh đề không thể</a:t>
            </a:r>
            <a:r>
              <a:rPr lang="en-US" dirty="0"/>
              <a:t> </a:t>
            </a:r>
            <a:r>
              <a:rPr lang="vi-VN" dirty="0"/>
              <a:t>xây dựng từ các mệnh đề khác thông qua liên từ hoặc</a:t>
            </a:r>
            <a:r>
              <a:rPr lang="en-US" dirty="0"/>
              <a:t> </a:t>
            </a:r>
            <a:r>
              <a:rPr lang="vi-VN" dirty="0"/>
              <a:t>trạng từ “không”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Mệnh</a:t>
            </a:r>
            <a:r>
              <a:rPr lang="en-US" sz="4800" b="1" dirty="0"/>
              <a:t> </a:t>
            </a:r>
            <a:r>
              <a:rPr lang="en-US" sz="4800" b="1" dirty="0" err="1"/>
              <a:t>đề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vi-VN" dirty="0">
                <a:solidFill>
                  <a:schemeClr val="accent2"/>
                </a:solidFill>
              </a:rPr>
              <a:t>Ví dụ: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vi-VN" dirty="0"/>
              <a:t> 2 là số nguyên </a:t>
            </a:r>
            <a:r>
              <a:rPr lang="vi-VN" dirty="0" err="1"/>
              <a:t>tố</a:t>
            </a:r>
            <a:r>
              <a:rPr lang="en-US" dirty="0"/>
              <a:t>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vi-VN" dirty="0"/>
              <a:t> 2 </a:t>
            </a:r>
            <a:r>
              <a:rPr lang="en-US" dirty="0" err="1"/>
              <a:t>không</a:t>
            </a:r>
            <a:r>
              <a:rPr lang="en-US" dirty="0"/>
              <a:t> l</a:t>
            </a:r>
            <a:r>
              <a:rPr lang="vi-VN" dirty="0"/>
              <a:t>à số nguyên tố</a:t>
            </a:r>
            <a:r>
              <a:rPr lang="en-US" dirty="0"/>
              <a:t>.</a:t>
            </a:r>
            <a:endParaRPr lang="vi-VN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/>
              <a:t> 2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lẻ</a:t>
            </a:r>
            <a:r>
              <a:rPr lang="en-US" dirty="0"/>
              <a:t>.</a:t>
            </a:r>
            <a:endParaRPr lang="vi-VN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/>
              <a:t> An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ti</a:t>
            </a:r>
            <a:r>
              <a:rPr lang="en-US" dirty="0"/>
              <a:t> vi hay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vi-VN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Các phép toán</a:t>
            </a:r>
            <a:r>
              <a:rPr lang="vi-V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có 5 phép toán</a:t>
            </a:r>
          </a:p>
          <a:p>
            <a:pPr marL="4763" indent="400050" algn="just">
              <a:buClr>
                <a:srgbClr val="FF0000"/>
              </a:buClr>
              <a:buFont typeface="+mj-lt"/>
              <a:buAutoNum type="arabicPeriod"/>
            </a:pPr>
            <a:r>
              <a:rPr lang="vi-VN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Phép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vi-VN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phủ định: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vi-V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phủ định của mệnh đề P </a:t>
            </a:r>
            <a:r>
              <a: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một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mệnh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đề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vi-V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ký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vi-V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hiệu là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  <a:sym typeface="Symbol"/>
              </a:rPr>
              <a:t></a:t>
            </a:r>
            <a:r>
              <a:rPr lang="vi-V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 hay    (đọc là “không” P hay “phủ định</a:t>
            </a:r>
            <a:r>
              <a:rPr lang="en-US" dirty="0"/>
              <a:t> c</a:t>
            </a:r>
            <a:r>
              <a:rPr lang="vi-V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ủa” P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vi-V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pPr algn="just">
              <a:buNone/>
            </a:pPr>
            <a:r>
              <a:rPr lang="vi-V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Bảng chân trị : </a:t>
            </a:r>
          </a:p>
          <a:p>
            <a:pPr algn="just">
              <a:buNone/>
            </a:pPr>
            <a:r>
              <a:rPr lang="vi-VN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Ví dụ: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vi-V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2 là số nguyên tố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vi-VN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just">
              <a:buNone/>
            </a:pPr>
            <a:r>
              <a:rPr lang="vi-V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Phủ định: 2 không là số nguyên tố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vi-V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 &gt; 5</a:t>
            </a:r>
            <a:r>
              <a:rPr lang="vi-V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</a:t>
            </a:r>
            <a:r>
              <a:rPr lang="vi-V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Phủ định: 1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 </a:t>
            </a:r>
            <a:r>
              <a:rPr lang="vi-V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≤ 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</a:t>
            </a:r>
          </a:p>
          <a:p>
            <a:pPr algn="just">
              <a:buFontTx/>
              <a:buChar char="-"/>
            </a:pPr>
            <a:endParaRPr lang="en-US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0" y="3505200"/>
          <a:ext cx="2438400" cy="1259840"/>
        </p:xfrm>
        <a:graphic>
          <a:graphicData uri="http://schemas.openxmlformats.org/drawingml/2006/table">
            <a:tbl>
              <a:tblPr firstRow="1" bandRow="1">
                <a:effectLst/>
                <a:tableStyleId>{7DF18680-E054-41AD-8BC1-D1AEF772440D}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Mệnh</a:t>
            </a:r>
            <a:r>
              <a:rPr lang="en-US" sz="4800" b="1" dirty="0"/>
              <a:t> </a:t>
            </a:r>
            <a:r>
              <a:rPr lang="en-US" sz="4800" b="1" dirty="0" err="1"/>
              <a:t>đề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7175281" y="3519268"/>
          <a:ext cx="306387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200" imgH="406080" progId="Equation.DSMT4">
                  <p:embed/>
                </p:oleObj>
              </mc:Choice>
              <mc:Fallback>
                <p:oleObj name="Equation" r:id="rId2" imgW="241200" imgH="406080" progId="Equation.DSMT4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281" y="3519268"/>
                        <a:ext cx="306387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6934200" y="2514600"/>
          <a:ext cx="306387" cy="457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1200" imgH="406080" progId="Equation.DSMT4">
                  <p:embed/>
                </p:oleObj>
              </mc:Choice>
              <mc:Fallback>
                <p:oleObj name="Equation" r:id="rId4" imgW="241200" imgH="406080" progId="Equation.DSMT4">
                  <p:embed/>
                  <p:pic>
                    <p:nvPicPr>
                      <p:cNvPr id="1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2514600"/>
                        <a:ext cx="306387" cy="4574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7772400" cy="4953000"/>
          </a:xfrm>
        </p:spPr>
        <p:txBody>
          <a:bodyPr/>
          <a:lstStyle/>
          <a:p>
            <a:pPr marL="0" indent="1588" algn="just">
              <a:buClr>
                <a:srgbClr val="FF0000"/>
              </a:buClr>
              <a:buFont typeface="+mj-lt"/>
              <a:buAutoNum type="arabicPeriod" startAt="2"/>
            </a:pPr>
            <a:r>
              <a:rPr lang="vi-VN" dirty="0">
                <a:latin typeface="+mn-lt"/>
                <a:ea typeface="+mn-ea"/>
                <a:cs typeface="+mn-cs"/>
              </a:rPr>
              <a:t> </a:t>
            </a:r>
            <a:r>
              <a:rPr lang="vi-VN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Phép hội (nối liền, giao): </a:t>
            </a:r>
            <a:r>
              <a:rPr lang="vi-VN" dirty="0">
                <a:latin typeface="+mn-lt"/>
                <a:ea typeface="+mn-ea"/>
                <a:cs typeface="+mn-cs"/>
              </a:rPr>
              <a:t>của hai mệnh đề P, Q </a:t>
            </a:r>
            <a:r>
              <a:rPr lang="en-US" dirty="0" err="1">
                <a:latin typeface="+mn-lt"/>
                <a:ea typeface="+mn-ea"/>
                <a:cs typeface="+mn-cs"/>
              </a:rPr>
              <a:t>là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một</a:t>
            </a:r>
            <a:r>
              <a:rPr lang="en-US" dirty="0"/>
              <a:t> </a:t>
            </a:r>
            <a:r>
              <a:rPr lang="en-US" dirty="0" err="1"/>
              <a:t>mệnh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,</a:t>
            </a:r>
            <a:r>
              <a:rPr lang="vi-VN" dirty="0">
                <a:latin typeface="+mn-lt"/>
                <a:ea typeface="+mn-ea"/>
                <a:cs typeface="+mn-cs"/>
              </a:rPr>
              <a:t> kí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vi-VN" dirty="0">
                <a:latin typeface="+mn-lt"/>
                <a:ea typeface="+mn-ea"/>
                <a:cs typeface="+mn-cs"/>
              </a:rPr>
              <a:t>hiệu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vi-VN" dirty="0">
                <a:latin typeface="+mn-lt"/>
                <a:ea typeface="+mn-ea"/>
                <a:cs typeface="+mn-cs"/>
              </a:rPr>
              <a:t>P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vi-VN" dirty="0">
                <a:latin typeface="+mn-lt"/>
                <a:ea typeface="+mn-ea"/>
                <a:cs typeface="+mn-cs"/>
                <a:sym typeface="Symbol"/>
              </a:rPr>
              <a:t></a:t>
            </a:r>
            <a:r>
              <a:rPr lang="vi-VN" dirty="0">
                <a:latin typeface="+mn-lt"/>
                <a:ea typeface="+mn-ea"/>
                <a:cs typeface="+mn-cs"/>
              </a:rPr>
              <a:t> Q (đọc là “P và Q</a:t>
            </a:r>
            <a:r>
              <a:rPr lang="en-US" dirty="0">
                <a:latin typeface="+mn-lt"/>
                <a:ea typeface="+mn-ea"/>
                <a:cs typeface="+mn-cs"/>
              </a:rPr>
              <a:t>)</a:t>
            </a:r>
            <a:endParaRPr lang="vi-VN" dirty="0">
              <a:latin typeface="+mn-lt"/>
              <a:ea typeface="+mn-ea"/>
              <a:cs typeface="+mn-cs"/>
            </a:endParaRPr>
          </a:p>
          <a:p>
            <a:pPr algn="just">
              <a:buNone/>
            </a:pPr>
            <a:r>
              <a:rPr lang="vi-VN" dirty="0">
                <a:latin typeface="+mn-lt"/>
                <a:ea typeface="+mn-ea"/>
                <a:cs typeface="+mn-cs"/>
              </a:rPr>
              <a:t>Bảng chân trị</a:t>
            </a:r>
            <a:r>
              <a:rPr lang="en-US" dirty="0">
                <a:latin typeface="+mn-lt"/>
                <a:ea typeface="+mn-ea"/>
                <a:cs typeface="+mn-cs"/>
              </a:rPr>
              <a:t>:</a:t>
            </a:r>
          </a:p>
          <a:p>
            <a:pPr algn="just">
              <a:buNone/>
            </a:pPr>
            <a:r>
              <a:rPr lang="en-US" dirty="0">
                <a:solidFill>
                  <a:schemeClr val="accent2"/>
                </a:solidFill>
              </a:rPr>
              <a:t>NX</a:t>
            </a:r>
            <a:r>
              <a:rPr lang="en-US" dirty="0"/>
              <a:t>: </a:t>
            </a:r>
            <a:r>
              <a:rPr lang="vi-VN" dirty="0"/>
              <a:t>P</a:t>
            </a:r>
            <a:r>
              <a:rPr lang="vi-VN" dirty="0">
                <a:sym typeface="Symbol"/>
              </a:rPr>
              <a:t></a:t>
            </a:r>
            <a:r>
              <a:rPr lang="vi-VN" dirty="0"/>
              <a:t>Q đúng khi và chỉ khi </a:t>
            </a:r>
            <a:endParaRPr lang="en-US" dirty="0"/>
          </a:p>
          <a:p>
            <a:pPr algn="just">
              <a:buNone/>
            </a:pPr>
            <a:r>
              <a:rPr lang="vi-VN" dirty="0"/>
              <a:t>P và Q</a:t>
            </a:r>
            <a:r>
              <a:rPr lang="en-US" dirty="0"/>
              <a:t> </a:t>
            </a:r>
            <a:r>
              <a:rPr lang="vi-VN" dirty="0"/>
              <a:t>đồng thời đúng.</a:t>
            </a:r>
            <a:endParaRPr lang="vi-VN" dirty="0">
              <a:latin typeface="+mn-lt"/>
              <a:ea typeface="+mn-ea"/>
              <a:cs typeface="+mn-cs"/>
            </a:endParaRPr>
          </a:p>
          <a:p>
            <a:pPr algn="just">
              <a:buNone/>
            </a:pPr>
            <a:r>
              <a:rPr lang="vi-VN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Ví dụ:</a:t>
            </a:r>
          </a:p>
          <a:p>
            <a:pPr algn="just">
              <a:buNone/>
            </a:pPr>
            <a:r>
              <a:rPr lang="en-US" dirty="0"/>
              <a:t> </a:t>
            </a:r>
            <a:r>
              <a:rPr lang="vi-VN" dirty="0">
                <a:latin typeface="+mn-lt"/>
                <a:ea typeface="+mn-ea"/>
                <a:cs typeface="+mn-cs"/>
              </a:rPr>
              <a:t> </a:t>
            </a:r>
            <a:r>
              <a:rPr lang="en-US" dirty="0">
                <a:latin typeface="+mn-lt"/>
                <a:ea typeface="+mn-ea"/>
                <a:cs typeface="+mn-cs"/>
              </a:rPr>
              <a:t>P: “</a:t>
            </a:r>
            <a:r>
              <a:rPr lang="en-US" dirty="0" err="1">
                <a:latin typeface="+mn-lt"/>
                <a:ea typeface="+mn-ea"/>
                <a:cs typeface="+mn-cs"/>
              </a:rPr>
              <a:t>Hôm</a:t>
            </a:r>
            <a:r>
              <a:rPr lang="en-US" dirty="0">
                <a:latin typeface="+mn-lt"/>
                <a:ea typeface="+mn-ea"/>
                <a:cs typeface="+mn-cs"/>
              </a:rPr>
              <a:t> nay </a:t>
            </a:r>
            <a:r>
              <a:rPr lang="en-US" dirty="0" err="1">
                <a:latin typeface="+mn-lt"/>
                <a:ea typeface="+mn-ea"/>
                <a:cs typeface="+mn-cs"/>
              </a:rPr>
              <a:t>là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chủ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nhật</a:t>
            </a:r>
            <a:r>
              <a:rPr lang="en-US" dirty="0">
                <a:latin typeface="+mn-lt"/>
                <a:ea typeface="+mn-ea"/>
                <a:cs typeface="+mn-cs"/>
              </a:rPr>
              <a:t>”</a:t>
            </a:r>
            <a:endParaRPr lang="vi-VN" dirty="0">
              <a:latin typeface="+mn-lt"/>
              <a:ea typeface="+mn-ea"/>
              <a:cs typeface="+mn-cs"/>
            </a:endParaRPr>
          </a:p>
          <a:p>
            <a:pPr algn="just">
              <a:buNone/>
            </a:pPr>
            <a:r>
              <a:rPr lang="en-US" dirty="0">
                <a:latin typeface="+mn-lt"/>
                <a:ea typeface="+mn-ea"/>
                <a:cs typeface="+mn-cs"/>
              </a:rPr>
              <a:t>  Q: “</a:t>
            </a:r>
            <a:r>
              <a:rPr lang="en-US" dirty="0" err="1">
                <a:latin typeface="+mn-lt"/>
                <a:ea typeface="+mn-ea"/>
                <a:cs typeface="+mn-cs"/>
              </a:rPr>
              <a:t>Hôm</a:t>
            </a:r>
            <a:r>
              <a:rPr lang="en-US" dirty="0">
                <a:latin typeface="+mn-lt"/>
                <a:ea typeface="+mn-ea"/>
                <a:cs typeface="+mn-cs"/>
              </a:rPr>
              <a:t> nay </a:t>
            </a:r>
            <a:r>
              <a:rPr lang="en-US" dirty="0" err="1">
                <a:latin typeface="+mn-lt"/>
                <a:ea typeface="+mn-ea"/>
                <a:cs typeface="+mn-cs"/>
              </a:rPr>
              <a:t>trời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mưa</a:t>
            </a:r>
            <a:r>
              <a:rPr lang="en-US" dirty="0">
                <a:latin typeface="+mn-lt"/>
                <a:ea typeface="+mn-ea"/>
                <a:cs typeface="+mn-cs"/>
              </a:rPr>
              <a:t>”</a:t>
            </a:r>
          </a:p>
          <a:p>
            <a:pPr algn="just">
              <a:buNone/>
            </a:pPr>
            <a:r>
              <a:rPr lang="en-US" dirty="0"/>
              <a:t>  </a:t>
            </a:r>
            <a:r>
              <a:rPr lang="vi-VN" dirty="0">
                <a:latin typeface="+mn-lt"/>
                <a:ea typeface="+mn-ea"/>
                <a:cs typeface="+mn-cs"/>
              </a:rPr>
              <a:t>P </a:t>
            </a:r>
            <a:r>
              <a:rPr lang="vi-VN" dirty="0">
                <a:latin typeface="+mn-lt"/>
                <a:ea typeface="+mn-ea"/>
                <a:cs typeface="+mn-cs"/>
                <a:sym typeface="Symbol"/>
              </a:rPr>
              <a:t></a:t>
            </a:r>
            <a:r>
              <a:rPr lang="vi-VN" dirty="0">
                <a:latin typeface="+mn-lt"/>
                <a:ea typeface="+mn-ea"/>
                <a:cs typeface="+mn-cs"/>
              </a:rPr>
              <a:t> Q</a:t>
            </a:r>
            <a:r>
              <a:rPr lang="en-US" dirty="0">
                <a:latin typeface="+mn-lt"/>
                <a:ea typeface="+mn-ea"/>
                <a:cs typeface="+mn-cs"/>
              </a:rPr>
              <a:t>: “ </a:t>
            </a:r>
            <a:r>
              <a:rPr lang="en-US" dirty="0" err="1">
                <a:latin typeface="+mn-lt"/>
                <a:ea typeface="+mn-ea"/>
                <a:cs typeface="+mn-cs"/>
              </a:rPr>
              <a:t>Hôm</a:t>
            </a:r>
            <a:r>
              <a:rPr lang="en-US" dirty="0">
                <a:latin typeface="+mn-lt"/>
                <a:ea typeface="+mn-ea"/>
                <a:cs typeface="+mn-cs"/>
              </a:rPr>
              <a:t> nay </a:t>
            </a:r>
            <a:r>
              <a:rPr lang="en-US" dirty="0" err="1">
                <a:latin typeface="+mn-lt"/>
                <a:ea typeface="+mn-ea"/>
                <a:cs typeface="+mn-cs"/>
              </a:rPr>
              <a:t>là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chủ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nhật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và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trời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mưa</a:t>
            </a:r>
            <a:r>
              <a:rPr lang="en-US" dirty="0">
                <a:latin typeface="+mn-lt"/>
                <a:ea typeface="+mn-ea"/>
                <a:cs typeface="+mn-cs"/>
              </a:rPr>
              <a:t>”</a:t>
            </a:r>
            <a:endParaRPr lang="en-US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943600" y="2667000"/>
          <a:ext cx="2755245" cy="1706880"/>
        </p:xfrm>
        <a:graphic>
          <a:graphicData uri="http://schemas.openxmlformats.org/drawingml/2006/table">
            <a:tbl>
              <a:tblPr firstRow="1" bandRow="1">
                <a:effectLst/>
                <a:tableStyleId>{7DF18680-E054-41AD-8BC1-D1AEF772440D}</a:tableStyleId>
              </a:tblPr>
              <a:tblGrid>
                <a:gridCol w="918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8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2643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vi-VN" sz="2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/>
                        </a:rPr>
                        <a:t>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13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Mệnh</a:t>
            </a:r>
            <a:r>
              <a:rPr lang="en-US" sz="4800" b="1" dirty="0"/>
              <a:t> </a:t>
            </a:r>
            <a:r>
              <a:rPr lang="en-US" sz="4800" b="1" dirty="0" err="1"/>
              <a:t>đề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7772400" cy="4800600"/>
          </a:xfrm>
        </p:spPr>
        <p:txBody>
          <a:bodyPr/>
          <a:lstStyle/>
          <a:p>
            <a:pPr marL="0" indent="1588" algn="just">
              <a:buClr>
                <a:srgbClr val="FF0000"/>
              </a:buClr>
              <a:buFont typeface="+mj-lt"/>
              <a:buAutoNum type="arabicPeriod" startAt="3"/>
            </a:pPr>
            <a:r>
              <a:rPr lang="vi-VN" dirty="0">
                <a:latin typeface="+mn-lt"/>
                <a:ea typeface="+mn-ea"/>
                <a:cs typeface="+mn-cs"/>
              </a:rPr>
              <a:t> </a:t>
            </a:r>
            <a:r>
              <a:rPr lang="vi-VN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Phép tuyển (nối rời,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vi-VN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hợp): </a:t>
            </a:r>
            <a:r>
              <a:rPr lang="vi-VN" dirty="0">
                <a:latin typeface="+mn-lt"/>
                <a:ea typeface="+mn-ea"/>
                <a:cs typeface="+mn-cs"/>
              </a:rPr>
              <a:t>của hai mệnh đề P, Q </a:t>
            </a:r>
            <a:r>
              <a:rPr lang="en-US" dirty="0" err="1">
                <a:latin typeface="+mn-lt"/>
                <a:ea typeface="+mn-ea"/>
                <a:cs typeface="+mn-cs"/>
              </a:rPr>
              <a:t>là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mộ</a:t>
            </a:r>
            <a:r>
              <a:rPr lang="en-US" dirty="0" err="1"/>
              <a:t>t</a:t>
            </a:r>
            <a:r>
              <a:rPr lang="en-US" dirty="0"/>
              <a:t> </a:t>
            </a:r>
            <a:r>
              <a:rPr lang="en-US" dirty="0" err="1"/>
              <a:t>mệnh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,</a:t>
            </a:r>
            <a:r>
              <a:rPr lang="vi-VN" dirty="0">
                <a:latin typeface="+mn-lt"/>
                <a:ea typeface="+mn-ea"/>
                <a:cs typeface="+mn-cs"/>
              </a:rPr>
              <a:t> kí hiệu P </a:t>
            </a:r>
            <a:r>
              <a:rPr lang="vi-VN" dirty="0">
                <a:latin typeface="+mn-lt"/>
                <a:ea typeface="+mn-ea"/>
                <a:cs typeface="+mn-cs"/>
                <a:sym typeface="Symbol"/>
              </a:rPr>
              <a:t></a:t>
            </a:r>
            <a:r>
              <a:rPr lang="en-US" dirty="0">
                <a:latin typeface="+mn-lt"/>
                <a:ea typeface="+mn-ea"/>
                <a:cs typeface="+mn-cs"/>
                <a:sym typeface="Symbol"/>
              </a:rPr>
              <a:t> </a:t>
            </a:r>
            <a:r>
              <a:rPr lang="vi-VN" dirty="0">
                <a:latin typeface="+mn-lt"/>
                <a:ea typeface="+mn-ea"/>
                <a:cs typeface="+mn-cs"/>
              </a:rPr>
              <a:t>Q (đọc là “P hay Q”)</a:t>
            </a:r>
            <a:r>
              <a:rPr lang="en-US" dirty="0">
                <a:latin typeface="+mn-lt"/>
                <a:ea typeface="+mn-ea"/>
                <a:cs typeface="+mn-cs"/>
              </a:rPr>
              <a:t>.</a:t>
            </a:r>
            <a:r>
              <a:rPr lang="vi-VN" dirty="0">
                <a:latin typeface="+mn-lt"/>
                <a:ea typeface="+mn-ea"/>
                <a:cs typeface="+mn-cs"/>
              </a:rPr>
              <a:t> 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vi-VN" dirty="0">
                <a:latin typeface="+mn-lt"/>
                <a:ea typeface="+mn-ea"/>
                <a:cs typeface="+mn-cs"/>
              </a:rPr>
              <a:t>Bảng chân trị</a:t>
            </a:r>
            <a:r>
              <a:rPr lang="en-US" dirty="0">
                <a:latin typeface="+mn-lt"/>
                <a:ea typeface="+mn-ea"/>
                <a:cs typeface="+mn-cs"/>
              </a:rPr>
              <a:t>: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dirty="0">
                <a:solidFill>
                  <a:srgbClr val="FF0000"/>
                </a:solidFill>
              </a:rPr>
              <a:t>NX:</a:t>
            </a:r>
            <a:r>
              <a:rPr lang="vi-VN" dirty="0"/>
              <a:t> P</a:t>
            </a:r>
            <a:r>
              <a:rPr lang="en-US" dirty="0"/>
              <a:t> </a:t>
            </a:r>
            <a:r>
              <a:rPr lang="vi-VN" dirty="0">
                <a:sym typeface="Symbol"/>
              </a:rPr>
              <a:t></a:t>
            </a:r>
            <a:r>
              <a:rPr lang="en-US" dirty="0">
                <a:sym typeface="Symbol"/>
              </a:rPr>
              <a:t> </a:t>
            </a:r>
            <a:r>
              <a:rPr lang="vi-VN" dirty="0"/>
              <a:t>Q sai khi và chỉ khi </a:t>
            </a:r>
            <a:endParaRPr lang="en-US" dirty="0"/>
          </a:p>
          <a:p>
            <a:pPr marL="0" indent="1588" algn="just">
              <a:buClr>
                <a:srgbClr val="FF0000"/>
              </a:buClr>
              <a:buNone/>
            </a:pPr>
            <a:r>
              <a:rPr lang="vi-VN" dirty="0"/>
              <a:t>P và Q đồng thời sai.</a:t>
            </a:r>
            <a:endParaRPr lang="en-US" dirty="0">
              <a:solidFill>
                <a:srgbClr val="FF0000"/>
              </a:solidFill>
            </a:endParaRP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vi-VN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Ví dụ:</a:t>
            </a:r>
          </a:p>
          <a:p>
            <a:pPr algn="just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dirty="0"/>
              <a:t>  e </a:t>
            </a:r>
            <a:r>
              <a:rPr lang="vi-VN" dirty="0">
                <a:latin typeface="+mn-lt"/>
                <a:ea typeface="+mn-ea"/>
                <a:cs typeface="+mn-cs"/>
              </a:rPr>
              <a:t>&gt;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vi-VN" dirty="0">
                <a:latin typeface="+mn-lt"/>
                <a:ea typeface="+mn-ea"/>
                <a:cs typeface="+mn-cs"/>
              </a:rPr>
              <a:t>4 hay </a:t>
            </a:r>
            <a:r>
              <a:rPr lang="en-US" dirty="0"/>
              <a:t>e </a:t>
            </a:r>
            <a:r>
              <a:rPr lang="vi-VN" dirty="0">
                <a:latin typeface="+mn-lt"/>
                <a:ea typeface="+mn-ea"/>
                <a:cs typeface="+mn-cs"/>
              </a:rPr>
              <a:t>&gt;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vi-VN" dirty="0">
                <a:latin typeface="+mn-lt"/>
                <a:ea typeface="+mn-ea"/>
                <a:cs typeface="+mn-cs"/>
              </a:rPr>
              <a:t>5 (S)</a:t>
            </a:r>
          </a:p>
          <a:p>
            <a:pPr algn="just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vi-VN" dirty="0">
                <a:latin typeface="+mn-lt"/>
                <a:ea typeface="+mn-ea"/>
                <a:cs typeface="+mn-cs"/>
              </a:rPr>
              <a:t> </a:t>
            </a:r>
            <a:r>
              <a:rPr lang="en-US" dirty="0">
                <a:latin typeface="+mn-lt"/>
                <a:ea typeface="+mn-ea"/>
                <a:cs typeface="+mn-cs"/>
              </a:rPr>
              <a:t>  </a:t>
            </a:r>
            <a:r>
              <a:rPr lang="vi-VN" dirty="0"/>
              <a:t> </a:t>
            </a:r>
            <a:r>
              <a:rPr lang="vi-VN" dirty="0">
                <a:latin typeface="+mn-lt"/>
                <a:ea typeface="+mn-ea"/>
                <a:cs typeface="+mn-cs"/>
              </a:rPr>
              <a:t>2 là số nguyên tố hay là số </a:t>
            </a:r>
            <a:r>
              <a:rPr lang="en-US" dirty="0" err="1">
                <a:latin typeface="+mn-lt"/>
                <a:ea typeface="+mn-ea"/>
                <a:cs typeface="+mn-cs"/>
              </a:rPr>
              <a:t>lẻ</a:t>
            </a:r>
            <a:r>
              <a:rPr lang="vi-VN" dirty="0">
                <a:latin typeface="+mn-lt"/>
                <a:ea typeface="+mn-ea"/>
                <a:cs typeface="+mn-cs"/>
              </a:rPr>
              <a:t> (Đ)</a:t>
            </a:r>
            <a:endParaRPr lang="en-US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943599" y="3020672"/>
          <a:ext cx="2755245" cy="1706880"/>
        </p:xfrm>
        <a:graphic>
          <a:graphicData uri="http://schemas.openxmlformats.org/drawingml/2006/table">
            <a:tbl>
              <a:tblPr firstRow="1" bandRow="1">
                <a:effectLst/>
                <a:tableStyleId>{7DF18680-E054-41AD-8BC1-D1AEF772440D}</a:tableStyleId>
              </a:tblPr>
              <a:tblGrid>
                <a:gridCol w="918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8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vi-VN" sz="2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/>
                        </a:rPr>
                        <a:t>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Mệnh</a:t>
            </a:r>
            <a:r>
              <a:rPr lang="en-US" sz="4800" b="1" dirty="0"/>
              <a:t> </a:t>
            </a:r>
            <a:r>
              <a:rPr lang="en-US" sz="4800" b="1" dirty="0" err="1"/>
              <a:t>đề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1588" algn="just">
              <a:buClr>
                <a:srgbClr val="FF0000"/>
              </a:buClr>
              <a:buFont typeface="+mj-lt"/>
              <a:buAutoNum type="arabicPeriod" startAt="4"/>
            </a:pPr>
            <a:r>
              <a:rPr lang="en-US" dirty="0"/>
              <a:t> </a:t>
            </a:r>
            <a:r>
              <a:rPr lang="vi-VN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Phép kéo theo: </a:t>
            </a:r>
            <a:r>
              <a:rPr lang="vi-VN" dirty="0">
                <a:latin typeface="+mn-lt"/>
                <a:ea typeface="+mn-ea"/>
                <a:cs typeface="+mn-cs"/>
              </a:rPr>
              <a:t>Mệnh đề P kéo theo </a:t>
            </a:r>
            <a:r>
              <a:rPr lang="en-US" dirty="0" err="1">
                <a:latin typeface="+mn-lt"/>
                <a:ea typeface="+mn-ea"/>
                <a:cs typeface="+mn-cs"/>
              </a:rPr>
              <a:t>mệnh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đề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vi-VN" dirty="0">
                <a:latin typeface="+mn-lt"/>
                <a:ea typeface="+mn-ea"/>
                <a:cs typeface="+mn-cs"/>
              </a:rPr>
              <a:t>Q </a:t>
            </a:r>
            <a:r>
              <a:rPr lang="en-US" dirty="0" err="1">
                <a:latin typeface="+mn-lt"/>
                <a:ea typeface="+mn-ea"/>
                <a:cs typeface="+mn-cs"/>
              </a:rPr>
              <a:t>là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một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vi-VN" dirty="0">
                <a:latin typeface="+mn-lt"/>
                <a:ea typeface="+mn-ea"/>
                <a:cs typeface="+mn-cs"/>
              </a:rPr>
              <a:t>mệnh đề, kí hiệu P </a:t>
            </a:r>
            <a:r>
              <a:rPr lang="vi-VN" dirty="0">
                <a:sym typeface="Symbol"/>
              </a:rPr>
              <a:t></a:t>
            </a:r>
            <a:r>
              <a:rPr lang="vi-VN" dirty="0">
                <a:latin typeface="+mn-lt"/>
                <a:ea typeface="+mn-ea"/>
                <a:cs typeface="+mn-cs"/>
              </a:rPr>
              <a:t> Q (đọc là “P kéo theo Q” hay “Nếu P thì Q” hay “P là điều kiện đủ của Q” hay “Q là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vi-VN" dirty="0">
                <a:latin typeface="+mn-lt"/>
                <a:ea typeface="+mn-ea"/>
                <a:cs typeface="+mn-cs"/>
              </a:rPr>
              <a:t>điều kiện cần của P”)</a:t>
            </a:r>
            <a:r>
              <a:rPr lang="en-US" dirty="0">
                <a:latin typeface="+mn-lt"/>
                <a:ea typeface="+mn-ea"/>
                <a:cs typeface="+mn-cs"/>
              </a:rPr>
              <a:t>.</a:t>
            </a:r>
            <a:r>
              <a:rPr lang="vi-VN" dirty="0">
                <a:latin typeface="+mn-lt"/>
                <a:ea typeface="+mn-ea"/>
                <a:cs typeface="+mn-cs"/>
              </a:rPr>
              <a:t> 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vi-VN" dirty="0">
                <a:latin typeface="+mn-lt"/>
                <a:ea typeface="+mn-ea"/>
                <a:cs typeface="+mn-cs"/>
              </a:rPr>
              <a:t>Bảng chân trị</a:t>
            </a:r>
            <a:r>
              <a:rPr lang="en-US" dirty="0">
                <a:latin typeface="+mn-lt"/>
                <a:ea typeface="+mn-ea"/>
                <a:cs typeface="+mn-cs"/>
              </a:rPr>
              <a:t>: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NX:</a:t>
            </a:r>
            <a:r>
              <a:rPr lang="en-US" dirty="0"/>
              <a:t> </a:t>
            </a:r>
            <a:r>
              <a:rPr lang="vi-VN" dirty="0"/>
              <a:t>P </a:t>
            </a:r>
            <a:r>
              <a:rPr lang="vi-VN" dirty="0">
                <a:sym typeface="Symbol"/>
              </a:rPr>
              <a:t></a:t>
            </a:r>
            <a:r>
              <a:rPr lang="vi-VN" dirty="0"/>
              <a:t> Q sai khi và chỉ </a:t>
            </a:r>
            <a:endParaRPr lang="en-US" dirty="0"/>
          </a:p>
          <a:p>
            <a:pPr marL="0" indent="1588" algn="just">
              <a:buClr>
                <a:srgbClr val="FF0000"/>
              </a:buClr>
              <a:buNone/>
            </a:pPr>
            <a:r>
              <a:rPr lang="vi-VN" dirty="0"/>
              <a:t>khi P đúng mà Q sai.</a:t>
            </a:r>
            <a:endParaRPr lang="en-US" dirty="0">
              <a:latin typeface="+mn-lt"/>
              <a:ea typeface="+mn-ea"/>
              <a:cs typeface="+mn-cs"/>
            </a:endParaRP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Ví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dụ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dirty="0"/>
              <a:t> e &gt;4 </a:t>
            </a:r>
            <a:r>
              <a:rPr lang="en-US" dirty="0" err="1"/>
              <a:t>kéo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5&gt;6</a:t>
            </a:r>
          </a:p>
          <a:p>
            <a:pPr marL="0" indent="1588" algn="just">
              <a:buClr>
                <a:srgbClr val="FF0000"/>
              </a:buClr>
              <a:buNone/>
            </a:pPr>
            <a:endParaRPr lang="vi-VN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0" indent="1588" algn="just">
              <a:buClr>
                <a:srgbClr val="FF0000"/>
              </a:buClr>
              <a:buNone/>
            </a:pPr>
            <a:endParaRPr lang="en-US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110400" y="3429000"/>
          <a:ext cx="3429000" cy="1706880"/>
        </p:xfrm>
        <a:graphic>
          <a:graphicData uri="http://schemas.openxmlformats.org/drawingml/2006/table">
            <a:tbl>
              <a:tblPr firstRow="1" bandRow="1">
                <a:effectLst/>
                <a:tableStyleId>{7DF18680-E054-41AD-8BC1-D1AEF772440D}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907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vi-VN" sz="2800" dirty="0">
                          <a:solidFill>
                            <a:schemeClr val="tx1"/>
                          </a:solidFill>
                          <a:sym typeface="Symbol"/>
                        </a:rPr>
                        <a:t>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74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Mệnh</a:t>
            </a:r>
            <a:r>
              <a:rPr lang="en-US" sz="4800" b="1" dirty="0"/>
              <a:t> </a:t>
            </a:r>
            <a:r>
              <a:rPr lang="en-US" sz="4800" b="1" dirty="0" err="1"/>
              <a:t>đề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4435230"/>
              </p:ext>
            </p:extLst>
          </p:nvPr>
        </p:nvGraphicFramePr>
        <p:xfrm>
          <a:off x="4419600" y="6157913"/>
          <a:ext cx="381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80880" imgH="304560" progId="Equation.DSMT4">
                  <p:embed/>
                </p:oleObj>
              </mc:Choice>
              <mc:Fallback>
                <p:oleObj name="Equation" r:id="rId3" imgW="380880" imgH="304560" progId="Equation.DSMT4">
                  <p:embed/>
                  <p:pic>
                    <p:nvPicPr>
                      <p:cNvPr id="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6157913"/>
                        <a:ext cx="3810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5257800"/>
          </a:xfrm>
        </p:spPr>
        <p:txBody>
          <a:bodyPr/>
          <a:lstStyle/>
          <a:p>
            <a:pPr marL="0" indent="1588" algn="just">
              <a:buClr>
                <a:srgbClr val="FF0000"/>
              </a:buClr>
              <a:buFont typeface="+mj-lt"/>
              <a:buAutoNum type="arabicPeriod" startAt="5"/>
            </a:pPr>
            <a:r>
              <a:rPr lang="en-US" dirty="0"/>
              <a:t> </a:t>
            </a:r>
            <a:r>
              <a:rPr lang="vi-VN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Phép kéo theo hai chiều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(</a:t>
            </a:r>
            <a:r>
              <a:rPr lang="en-US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phép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tương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đương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)</a:t>
            </a:r>
            <a:r>
              <a:rPr lang="vi-VN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: </a:t>
            </a:r>
            <a:r>
              <a:rPr lang="vi-VN" dirty="0">
                <a:latin typeface="+mn-lt"/>
                <a:ea typeface="+mn-ea"/>
                <a:cs typeface="+mn-cs"/>
              </a:rPr>
              <a:t>Mệnh đề P kéo theo </a:t>
            </a:r>
            <a:r>
              <a:rPr lang="en-US" dirty="0" err="1">
                <a:latin typeface="+mn-lt"/>
                <a:ea typeface="+mn-ea"/>
                <a:cs typeface="+mn-cs"/>
              </a:rPr>
              <a:t>mệnh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đề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vi-VN" dirty="0">
                <a:latin typeface="+mn-lt"/>
                <a:ea typeface="+mn-ea"/>
                <a:cs typeface="+mn-cs"/>
              </a:rPr>
              <a:t>Q và ngược lại </a:t>
            </a:r>
            <a:r>
              <a:rPr lang="en-US" dirty="0">
                <a:latin typeface="+mn-lt"/>
                <a:ea typeface="+mn-ea"/>
                <a:cs typeface="+mn-cs"/>
              </a:rPr>
              <a:t>(</a:t>
            </a:r>
            <a:r>
              <a:rPr lang="en-US" dirty="0" err="1">
                <a:latin typeface="+mn-lt"/>
                <a:ea typeface="+mn-ea"/>
                <a:cs typeface="+mn-cs"/>
              </a:rPr>
              <a:t>mệnh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đề</a:t>
            </a:r>
            <a:r>
              <a:rPr lang="en-US" dirty="0">
                <a:latin typeface="+mn-lt"/>
                <a:ea typeface="+mn-ea"/>
                <a:cs typeface="+mn-cs"/>
              </a:rPr>
              <a:t> P </a:t>
            </a:r>
            <a:r>
              <a:rPr lang="en-US" dirty="0" err="1">
                <a:latin typeface="+mn-lt"/>
                <a:ea typeface="+mn-ea"/>
                <a:cs typeface="+mn-cs"/>
              </a:rPr>
              <a:t>tương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đương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với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mệnh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đề</a:t>
            </a:r>
            <a:r>
              <a:rPr lang="en-US" dirty="0">
                <a:latin typeface="+mn-lt"/>
                <a:ea typeface="+mn-ea"/>
                <a:cs typeface="+mn-cs"/>
              </a:rPr>
              <a:t> Q) </a:t>
            </a:r>
            <a:r>
              <a:rPr lang="en-US" dirty="0" err="1">
                <a:latin typeface="+mn-lt"/>
                <a:ea typeface="+mn-ea"/>
                <a:cs typeface="+mn-cs"/>
              </a:rPr>
              <a:t>là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một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mệnh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đề</a:t>
            </a:r>
            <a:r>
              <a:rPr lang="vi-VN" dirty="0">
                <a:latin typeface="+mn-lt"/>
                <a:ea typeface="+mn-ea"/>
                <a:cs typeface="+mn-cs"/>
              </a:rPr>
              <a:t>, ký hiệu P </a:t>
            </a:r>
            <a:r>
              <a:rPr lang="vi-VN" dirty="0">
                <a:latin typeface="+mn-lt"/>
                <a:ea typeface="+mn-ea"/>
                <a:cs typeface="+mn-cs"/>
                <a:sym typeface="Symbol"/>
              </a:rPr>
              <a:t></a:t>
            </a:r>
            <a:r>
              <a:rPr lang="vi-VN" dirty="0">
                <a:latin typeface="+mn-lt"/>
                <a:ea typeface="+mn-ea"/>
                <a:cs typeface="+mn-cs"/>
              </a:rPr>
              <a:t> Q (đọc là “P nếu và chỉ nếu Q” hay “P khi và chỉ khi Q” hay “P là điều  kiện cần và đủ của Q”)</a:t>
            </a:r>
            <a:r>
              <a:rPr lang="en-US" dirty="0">
                <a:latin typeface="+mn-lt"/>
                <a:ea typeface="+mn-ea"/>
                <a:cs typeface="+mn-cs"/>
              </a:rPr>
              <a:t>.</a:t>
            </a:r>
            <a:r>
              <a:rPr lang="vi-VN" dirty="0">
                <a:latin typeface="+mn-lt"/>
                <a:ea typeface="+mn-ea"/>
                <a:cs typeface="+mn-cs"/>
              </a:rPr>
              <a:t> 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vi-VN" dirty="0">
                <a:latin typeface="+mn-lt"/>
                <a:ea typeface="+mn-ea"/>
                <a:cs typeface="+mn-cs"/>
              </a:rPr>
              <a:t>Bảng chân trị</a:t>
            </a:r>
            <a:r>
              <a:rPr lang="en-US" dirty="0">
                <a:latin typeface="+mn-lt"/>
                <a:ea typeface="+mn-ea"/>
                <a:cs typeface="+mn-cs"/>
              </a:rPr>
              <a:t>: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NX:</a:t>
            </a:r>
            <a:r>
              <a:rPr lang="vi-VN" dirty="0"/>
              <a:t> P </a:t>
            </a:r>
            <a:r>
              <a:rPr lang="vi-VN" dirty="0">
                <a:sym typeface="Symbol"/>
              </a:rPr>
              <a:t></a:t>
            </a:r>
            <a:r>
              <a:rPr lang="vi-VN" dirty="0"/>
              <a:t> Q đúng khi và chỉ</a:t>
            </a:r>
            <a:endParaRPr lang="en-US" dirty="0"/>
          </a:p>
          <a:p>
            <a:pPr marL="0" indent="1588" algn="just">
              <a:buClr>
                <a:srgbClr val="FF0000"/>
              </a:buClr>
              <a:buNone/>
            </a:pPr>
            <a:r>
              <a:rPr lang="vi-VN" dirty="0"/>
              <a:t> khi P và Q có cùng chân trị</a:t>
            </a:r>
            <a:endParaRPr lang="vi-VN" dirty="0">
              <a:latin typeface="+mn-lt"/>
              <a:ea typeface="+mn-ea"/>
              <a:cs typeface="+mn-cs"/>
            </a:endParaRP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Ví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dụ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:</a:t>
            </a:r>
            <a:r>
              <a:rPr lang="en-US" dirty="0"/>
              <a:t> </a:t>
            </a:r>
            <a:r>
              <a:rPr lang="it-IT" dirty="0"/>
              <a:t>6 chia hết cho 3 khi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it-IT" dirty="0"/>
              <a:t>và chỉ khi 6 chia hết cho 2</a:t>
            </a:r>
            <a:endParaRPr lang="en-US" dirty="0"/>
          </a:p>
          <a:p>
            <a:pPr marL="0" indent="1588" algn="just">
              <a:buClr>
                <a:srgbClr val="FF0000"/>
              </a:buClr>
              <a:buNone/>
            </a:pPr>
            <a:endParaRPr lang="vi-VN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0" indent="1588" algn="just">
              <a:buClr>
                <a:srgbClr val="FF0000"/>
              </a:buClr>
              <a:buNone/>
            </a:pPr>
            <a:endParaRPr lang="en-US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62600" y="4191000"/>
          <a:ext cx="3276600" cy="2032363"/>
        </p:xfrm>
        <a:graphic>
          <a:graphicData uri="http://schemas.openxmlformats.org/drawingml/2006/table">
            <a:tbl>
              <a:tblPr firstRow="1" bandRow="1">
                <a:effectLst/>
                <a:tableStyleId>{7DF18680-E054-41AD-8BC1-D1AEF772440D}</a:tableStyleId>
              </a:tblPr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3643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vi-VN" sz="2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/>
                        </a:rPr>
                        <a:t>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13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Mệnh</a:t>
            </a:r>
            <a:r>
              <a:rPr lang="en-US" sz="4800" b="1" dirty="0"/>
              <a:t> </a:t>
            </a:r>
            <a:r>
              <a:rPr lang="en-US" sz="4800" b="1" dirty="0" err="1"/>
              <a:t>đề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845496"/>
              </p:ext>
            </p:extLst>
          </p:nvPr>
        </p:nvGraphicFramePr>
        <p:xfrm>
          <a:off x="6553200" y="6473825"/>
          <a:ext cx="419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040" imgH="304560" progId="Equation.DSMT4">
                  <p:embed/>
                </p:oleObj>
              </mc:Choice>
              <mc:Fallback>
                <p:oleObj name="Equation" r:id="rId2" imgW="419040" imgH="304560" progId="Equation.DSMT4">
                  <p:embed/>
                  <p:pic>
                    <p:nvPicPr>
                      <p:cNvPr id="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6473825"/>
                        <a:ext cx="4191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7772400" cy="5029200"/>
          </a:xfrm>
        </p:spPr>
        <p:txBody>
          <a:bodyPr/>
          <a:lstStyle/>
          <a:p>
            <a:pPr marL="0" indent="1588" algn="just">
              <a:buClr>
                <a:srgbClr val="FF0000"/>
              </a:buClr>
              <a:buNone/>
            </a:pPr>
            <a:r>
              <a:rPr lang="vi-VN" dirty="0">
                <a:solidFill>
                  <a:srgbClr val="FF0000"/>
                </a:solidFill>
              </a:rPr>
              <a:t> Định nghĩa: </a:t>
            </a:r>
            <a:r>
              <a:rPr lang="en-US" dirty="0"/>
              <a:t>B</a:t>
            </a:r>
            <a:r>
              <a:rPr lang="vi-VN" dirty="0"/>
              <a:t>iểu thức </a:t>
            </a:r>
            <a:r>
              <a:rPr lang="en-US" dirty="0"/>
              <a:t>logic </a:t>
            </a:r>
            <a:r>
              <a:rPr lang="vi-VN" dirty="0"/>
              <a:t>được cấu tạo từ: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dirty="0"/>
              <a:t> </a:t>
            </a:r>
            <a:r>
              <a:rPr lang="vi-VN" dirty="0"/>
              <a:t>- Các mệnh đề (các hằng mệnh đề)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dirty="0"/>
              <a:t> </a:t>
            </a:r>
            <a:r>
              <a:rPr lang="vi-VN" dirty="0"/>
              <a:t>-</a:t>
            </a:r>
            <a:r>
              <a:rPr lang="en-US" dirty="0"/>
              <a:t> </a:t>
            </a:r>
            <a:r>
              <a:rPr lang="vi-VN" dirty="0"/>
              <a:t>Các biến mệnh đề p, q, r, …, tức là các biến lấy giá trị là</a:t>
            </a:r>
            <a:r>
              <a:rPr lang="en-US" dirty="0"/>
              <a:t> </a:t>
            </a:r>
            <a:r>
              <a:rPr lang="vi-VN" dirty="0"/>
              <a:t>các mệnh đề nào đó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dirty="0"/>
              <a:t> </a:t>
            </a:r>
            <a:r>
              <a:rPr lang="vi-VN" dirty="0"/>
              <a:t>- Các phép toán </a:t>
            </a:r>
            <a:r>
              <a:rPr lang="en-US" dirty="0"/>
              <a:t>logic </a:t>
            </a:r>
            <a:r>
              <a:rPr lang="vi-VN" dirty="0">
                <a:sym typeface="Symbol"/>
              </a:rPr>
              <a:t></a:t>
            </a:r>
            <a:r>
              <a:rPr lang="en-US" dirty="0">
                <a:sym typeface="Symbol"/>
              </a:rPr>
              <a:t>, </a:t>
            </a:r>
            <a:r>
              <a:rPr lang="vi-VN" dirty="0">
                <a:sym typeface="Symbol"/>
              </a:rPr>
              <a:t></a:t>
            </a:r>
            <a:r>
              <a:rPr lang="en-US" dirty="0">
                <a:sym typeface="Symbol"/>
              </a:rPr>
              <a:t>, </a:t>
            </a:r>
            <a:r>
              <a:rPr lang="vi-VN" dirty="0">
                <a:sym typeface="Symbol"/>
              </a:rPr>
              <a:t></a:t>
            </a:r>
            <a:r>
              <a:rPr lang="en-US" dirty="0">
                <a:sym typeface="Symbol"/>
              </a:rPr>
              <a:t>, , </a:t>
            </a:r>
            <a:r>
              <a:rPr lang="vi-VN" dirty="0"/>
              <a:t> và dấu đóng mở ngoặc ()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.</a:t>
            </a:r>
            <a:endParaRPr lang="vi-VN" dirty="0"/>
          </a:p>
          <a:p>
            <a:pPr marL="0" indent="1588" algn="just">
              <a:buClr>
                <a:srgbClr val="FF0000"/>
              </a:buClr>
              <a:buNone/>
            </a:pPr>
            <a:r>
              <a:rPr lang="vi-VN" dirty="0">
                <a:solidFill>
                  <a:srgbClr val="FF0000"/>
                </a:solidFill>
              </a:rPr>
              <a:t>Ví dụ: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vi-VN" dirty="0"/>
              <a:t>E(p,q) =</a:t>
            </a:r>
            <a:r>
              <a:rPr lang="vi-VN" dirty="0">
                <a:sym typeface="Symbol"/>
              </a:rPr>
              <a:t> </a:t>
            </a:r>
            <a:r>
              <a:rPr lang="vi-VN" dirty="0"/>
              <a:t>(</a:t>
            </a:r>
            <a:r>
              <a:rPr lang="vi-VN" dirty="0">
                <a:sym typeface="Symbol"/>
              </a:rPr>
              <a:t></a:t>
            </a:r>
            <a:r>
              <a:rPr lang="vi-VN" dirty="0"/>
              <a:t>p </a:t>
            </a:r>
            <a:r>
              <a:rPr lang="vi-VN" dirty="0">
                <a:sym typeface="Symbol"/>
              </a:rPr>
              <a:t> </a:t>
            </a:r>
            <a:r>
              <a:rPr lang="vi-VN" dirty="0"/>
              <a:t>q)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vi-VN" dirty="0"/>
              <a:t>F(p,q,r) = (p </a:t>
            </a:r>
            <a:r>
              <a:rPr lang="vi-VN" dirty="0">
                <a:sym typeface="Symbol"/>
              </a:rPr>
              <a:t></a:t>
            </a:r>
            <a:r>
              <a:rPr lang="vi-VN" dirty="0"/>
              <a:t> q) </a:t>
            </a:r>
            <a:r>
              <a:rPr lang="en-US" dirty="0">
                <a:sym typeface="Symbol"/>
              </a:rPr>
              <a:t></a:t>
            </a:r>
            <a:r>
              <a:rPr lang="vi-VN" dirty="0"/>
              <a:t> </a:t>
            </a:r>
            <a:r>
              <a:rPr lang="vi-VN" dirty="0">
                <a:sym typeface="Symbol"/>
              </a:rPr>
              <a:t></a:t>
            </a:r>
            <a:r>
              <a:rPr lang="vi-VN" dirty="0"/>
              <a:t>(q </a:t>
            </a:r>
            <a:r>
              <a:rPr lang="vi-VN" dirty="0">
                <a:sym typeface="Symbol"/>
              </a:rPr>
              <a:t> </a:t>
            </a:r>
            <a:r>
              <a:rPr lang="vi-VN" dirty="0"/>
              <a:t>r)</a:t>
            </a:r>
            <a:endParaRPr lang="en-US" dirty="0"/>
          </a:p>
          <a:p>
            <a:pPr marL="0" indent="1588" algn="just">
              <a:buClr>
                <a:srgbClr val="FF0000"/>
              </a:buClr>
              <a:buNone/>
            </a:pPr>
            <a:endParaRPr lang="vi-VN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0" indent="1588" algn="just">
              <a:buClr>
                <a:srgbClr val="FF0000"/>
              </a:buClr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7813"/>
            <a:ext cx="8458200" cy="1143000"/>
          </a:xfrm>
        </p:spPr>
        <p:txBody>
          <a:bodyPr/>
          <a:lstStyle/>
          <a:p>
            <a:r>
              <a:rPr lang="en-US" sz="4800" b="1" dirty="0" err="1"/>
              <a:t>Biểu</a:t>
            </a:r>
            <a:r>
              <a:rPr lang="en-US" sz="4800" b="1" dirty="0"/>
              <a:t> </a:t>
            </a:r>
            <a:r>
              <a:rPr lang="en-US" sz="4800" b="1" dirty="0" err="1"/>
              <a:t>thức</a:t>
            </a:r>
            <a:r>
              <a:rPr lang="en-US" sz="4800" b="1" dirty="0"/>
              <a:t> logic (</a:t>
            </a:r>
            <a:r>
              <a:rPr lang="en-US" sz="4800" b="1" dirty="0" err="1"/>
              <a:t>Dạng</a:t>
            </a:r>
            <a:r>
              <a:rPr lang="en-US" sz="4800" b="1" dirty="0"/>
              <a:t> </a:t>
            </a:r>
            <a:r>
              <a:rPr lang="en-US" sz="4800" b="1" dirty="0" err="1"/>
              <a:t>mệnh</a:t>
            </a:r>
            <a:r>
              <a:rPr lang="en-US" sz="4800" b="1" dirty="0"/>
              <a:t> </a:t>
            </a:r>
            <a:r>
              <a:rPr lang="en-US" sz="4800" b="1" dirty="0" err="1"/>
              <a:t>đề</a:t>
            </a:r>
            <a:r>
              <a:rPr lang="en-US" sz="4800" b="1" dirty="0"/>
              <a:t>)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vi-VN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Độ</a:t>
            </a:r>
            <a:r>
              <a:rPr lang="en-US" sz="26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ưu</a:t>
            </a:r>
            <a:r>
              <a:rPr lang="en-US" sz="26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tiên</a:t>
            </a:r>
            <a:r>
              <a:rPr lang="en-US" sz="26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của</a:t>
            </a:r>
            <a:r>
              <a:rPr lang="en-US" sz="26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các</a:t>
            </a:r>
            <a:r>
              <a:rPr lang="en-US" sz="26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toán</a:t>
            </a:r>
            <a:r>
              <a:rPr lang="en-US" sz="26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tử</a:t>
            </a:r>
            <a:r>
              <a:rPr lang="en-US" sz="26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logic: </a:t>
            </a:r>
          </a:p>
          <a:p>
            <a:pPr>
              <a:buNone/>
            </a:pP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</a:t>
            </a:r>
            <a:r>
              <a:rPr lang="en-US" sz="2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Ưu</a:t>
            </a: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tiên</a:t>
            </a: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mức</a:t>
            </a: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1: ()</a:t>
            </a:r>
          </a:p>
          <a:p>
            <a:pPr>
              <a:buNone/>
            </a:pPr>
            <a:r>
              <a:rPr lang="en-US" sz="2600" dirty="0"/>
              <a:t>- </a:t>
            </a:r>
            <a:r>
              <a:rPr lang="en-US" sz="2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Ưu</a:t>
            </a: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tiên</a:t>
            </a: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mức</a:t>
            </a: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2: </a:t>
            </a:r>
            <a:r>
              <a:rPr lang="vi-VN" sz="2600" dirty="0">
                <a:sym typeface="Symbol"/>
              </a:rPr>
              <a:t></a:t>
            </a:r>
            <a:endParaRPr lang="en-US" sz="26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buNone/>
            </a:pP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</a:t>
            </a:r>
            <a:r>
              <a:rPr lang="en-US" sz="2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Ưu</a:t>
            </a: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tiên</a:t>
            </a: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mức</a:t>
            </a: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3: </a:t>
            </a:r>
            <a:r>
              <a:rPr lang="vi-VN" sz="2600" dirty="0">
                <a:sym typeface="Symbol"/>
              </a:rPr>
              <a:t></a:t>
            </a:r>
            <a:r>
              <a:rPr lang="en-US" sz="2600" dirty="0">
                <a:sym typeface="Symbol"/>
              </a:rPr>
              <a:t>, </a:t>
            </a:r>
            <a:r>
              <a:rPr lang="vi-VN" sz="2600" dirty="0">
                <a:sym typeface="Symbol"/>
              </a:rPr>
              <a:t></a:t>
            </a:r>
            <a:endParaRPr lang="en-US" sz="26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buNone/>
            </a:pP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</a:t>
            </a:r>
            <a:r>
              <a:rPr lang="en-US" sz="2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Ưu</a:t>
            </a: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tiên</a:t>
            </a: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mức</a:t>
            </a: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4: </a:t>
            </a:r>
            <a:r>
              <a:rPr lang="en-US" sz="2600" dirty="0">
                <a:sym typeface="Symbol"/>
              </a:rPr>
              <a:t>, </a:t>
            </a:r>
            <a:r>
              <a:rPr lang="vi-VN" sz="2600" dirty="0"/>
              <a:t> </a:t>
            </a:r>
            <a:endParaRPr lang="en-US" sz="26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1588" algn="just">
              <a:buClr>
                <a:srgbClr val="FF0000"/>
              </a:buClr>
              <a:buNone/>
            </a:pPr>
            <a:r>
              <a:rPr lang="vi-VN" sz="2600" dirty="0">
                <a:solidFill>
                  <a:srgbClr val="FF0000"/>
                </a:solidFill>
              </a:rPr>
              <a:t>Bảng chân trị của </a:t>
            </a:r>
            <a:r>
              <a:rPr lang="en-US" sz="2600" dirty="0" err="1">
                <a:solidFill>
                  <a:srgbClr val="FF0000"/>
                </a:solidFill>
              </a:rPr>
              <a:t>một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biểu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thức</a:t>
            </a:r>
            <a:r>
              <a:rPr lang="en-US" sz="2600" dirty="0">
                <a:solidFill>
                  <a:srgbClr val="FF0000"/>
                </a:solidFill>
              </a:rPr>
              <a:t> logic: </a:t>
            </a:r>
            <a:r>
              <a:rPr lang="vi-VN" sz="2600" dirty="0"/>
              <a:t>là bảng </a:t>
            </a:r>
            <a:r>
              <a:rPr lang="en-US" sz="2600" dirty="0" err="1"/>
              <a:t>liệt</a:t>
            </a:r>
            <a:r>
              <a:rPr lang="en-US" sz="2600" dirty="0"/>
              <a:t> </a:t>
            </a:r>
            <a:r>
              <a:rPr lang="en-US" sz="2600" dirty="0" err="1"/>
              <a:t>kê</a:t>
            </a:r>
            <a:r>
              <a:rPr lang="en-US" sz="2600" dirty="0"/>
              <a:t> </a:t>
            </a:r>
            <a:r>
              <a:rPr lang="vi-VN" sz="2600" dirty="0"/>
              <a:t>chân trị c</a:t>
            </a:r>
            <a:r>
              <a:rPr lang="en-US" sz="2600" dirty="0" err="1"/>
              <a:t>ủa</a:t>
            </a:r>
            <a:r>
              <a:rPr lang="en-US" sz="2600" dirty="0"/>
              <a:t> </a:t>
            </a:r>
            <a:r>
              <a:rPr lang="en-US" sz="2600" dirty="0" err="1"/>
              <a:t>biểu</a:t>
            </a:r>
            <a:r>
              <a:rPr lang="en-US" sz="2600" dirty="0"/>
              <a:t> </a:t>
            </a:r>
            <a:r>
              <a:rPr lang="en-US" sz="2600" dirty="0" err="1"/>
              <a:t>thức</a:t>
            </a:r>
            <a:r>
              <a:rPr lang="en-US" sz="2600" dirty="0"/>
              <a:t> logic </a:t>
            </a:r>
            <a:r>
              <a:rPr lang="en-US" sz="2600" dirty="0" err="1"/>
              <a:t>theo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trường</a:t>
            </a:r>
            <a:r>
              <a:rPr lang="en-US" sz="2600" dirty="0"/>
              <a:t> </a:t>
            </a:r>
            <a:r>
              <a:rPr lang="en-US" sz="2600" dirty="0" err="1"/>
              <a:t>hợp</a:t>
            </a:r>
            <a:r>
              <a:rPr lang="en-US" sz="2600" dirty="0"/>
              <a:t> </a:t>
            </a:r>
            <a:r>
              <a:rPr lang="en-US" sz="2600" dirty="0" err="1"/>
              <a:t>về</a:t>
            </a:r>
            <a:r>
              <a:rPr lang="vi-VN" sz="2600" dirty="0"/>
              <a:t> chân trị của </a:t>
            </a:r>
            <a:r>
              <a:rPr lang="en-US" sz="2600" dirty="0" err="1"/>
              <a:t>tất</a:t>
            </a:r>
            <a:r>
              <a:rPr lang="en-US" sz="2600" dirty="0"/>
              <a:t> </a:t>
            </a:r>
            <a:r>
              <a:rPr lang="en-US" sz="2600" dirty="0" err="1"/>
              <a:t>cả</a:t>
            </a:r>
            <a:r>
              <a:rPr lang="en-US" sz="2600" dirty="0"/>
              <a:t> </a:t>
            </a:r>
            <a:r>
              <a:rPr lang="vi-VN" sz="2600" dirty="0"/>
              <a:t>các biến mệnh đề</a:t>
            </a:r>
            <a:r>
              <a:rPr lang="en-US" sz="2600" dirty="0"/>
              <a:t> </a:t>
            </a:r>
            <a:r>
              <a:rPr lang="en-US" sz="2600" dirty="0" err="1"/>
              <a:t>trong</a:t>
            </a:r>
            <a:r>
              <a:rPr lang="en-US" sz="2600" dirty="0"/>
              <a:t> </a:t>
            </a:r>
            <a:r>
              <a:rPr lang="en-US" sz="2600" dirty="0" err="1"/>
              <a:t>biểu</a:t>
            </a:r>
            <a:r>
              <a:rPr lang="en-US" sz="2600" dirty="0"/>
              <a:t> </a:t>
            </a:r>
            <a:r>
              <a:rPr lang="en-US" sz="2600" dirty="0" err="1"/>
              <a:t>thức</a:t>
            </a:r>
            <a:r>
              <a:rPr lang="en-US" sz="2600" dirty="0"/>
              <a:t> logic hay </a:t>
            </a:r>
            <a:r>
              <a:rPr lang="en-US" sz="2600" dirty="0" err="1"/>
              <a:t>theo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bộ</a:t>
            </a:r>
            <a:r>
              <a:rPr lang="en-US" sz="2600" dirty="0"/>
              <a:t> </a:t>
            </a:r>
            <a:r>
              <a:rPr lang="en-US" sz="2600" dirty="0" err="1"/>
              <a:t>giá</a:t>
            </a:r>
            <a:r>
              <a:rPr lang="en-US" sz="2600" dirty="0"/>
              <a:t> </a:t>
            </a:r>
            <a:r>
              <a:rPr lang="en-US" sz="2600" dirty="0" err="1"/>
              <a:t>trị</a:t>
            </a:r>
            <a:r>
              <a:rPr lang="en-US" sz="2600" dirty="0"/>
              <a:t> </a:t>
            </a:r>
            <a:r>
              <a:rPr lang="en-US" sz="2600" dirty="0" err="1"/>
              <a:t>của</a:t>
            </a:r>
            <a:r>
              <a:rPr lang="en-US" sz="2600" dirty="0"/>
              <a:t> </a:t>
            </a:r>
            <a:r>
              <a:rPr lang="en-US" sz="2600" dirty="0" err="1"/>
              <a:t>bộ</a:t>
            </a:r>
            <a:r>
              <a:rPr lang="en-US" sz="2600" dirty="0"/>
              <a:t> </a:t>
            </a:r>
            <a:r>
              <a:rPr lang="en-US" sz="2600" dirty="0" err="1"/>
              <a:t>biến</a:t>
            </a:r>
            <a:r>
              <a:rPr lang="en-US" sz="2600" dirty="0"/>
              <a:t> </a:t>
            </a:r>
            <a:r>
              <a:rPr lang="en-US" sz="2600" dirty="0" err="1"/>
              <a:t>mệnh</a:t>
            </a:r>
            <a:r>
              <a:rPr lang="en-US" sz="2600" dirty="0"/>
              <a:t> </a:t>
            </a:r>
            <a:r>
              <a:rPr lang="en-US" sz="2600" dirty="0" err="1"/>
              <a:t>đề</a:t>
            </a:r>
            <a:r>
              <a:rPr lang="vi-VN" sz="2600" dirty="0"/>
              <a:t>.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Biểu</a:t>
            </a:r>
            <a:r>
              <a:rPr lang="en-US" sz="4800" b="1" dirty="0"/>
              <a:t> </a:t>
            </a:r>
            <a:r>
              <a:rPr lang="en-US" sz="4800" b="1" dirty="0" err="1"/>
              <a:t>thức</a:t>
            </a:r>
            <a:r>
              <a:rPr lang="en-US" sz="4800" b="1" dirty="0"/>
              <a:t> logic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1588" algn="just">
              <a:buClr>
                <a:srgbClr val="FF0000"/>
              </a:buClr>
              <a:buNone/>
            </a:pPr>
            <a:r>
              <a:rPr lang="vi-VN" sz="2600" dirty="0">
                <a:solidFill>
                  <a:srgbClr val="FF0000"/>
                </a:solidFill>
              </a:rPr>
              <a:t>Bảng chân trị của </a:t>
            </a:r>
            <a:r>
              <a:rPr lang="en-US" sz="2600" dirty="0" err="1">
                <a:solidFill>
                  <a:srgbClr val="FF0000"/>
                </a:solidFill>
              </a:rPr>
              <a:t>một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biểu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thức</a:t>
            </a:r>
            <a:r>
              <a:rPr lang="en-US" sz="2600" dirty="0">
                <a:solidFill>
                  <a:srgbClr val="FF0000"/>
                </a:solidFill>
              </a:rPr>
              <a:t> logic.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sz="2600" dirty="0" err="1">
                <a:solidFill>
                  <a:srgbClr val="FF0000"/>
                </a:solidFill>
              </a:rPr>
              <a:t>Ví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dụ</a:t>
            </a:r>
            <a:r>
              <a:rPr lang="en-US" sz="2600" dirty="0">
                <a:solidFill>
                  <a:srgbClr val="FF0000"/>
                </a:solidFill>
              </a:rPr>
              <a:t>: 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sz="2600" dirty="0" err="1"/>
              <a:t>Với</a:t>
            </a:r>
            <a:r>
              <a:rPr lang="en-US" sz="2600" dirty="0"/>
              <a:t> </a:t>
            </a:r>
            <a:r>
              <a:rPr lang="en-US" sz="2600" dirty="0" err="1"/>
              <a:t>một</a:t>
            </a:r>
            <a:r>
              <a:rPr lang="en-US" sz="2600" dirty="0"/>
              <a:t> </a:t>
            </a:r>
            <a:r>
              <a:rPr lang="en-US" sz="2600" dirty="0" err="1"/>
              <a:t>biến</a:t>
            </a:r>
            <a:r>
              <a:rPr lang="en-US" sz="2600" dirty="0"/>
              <a:t> </a:t>
            </a:r>
            <a:r>
              <a:rPr lang="en-US" sz="2600" dirty="0" err="1"/>
              <a:t>mệnh</a:t>
            </a:r>
            <a:r>
              <a:rPr lang="en-US" sz="2600" dirty="0"/>
              <a:t> </a:t>
            </a:r>
            <a:r>
              <a:rPr lang="en-US" sz="2600" dirty="0" err="1"/>
              <a:t>đề</a:t>
            </a:r>
            <a:r>
              <a:rPr lang="en-US" sz="2600" dirty="0"/>
              <a:t>, ta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hai</a:t>
            </a:r>
            <a:r>
              <a:rPr lang="en-US" sz="2600" dirty="0"/>
              <a:t> </a:t>
            </a:r>
            <a:r>
              <a:rPr lang="en-US" sz="2600" dirty="0" err="1"/>
              <a:t>trường</a:t>
            </a:r>
            <a:r>
              <a:rPr lang="en-US" sz="2600" dirty="0"/>
              <a:t> </a:t>
            </a:r>
            <a:r>
              <a:rPr lang="en-US" sz="2600" dirty="0" err="1"/>
              <a:t>hợp</a:t>
            </a:r>
            <a:r>
              <a:rPr lang="en-US" sz="2600" dirty="0"/>
              <a:t> </a:t>
            </a:r>
            <a:r>
              <a:rPr lang="en-US" sz="2600" dirty="0" err="1"/>
              <a:t>là</a:t>
            </a:r>
            <a:r>
              <a:rPr lang="en-US" sz="2600" dirty="0"/>
              <a:t> 0 </a:t>
            </a:r>
            <a:r>
              <a:rPr lang="en-US" sz="2600" dirty="0" err="1"/>
              <a:t>hoặc</a:t>
            </a:r>
            <a:r>
              <a:rPr lang="en-US" sz="2600" dirty="0"/>
              <a:t> 1.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sz="2600" dirty="0" err="1"/>
              <a:t>Với</a:t>
            </a:r>
            <a:r>
              <a:rPr lang="en-US" sz="2600" dirty="0"/>
              <a:t> </a:t>
            </a:r>
            <a:r>
              <a:rPr lang="en-US" sz="2600" dirty="0" err="1"/>
              <a:t>hai</a:t>
            </a:r>
            <a:r>
              <a:rPr lang="en-US" sz="2600" dirty="0"/>
              <a:t> </a:t>
            </a:r>
            <a:r>
              <a:rPr lang="en-US" sz="2600" dirty="0" err="1"/>
              <a:t>biến</a:t>
            </a:r>
            <a:r>
              <a:rPr lang="en-US" sz="2600" dirty="0"/>
              <a:t> </a:t>
            </a:r>
            <a:r>
              <a:rPr lang="en-US" sz="2600" dirty="0" err="1"/>
              <a:t>mệnh</a:t>
            </a:r>
            <a:r>
              <a:rPr lang="en-US" sz="2600" dirty="0"/>
              <a:t> </a:t>
            </a:r>
            <a:r>
              <a:rPr lang="en-US" sz="2600" dirty="0" err="1"/>
              <a:t>đề</a:t>
            </a:r>
            <a:r>
              <a:rPr lang="en-US" sz="2600" dirty="0"/>
              <a:t> </a:t>
            </a:r>
            <a:r>
              <a:rPr lang="en-US" sz="2600" dirty="0" err="1"/>
              <a:t>p,q</a:t>
            </a:r>
            <a:r>
              <a:rPr lang="en-US" sz="2600" dirty="0"/>
              <a:t> ta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bốn</a:t>
            </a:r>
            <a:r>
              <a:rPr lang="en-US" sz="2600" dirty="0"/>
              <a:t> </a:t>
            </a:r>
            <a:r>
              <a:rPr lang="en-US" sz="2600" dirty="0" err="1"/>
              <a:t>trường</a:t>
            </a:r>
            <a:r>
              <a:rPr lang="en-US" sz="2600" dirty="0"/>
              <a:t> </a:t>
            </a:r>
            <a:r>
              <a:rPr lang="en-US" sz="2600" dirty="0" err="1"/>
              <a:t>hợp</a:t>
            </a:r>
            <a:r>
              <a:rPr lang="en-US" sz="2600" dirty="0"/>
              <a:t> </a:t>
            </a:r>
            <a:r>
              <a:rPr lang="en-US" sz="2600" dirty="0" err="1"/>
              <a:t>chân</a:t>
            </a:r>
            <a:r>
              <a:rPr lang="en-US" sz="2600" dirty="0"/>
              <a:t> </a:t>
            </a:r>
            <a:r>
              <a:rPr lang="en-US" sz="2600" dirty="0" err="1"/>
              <a:t>trị</a:t>
            </a:r>
            <a:r>
              <a:rPr lang="en-US" sz="2600" dirty="0"/>
              <a:t> </a:t>
            </a:r>
            <a:r>
              <a:rPr lang="en-US" sz="2600" dirty="0" err="1"/>
              <a:t>của</a:t>
            </a:r>
            <a:r>
              <a:rPr lang="en-US" sz="2600" dirty="0"/>
              <a:t> </a:t>
            </a:r>
            <a:r>
              <a:rPr lang="en-US" sz="2600" dirty="0" err="1"/>
              <a:t>bộ</a:t>
            </a:r>
            <a:r>
              <a:rPr lang="en-US" sz="2600" dirty="0"/>
              <a:t> </a:t>
            </a:r>
            <a:r>
              <a:rPr lang="en-US" sz="2600" dirty="0" err="1"/>
              <a:t>biến</a:t>
            </a:r>
            <a:r>
              <a:rPr lang="en-US" sz="2600" dirty="0"/>
              <a:t> (</a:t>
            </a:r>
            <a:r>
              <a:rPr lang="en-US" sz="2600" dirty="0" err="1"/>
              <a:t>p,q</a:t>
            </a:r>
            <a:r>
              <a:rPr lang="en-US" sz="2600" dirty="0"/>
              <a:t>) </a:t>
            </a:r>
            <a:r>
              <a:rPr lang="en-US" sz="2600" dirty="0" err="1"/>
              <a:t>là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bộ</a:t>
            </a:r>
            <a:r>
              <a:rPr lang="en-US" sz="2600" dirty="0"/>
              <a:t> </a:t>
            </a:r>
            <a:r>
              <a:rPr lang="en-US" sz="2600" dirty="0" err="1"/>
              <a:t>giá</a:t>
            </a:r>
            <a:r>
              <a:rPr lang="en-US" sz="2600" dirty="0"/>
              <a:t> </a:t>
            </a:r>
            <a:r>
              <a:rPr lang="en-US" sz="2600" dirty="0" err="1"/>
              <a:t>trị</a:t>
            </a:r>
            <a:r>
              <a:rPr lang="en-US" sz="2600" dirty="0"/>
              <a:t> (0,0), (0,1), (1,0) </a:t>
            </a:r>
            <a:r>
              <a:rPr lang="en-US" sz="2600" dirty="0" err="1"/>
              <a:t>và</a:t>
            </a:r>
            <a:r>
              <a:rPr lang="en-US" sz="2600" dirty="0"/>
              <a:t> (1,1).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sz="2600" dirty="0">
                <a:solidFill>
                  <a:schemeClr val="accent2"/>
                </a:solidFill>
              </a:rPr>
              <a:t>NX: </a:t>
            </a:r>
            <a:r>
              <a:rPr lang="en-US" sz="2600" dirty="0"/>
              <a:t>Trong </a:t>
            </a:r>
            <a:r>
              <a:rPr lang="en-US" sz="2600" dirty="0" err="1"/>
              <a:t>trường</a:t>
            </a:r>
            <a:r>
              <a:rPr lang="en-US" sz="2600" dirty="0"/>
              <a:t> </a:t>
            </a:r>
            <a:r>
              <a:rPr lang="en-US" sz="2600" dirty="0" err="1"/>
              <a:t>hợp</a:t>
            </a:r>
            <a:r>
              <a:rPr lang="en-US" sz="2600" dirty="0"/>
              <a:t> </a:t>
            </a:r>
            <a:r>
              <a:rPr lang="en-US" sz="2600" dirty="0" err="1"/>
              <a:t>tổng</a:t>
            </a:r>
            <a:r>
              <a:rPr lang="en-US" sz="2600" dirty="0"/>
              <a:t> </a:t>
            </a:r>
            <a:r>
              <a:rPr lang="en-US" sz="2600" dirty="0" err="1"/>
              <a:t>quát</a:t>
            </a:r>
            <a:r>
              <a:rPr lang="en-US" sz="2600" dirty="0"/>
              <a:t>, n</a:t>
            </a:r>
            <a:r>
              <a:rPr lang="vi-VN" sz="2600" dirty="0"/>
              <a:t>ếu có n biến</a:t>
            </a:r>
            <a:r>
              <a:rPr lang="en-US" sz="2600" dirty="0"/>
              <a:t> </a:t>
            </a:r>
            <a:r>
              <a:rPr lang="en-US" sz="2600" dirty="0" err="1"/>
              <a:t>mệnh</a:t>
            </a:r>
            <a:r>
              <a:rPr lang="en-US" sz="2600" dirty="0"/>
              <a:t> </a:t>
            </a:r>
            <a:r>
              <a:rPr lang="en-US" sz="2600" dirty="0" err="1"/>
              <a:t>đề</a:t>
            </a:r>
            <a:r>
              <a:rPr lang="en-US" sz="2600" dirty="0"/>
              <a:t> </a:t>
            </a:r>
            <a:r>
              <a:rPr lang="en-US" sz="2600" dirty="0" err="1"/>
              <a:t>thì</a:t>
            </a:r>
            <a:r>
              <a:rPr lang="en-US" sz="2600" dirty="0"/>
              <a:t> </a:t>
            </a:r>
            <a:r>
              <a:rPr lang="en-US" sz="2600" dirty="0" err="1"/>
              <a:t>ta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   </a:t>
            </a:r>
            <a:r>
              <a:rPr lang="vi-VN" sz="2600" dirty="0"/>
              <a:t> </a:t>
            </a:r>
            <a:r>
              <a:rPr lang="en-US" sz="2600" dirty="0" err="1"/>
              <a:t>trường</a:t>
            </a:r>
            <a:r>
              <a:rPr lang="en-US" sz="2600" dirty="0"/>
              <a:t> </a:t>
            </a:r>
            <a:r>
              <a:rPr lang="en-US" sz="2600" dirty="0" err="1"/>
              <a:t>hợp</a:t>
            </a:r>
            <a:r>
              <a:rPr lang="en-US" sz="2600" dirty="0"/>
              <a:t> </a:t>
            </a:r>
            <a:r>
              <a:rPr lang="en-US" sz="2600" dirty="0" err="1"/>
              <a:t>chân</a:t>
            </a:r>
            <a:r>
              <a:rPr lang="en-US" sz="2600" dirty="0"/>
              <a:t> </a:t>
            </a:r>
            <a:r>
              <a:rPr lang="en-US" sz="2600" dirty="0" err="1"/>
              <a:t>trị</a:t>
            </a:r>
            <a:r>
              <a:rPr lang="en-US" sz="2600" dirty="0"/>
              <a:t> </a:t>
            </a:r>
            <a:r>
              <a:rPr lang="en-US" sz="2600" dirty="0" err="1"/>
              <a:t>cho</a:t>
            </a:r>
            <a:r>
              <a:rPr lang="en-US" sz="2600" dirty="0"/>
              <a:t> </a:t>
            </a:r>
            <a:r>
              <a:rPr lang="vi-VN" sz="2600" dirty="0"/>
              <a:t>b</a:t>
            </a:r>
            <a:r>
              <a:rPr lang="en-US" sz="2600" dirty="0"/>
              <a:t>ộ n </a:t>
            </a:r>
            <a:r>
              <a:rPr lang="en-US" sz="2600" dirty="0" err="1"/>
              <a:t>biến</a:t>
            </a:r>
            <a:r>
              <a:rPr lang="en-US" sz="2600" dirty="0"/>
              <a:t>.</a:t>
            </a:r>
            <a:r>
              <a:rPr lang="vi-VN" sz="2600" dirty="0"/>
              <a:t>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Biểu</a:t>
            </a:r>
            <a:r>
              <a:rPr lang="en-US" sz="4800" b="1" dirty="0"/>
              <a:t> </a:t>
            </a:r>
            <a:r>
              <a:rPr lang="en-US" sz="4800" b="1" dirty="0" err="1"/>
              <a:t>thức</a:t>
            </a:r>
            <a:r>
              <a:rPr lang="en-US" sz="4800" b="1" dirty="0"/>
              <a:t> logic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3771900" y="5092700"/>
          <a:ext cx="304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4560" imgH="380880" progId="Equation.DSMT4">
                  <p:embed/>
                </p:oleObj>
              </mc:Choice>
              <mc:Fallback>
                <p:oleObj name="Equation" r:id="rId2" imgW="304560" imgH="38088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1900" y="5092700"/>
                        <a:ext cx="3048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7772400" cy="5105400"/>
          </a:xfrm>
        </p:spPr>
        <p:txBody>
          <a:bodyPr/>
          <a:lstStyle/>
          <a:p>
            <a:pPr>
              <a:buNone/>
            </a:pP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Ví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dụ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dirty="0">
                <a:latin typeface="+mn-lt"/>
                <a:ea typeface="+mn-ea"/>
                <a:cs typeface="+mn-cs"/>
              </a:rPr>
              <a:t>Cho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>
                <a:latin typeface="+mn-lt"/>
                <a:ea typeface="+mn-ea"/>
                <a:cs typeface="+mn-cs"/>
              </a:rPr>
              <a:t>E(</a:t>
            </a:r>
            <a:r>
              <a:rPr lang="en-US" dirty="0" err="1">
                <a:latin typeface="+mn-lt"/>
                <a:ea typeface="+mn-ea"/>
                <a:cs typeface="+mn-cs"/>
              </a:rPr>
              <a:t>p,q,r</a:t>
            </a:r>
            <a:r>
              <a:rPr lang="en-US" dirty="0">
                <a:latin typeface="+mn-lt"/>
                <a:ea typeface="+mn-ea"/>
                <a:cs typeface="+mn-cs"/>
              </a:rPr>
              <a:t>) =(p </a:t>
            </a:r>
            <a:r>
              <a:rPr lang="vi-VN" dirty="0">
                <a:sym typeface="Symbol"/>
              </a:rPr>
              <a:t> </a:t>
            </a:r>
            <a:r>
              <a:rPr lang="en-US" dirty="0">
                <a:latin typeface="+mn-lt"/>
                <a:ea typeface="+mn-ea"/>
                <a:cs typeface="+mn-cs"/>
              </a:rPr>
              <a:t>q) </a:t>
            </a:r>
            <a:r>
              <a:rPr lang="en-US" dirty="0">
                <a:sym typeface="Symbol"/>
              </a:rPr>
              <a:t> </a:t>
            </a:r>
            <a:r>
              <a:rPr lang="en-US" dirty="0">
                <a:latin typeface="+mn-lt"/>
                <a:ea typeface="+mn-ea"/>
                <a:cs typeface="+mn-cs"/>
              </a:rPr>
              <a:t>r . </a:t>
            </a:r>
          </a:p>
          <a:p>
            <a:pPr>
              <a:buNone/>
            </a:pPr>
            <a:r>
              <a:rPr lang="en-US" dirty="0">
                <a:latin typeface="+mn-lt"/>
                <a:ea typeface="+mn-ea"/>
                <a:cs typeface="+mn-cs"/>
              </a:rPr>
              <a:t>Ta </a:t>
            </a:r>
            <a:r>
              <a:rPr lang="en-US" dirty="0" err="1">
                <a:latin typeface="+mn-lt"/>
                <a:ea typeface="+mn-ea"/>
                <a:cs typeface="+mn-cs"/>
              </a:rPr>
              <a:t>có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bảng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chân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trị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sau</a:t>
            </a:r>
            <a:r>
              <a:rPr lang="en-US" dirty="0">
                <a:latin typeface="+mn-lt"/>
                <a:ea typeface="+mn-ea"/>
                <a:cs typeface="+mn-cs"/>
              </a:rPr>
              <a:t>: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Biểu</a:t>
            </a:r>
            <a:r>
              <a:rPr lang="en-US" sz="4800" b="1" dirty="0"/>
              <a:t> </a:t>
            </a:r>
            <a:r>
              <a:rPr lang="en-US" sz="4800" b="1" dirty="0" err="1"/>
              <a:t>thức</a:t>
            </a:r>
            <a:r>
              <a:rPr lang="en-US" sz="4800" b="1" dirty="0"/>
              <a:t> logic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24000" y="2743203"/>
          <a:ext cx="6781800" cy="351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313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ea typeface="+mn-ea"/>
                          <a:cs typeface="+mn-cs"/>
                        </a:rPr>
                        <a:t>p </a:t>
                      </a:r>
                      <a:r>
                        <a:rPr lang="vi-VN" dirty="0">
                          <a:sym typeface="Symbol"/>
                        </a:rPr>
                        <a:t> </a:t>
                      </a:r>
                      <a:r>
                        <a:rPr lang="en-US" dirty="0"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ea typeface="+mn-ea"/>
                          <a:cs typeface="+mn-cs"/>
                        </a:rPr>
                        <a:t>(p </a:t>
                      </a:r>
                      <a:r>
                        <a:rPr lang="vi-VN" dirty="0">
                          <a:sym typeface="Symbol"/>
                        </a:rPr>
                        <a:t> </a:t>
                      </a:r>
                      <a:r>
                        <a:rPr lang="en-US" dirty="0">
                          <a:latin typeface="+mn-lt"/>
                          <a:ea typeface="+mn-ea"/>
                          <a:cs typeface="+mn-cs"/>
                        </a:rPr>
                        <a:t>q) </a:t>
                      </a:r>
                      <a:r>
                        <a:rPr lang="en-US" dirty="0">
                          <a:sym typeface="Symbol"/>
                        </a:rPr>
                        <a:t> </a:t>
                      </a:r>
                      <a:r>
                        <a:rPr lang="en-US" dirty="0">
                          <a:latin typeface="+mn-lt"/>
                          <a:ea typeface="+mn-ea"/>
                          <a:cs typeface="+mn-cs"/>
                        </a:rPr>
                        <a:t>r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00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00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00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00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00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00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400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400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4953000"/>
          </a:xfrm>
        </p:spPr>
        <p:txBody>
          <a:bodyPr/>
          <a:lstStyle/>
          <a:p>
            <a:pPr marL="0" indent="165100" algn="just">
              <a:buNone/>
            </a:pPr>
            <a:r>
              <a:rPr lang="vi-VN" dirty="0">
                <a:solidFill>
                  <a:srgbClr val="FF0000"/>
                </a:solidFill>
              </a:rPr>
              <a:t>Tương đương logic: </a:t>
            </a:r>
            <a:r>
              <a:rPr lang="vi-VN" dirty="0"/>
              <a:t>Hai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logic </a:t>
            </a:r>
            <a:r>
              <a:rPr lang="vi-VN" dirty="0"/>
              <a:t>E và F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mệnh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vi-VN" dirty="0"/>
              <a:t> được gọi là</a:t>
            </a:r>
            <a:r>
              <a:rPr lang="en-US" dirty="0"/>
              <a:t> </a:t>
            </a:r>
            <a:r>
              <a:rPr lang="vi-VN" dirty="0"/>
              <a:t>tương đương logic nếu chúng có cùng bảng chân trị.</a:t>
            </a:r>
          </a:p>
          <a:p>
            <a:pPr>
              <a:buNone/>
            </a:pPr>
            <a:r>
              <a:rPr lang="vi-VN" dirty="0"/>
              <a:t>Ký hiệu</a:t>
            </a:r>
            <a:r>
              <a:rPr lang="en-US" dirty="0"/>
              <a:t>:</a:t>
            </a:r>
            <a:r>
              <a:rPr lang="vi-VN" dirty="0"/>
              <a:t> E </a:t>
            </a:r>
            <a:r>
              <a:rPr lang="vi-VN" dirty="0">
                <a:sym typeface="Symbol"/>
              </a:rPr>
              <a:t></a:t>
            </a:r>
            <a:r>
              <a:rPr lang="en-US" dirty="0">
                <a:sym typeface="Symbol"/>
              </a:rPr>
              <a:t> </a:t>
            </a:r>
            <a:r>
              <a:rPr lang="vi-VN" dirty="0"/>
              <a:t>F</a:t>
            </a:r>
            <a:r>
              <a:rPr lang="en-US" dirty="0"/>
              <a:t>  (E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đương</a:t>
            </a:r>
            <a:r>
              <a:rPr lang="en-US" dirty="0"/>
              <a:t> logic </a:t>
            </a:r>
            <a:r>
              <a:rPr lang="en-US" dirty="0" err="1"/>
              <a:t>với</a:t>
            </a:r>
            <a:r>
              <a:rPr lang="en-US" dirty="0"/>
              <a:t> F).</a:t>
            </a:r>
            <a:endParaRPr lang="vi-VN" dirty="0"/>
          </a:p>
          <a:p>
            <a:pPr>
              <a:buNone/>
            </a:pPr>
            <a:r>
              <a:rPr lang="vi-VN" dirty="0">
                <a:solidFill>
                  <a:srgbClr val="FF0000"/>
                </a:solidFill>
              </a:rPr>
              <a:t>Ví dụ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>
                <a:sym typeface="Symbol"/>
              </a:rPr>
              <a:t></a:t>
            </a:r>
            <a:r>
              <a:rPr lang="vi-VN" dirty="0"/>
              <a:t>(p </a:t>
            </a:r>
            <a:r>
              <a:rPr lang="vi-VN" dirty="0">
                <a:sym typeface="Symbol"/>
              </a:rPr>
              <a:t></a:t>
            </a:r>
            <a:r>
              <a:rPr lang="vi-VN" dirty="0"/>
              <a:t> q) </a:t>
            </a:r>
            <a:r>
              <a:rPr lang="vi-VN" dirty="0">
                <a:sym typeface="Symbol"/>
              </a:rPr>
              <a:t></a:t>
            </a:r>
            <a:r>
              <a:rPr lang="vi-VN" dirty="0"/>
              <a:t> </a:t>
            </a:r>
            <a:r>
              <a:rPr lang="vi-VN" dirty="0">
                <a:sym typeface="Symbol"/>
              </a:rPr>
              <a:t></a:t>
            </a:r>
            <a:r>
              <a:rPr lang="vi-VN" dirty="0"/>
              <a:t>p </a:t>
            </a:r>
            <a:r>
              <a:rPr lang="vi-VN" dirty="0">
                <a:sym typeface="Symbol"/>
              </a:rPr>
              <a:t></a:t>
            </a:r>
            <a:r>
              <a:rPr lang="vi-VN" dirty="0"/>
              <a:t> </a:t>
            </a:r>
            <a:r>
              <a:rPr lang="vi-VN" dirty="0">
                <a:sym typeface="Symbol"/>
              </a:rPr>
              <a:t></a:t>
            </a:r>
            <a:r>
              <a:rPr lang="vi-VN" dirty="0"/>
              <a:t>q</a:t>
            </a:r>
          </a:p>
          <a:p>
            <a:pPr marL="0" indent="165100" algn="just">
              <a:buNone/>
            </a:pP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logic E </a:t>
            </a:r>
            <a:r>
              <a:rPr lang="vi-VN" dirty="0"/>
              <a:t>được gọi là </a:t>
            </a:r>
            <a:r>
              <a:rPr lang="vi-VN" dirty="0">
                <a:solidFill>
                  <a:schemeClr val="accent2"/>
                </a:solidFill>
              </a:rPr>
              <a:t>hằng đúng </a:t>
            </a:r>
            <a:r>
              <a:rPr lang="vi-VN" dirty="0"/>
              <a:t>nếu </a:t>
            </a:r>
            <a:r>
              <a:rPr lang="en-US" dirty="0" err="1"/>
              <a:t>chân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E </a:t>
            </a:r>
            <a:r>
              <a:rPr lang="vi-VN" dirty="0"/>
              <a:t>luôn </a:t>
            </a:r>
            <a:r>
              <a:rPr lang="en-US" dirty="0" err="1"/>
              <a:t>bằng</a:t>
            </a:r>
            <a:r>
              <a:rPr lang="vi-VN" dirty="0"/>
              <a:t> 1 </a:t>
            </a:r>
            <a:r>
              <a:rPr lang="en-US" dirty="0"/>
              <a:t>(</a:t>
            </a:r>
            <a:r>
              <a:rPr lang="en-US" dirty="0" err="1"/>
              <a:t>hằng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)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chân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mệnh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E. </a:t>
            </a:r>
            <a:r>
              <a:rPr lang="en-US" dirty="0" err="1"/>
              <a:t>Nói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, E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hằng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ta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vi-VN" dirty="0"/>
              <a:t>E </a:t>
            </a:r>
            <a:r>
              <a:rPr lang="vi-VN" dirty="0">
                <a:sym typeface="Symbol"/>
              </a:rPr>
              <a:t></a:t>
            </a:r>
            <a:r>
              <a:rPr lang="en-US" dirty="0">
                <a:sym typeface="Symbol"/>
              </a:rPr>
              <a:t> 1.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Biểu</a:t>
            </a:r>
            <a:r>
              <a:rPr lang="en-US" sz="4800" b="1" dirty="0"/>
              <a:t> </a:t>
            </a:r>
            <a:r>
              <a:rPr lang="en-US" sz="4800" b="1" dirty="0" err="1"/>
              <a:t>thức</a:t>
            </a:r>
            <a:r>
              <a:rPr lang="en-US" sz="4800" b="1" dirty="0"/>
              <a:t> logic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4953000"/>
          </a:xfrm>
        </p:spPr>
        <p:txBody>
          <a:bodyPr/>
          <a:lstStyle/>
          <a:p>
            <a:pPr marL="0" indent="165100" algn="just">
              <a:buNone/>
            </a:pP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, E </a:t>
            </a:r>
            <a:r>
              <a:rPr lang="vi-VN" dirty="0"/>
              <a:t>là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vi-VN" dirty="0">
                <a:solidFill>
                  <a:schemeClr val="accent2"/>
                </a:solidFill>
              </a:rPr>
              <a:t>hằng sai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ta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vi-VN" dirty="0"/>
              <a:t> E </a:t>
            </a:r>
            <a:r>
              <a:rPr lang="vi-VN" dirty="0">
                <a:sym typeface="Symbol"/>
              </a:rPr>
              <a:t></a:t>
            </a:r>
            <a:r>
              <a:rPr lang="en-US" dirty="0">
                <a:sym typeface="Symbol"/>
              </a:rPr>
              <a:t> 0.</a:t>
            </a:r>
          </a:p>
          <a:p>
            <a:pPr marL="0" indent="165100" algn="just">
              <a:buNone/>
            </a:pPr>
            <a:r>
              <a:rPr lang="en-US" dirty="0" err="1">
                <a:solidFill>
                  <a:srgbClr val="FF0000"/>
                </a:solidFill>
                <a:sym typeface="Symbol"/>
              </a:rPr>
              <a:t>Ví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dụ</a:t>
            </a:r>
            <a:r>
              <a:rPr lang="en-US" dirty="0">
                <a:solidFill>
                  <a:srgbClr val="FF0000"/>
                </a:solidFill>
                <a:sym typeface="Symbol"/>
              </a:rPr>
              <a:t>: </a:t>
            </a:r>
            <a:r>
              <a:rPr lang="en-US" dirty="0">
                <a:sym typeface="Symbol"/>
              </a:rPr>
              <a:t>E(</a:t>
            </a:r>
            <a:r>
              <a:rPr lang="en-US" dirty="0" err="1">
                <a:sym typeface="Symbol"/>
              </a:rPr>
              <a:t>p,q</a:t>
            </a:r>
            <a:r>
              <a:rPr lang="en-US" dirty="0">
                <a:sym typeface="Symbol"/>
              </a:rPr>
              <a:t>) =</a:t>
            </a:r>
            <a:r>
              <a:rPr lang="vi-VN" dirty="0"/>
              <a:t> p </a:t>
            </a:r>
            <a:r>
              <a:rPr lang="vi-VN" dirty="0">
                <a:sym typeface="Symbol"/>
              </a:rPr>
              <a:t></a:t>
            </a:r>
            <a:r>
              <a:rPr lang="vi-VN" dirty="0"/>
              <a:t> </a:t>
            </a:r>
            <a:r>
              <a:rPr lang="vi-VN" dirty="0">
                <a:sym typeface="Symbol"/>
              </a:rPr>
              <a:t></a:t>
            </a:r>
            <a:r>
              <a:rPr lang="en-US" dirty="0">
                <a:sym typeface="Symbol"/>
              </a:rPr>
              <a:t>p </a:t>
            </a:r>
            <a:r>
              <a:rPr lang="en-US" dirty="0" err="1">
                <a:sym typeface="Symbol"/>
              </a:rPr>
              <a:t>là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hằng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sai</a:t>
            </a:r>
            <a:r>
              <a:rPr lang="en-US" dirty="0">
                <a:sym typeface="Symbol"/>
              </a:rPr>
              <a:t>.</a:t>
            </a:r>
          </a:p>
          <a:p>
            <a:pPr marL="0" indent="165100" algn="just">
              <a:buNone/>
            </a:pPr>
            <a:r>
              <a:rPr lang="en-US" dirty="0"/>
              <a:t>	   F(</a:t>
            </a:r>
            <a:r>
              <a:rPr lang="en-US" dirty="0" err="1"/>
              <a:t>p,q</a:t>
            </a:r>
            <a:r>
              <a:rPr lang="en-US" dirty="0"/>
              <a:t>) =(p</a:t>
            </a:r>
            <a:r>
              <a:rPr lang="vi-VN" dirty="0">
                <a:sym typeface="Symbol"/>
              </a:rPr>
              <a:t></a:t>
            </a:r>
            <a:r>
              <a:rPr lang="en-US" dirty="0">
                <a:sym typeface="Symbol"/>
              </a:rPr>
              <a:t>q)</a:t>
            </a:r>
            <a:r>
              <a:rPr lang="vi-VN" dirty="0">
                <a:sym typeface="Symbol"/>
              </a:rPr>
              <a:t> </a:t>
            </a:r>
            <a:r>
              <a:rPr lang="en-US" dirty="0">
                <a:sym typeface="Symbol"/>
              </a:rPr>
              <a:t> (</a:t>
            </a:r>
            <a:r>
              <a:rPr lang="vi-VN" dirty="0">
                <a:sym typeface="Symbol"/>
              </a:rPr>
              <a:t></a:t>
            </a:r>
            <a:r>
              <a:rPr lang="en-US" dirty="0">
                <a:sym typeface="Symbol"/>
              </a:rPr>
              <a:t>p </a:t>
            </a:r>
            <a:r>
              <a:rPr lang="vi-VN" dirty="0">
                <a:sym typeface="Symbol"/>
              </a:rPr>
              <a:t></a:t>
            </a:r>
            <a:r>
              <a:rPr lang="vi-VN" dirty="0"/>
              <a:t> q</a:t>
            </a:r>
            <a:r>
              <a:rPr lang="en-US" dirty="0"/>
              <a:t>)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hằng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.</a:t>
            </a:r>
          </a:p>
          <a:p>
            <a:pPr marL="0" indent="165100" algn="just">
              <a:buNone/>
            </a:pPr>
            <a:r>
              <a:rPr lang="vi-VN" dirty="0">
                <a:solidFill>
                  <a:srgbClr val="FF0000"/>
                </a:solidFill>
              </a:rPr>
              <a:t>Định lý: </a:t>
            </a:r>
            <a:r>
              <a:rPr lang="vi-VN" dirty="0"/>
              <a:t>Hai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logic </a:t>
            </a:r>
            <a:r>
              <a:rPr lang="vi-VN" dirty="0"/>
              <a:t>E và F tương đương với nhau khi</a:t>
            </a:r>
            <a:r>
              <a:rPr lang="en-US" dirty="0"/>
              <a:t> </a:t>
            </a:r>
            <a:r>
              <a:rPr lang="vi-VN" dirty="0"/>
              <a:t>và chỉ khi E</a:t>
            </a:r>
            <a:r>
              <a:rPr lang="en-US" dirty="0"/>
              <a:t> </a:t>
            </a:r>
            <a:r>
              <a:rPr lang="vi-VN" dirty="0">
                <a:sym typeface="Symbol"/>
              </a:rPr>
              <a:t></a:t>
            </a:r>
            <a:r>
              <a:rPr lang="en-US" dirty="0">
                <a:sym typeface="Symbol"/>
              </a:rPr>
              <a:t> </a:t>
            </a:r>
            <a:r>
              <a:rPr lang="vi-VN" dirty="0"/>
              <a:t>F là hằng đúng.</a:t>
            </a:r>
            <a:endParaRPr lang="en-US" dirty="0"/>
          </a:p>
          <a:p>
            <a:pPr marL="0" indent="165100" algn="just">
              <a:buNone/>
            </a:pPr>
            <a:r>
              <a:rPr lang="en-US" dirty="0" err="1">
                <a:solidFill>
                  <a:schemeClr val="accent2"/>
                </a:solidFill>
              </a:rPr>
              <a:t>Ví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dụ</a:t>
            </a:r>
            <a:r>
              <a:rPr lang="en-US" dirty="0">
                <a:solidFill>
                  <a:schemeClr val="accent2"/>
                </a:solidFill>
              </a:rPr>
              <a:t>: </a:t>
            </a:r>
            <a:r>
              <a:rPr lang="en-US" dirty="0"/>
              <a:t>(p</a:t>
            </a:r>
            <a:r>
              <a:rPr lang="vi-VN" dirty="0">
                <a:sym typeface="Symbol"/>
              </a:rPr>
              <a:t></a:t>
            </a:r>
            <a:r>
              <a:rPr lang="en-US" dirty="0">
                <a:sym typeface="Symbol"/>
              </a:rPr>
              <a:t>q)</a:t>
            </a:r>
            <a:r>
              <a:rPr lang="vi-VN" dirty="0">
                <a:sym typeface="Symbol"/>
              </a:rPr>
              <a:t> </a:t>
            </a:r>
            <a:r>
              <a:rPr lang="en-US" dirty="0">
                <a:sym typeface="Symbol"/>
              </a:rPr>
              <a:t> (</a:t>
            </a:r>
            <a:r>
              <a:rPr lang="vi-VN" dirty="0">
                <a:sym typeface="Symbol"/>
              </a:rPr>
              <a:t></a:t>
            </a:r>
            <a:r>
              <a:rPr lang="en-US" dirty="0">
                <a:sym typeface="Symbol"/>
              </a:rPr>
              <a:t>p </a:t>
            </a:r>
            <a:r>
              <a:rPr lang="vi-VN" dirty="0">
                <a:sym typeface="Symbol"/>
              </a:rPr>
              <a:t></a:t>
            </a:r>
            <a:r>
              <a:rPr lang="vi-VN" dirty="0"/>
              <a:t> q</a:t>
            </a:r>
            <a:r>
              <a:rPr lang="en-US" dirty="0"/>
              <a:t>)</a:t>
            </a:r>
            <a:endParaRPr lang="en-US" dirty="0">
              <a:solidFill>
                <a:schemeClr val="accent2"/>
              </a:solidFill>
            </a:endParaRPr>
          </a:p>
          <a:p>
            <a:pPr marL="0" indent="165100" algn="just">
              <a:buNone/>
            </a:pPr>
            <a:r>
              <a:rPr lang="vi-VN" dirty="0">
                <a:solidFill>
                  <a:srgbClr val="FF0000"/>
                </a:solidFill>
              </a:rPr>
              <a:t>Hệ quả logic: </a:t>
            </a:r>
            <a:r>
              <a:rPr lang="vi-VN" dirty="0"/>
              <a:t>F được gọi là hệ quả logic của E nếu E</a:t>
            </a:r>
            <a:r>
              <a:rPr lang="en-US" dirty="0"/>
              <a:t> </a:t>
            </a:r>
            <a:r>
              <a:rPr lang="vi-VN" dirty="0">
                <a:sym typeface="Symbol"/>
              </a:rPr>
              <a:t></a:t>
            </a:r>
            <a:r>
              <a:rPr lang="en-US" dirty="0">
                <a:sym typeface="Symbol"/>
              </a:rPr>
              <a:t> </a:t>
            </a:r>
            <a:r>
              <a:rPr lang="vi-VN" dirty="0"/>
              <a:t>F là</a:t>
            </a:r>
            <a:r>
              <a:rPr lang="en-US" dirty="0"/>
              <a:t> </a:t>
            </a:r>
            <a:r>
              <a:rPr lang="vi-VN" dirty="0"/>
              <a:t>hằng đúng.</a:t>
            </a:r>
          </a:p>
          <a:p>
            <a:pPr marL="0" indent="165100" algn="just">
              <a:buNone/>
            </a:pPr>
            <a:r>
              <a:rPr lang="vi-VN" dirty="0"/>
              <a:t>Ký hiệu</a:t>
            </a:r>
            <a:r>
              <a:rPr lang="en-US" dirty="0"/>
              <a:t>: </a:t>
            </a:r>
            <a:r>
              <a:rPr lang="vi-VN" dirty="0"/>
              <a:t>E</a:t>
            </a:r>
            <a:r>
              <a:rPr lang="en-US" dirty="0"/>
              <a:t> </a:t>
            </a:r>
            <a:r>
              <a:rPr lang="vi-VN" dirty="0">
                <a:sym typeface="Symbol"/>
              </a:rPr>
              <a:t></a:t>
            </a:r>
            <a:r>
              <a:rPr lang="en-US" dirty="0">
                <a:sym typeface="Symbol"/>
              </a:rPr>
              <a:t> </a:t>
            </a:r>
            <a:r>
              <a:rPr lang="vi-VN" dirty="0"/>
              <a:t>F</a:t>
            </a:r>
          </a:p>
          <a:p>
            <a:pPr marL="0" indent="165100" algn="just">
              <a:buNone/>
            </a:pPr>
            <a:r>
              <a:rPr lang="vi-VN" dirty="0">
                <a:solidFill>
                  <a:srgbClr val="FF0000"/>
                </a:solidFill>
              </a:rPr>
              <a:t>Ví dụ: </a:t>
            </a:r>
            <a:r>
              <a:rPr lang="vi-VN" dirty="0">
                <a:sym typeface="Symbol"/>
              </a:rPr>
              <a:t></a:t>
            </a:r>
            <a:r>
              <a:rPr lang="vi-VN" dirty="0"/>
              <a:t>(p </a:t>
            </a:r>
            <a:r>
              <a:rPr lang="vi-VN" dirty="0">
                <a:sym typeface="Symbol"/>
              </a:rPr>
              <a:t></a:t>
            </a:r>
            <a:r>
              <a:rPr lang="vi-VN" dirty="0"/>
              <a:t> q) </a:t>
            </a:r>
            <a:r>
              <a:rPr lang="vi-VN" dirty="0">
                <a:sym typeface="Symbol"/>
              </a:rPr>
              <a:t></a:t>
            </a:r>
            <a:r>
              <a:rPr lang="vi-VN" dirty="0"/>
              <a:t> </a:t>
            </a:r>
            <a:r>
              <a:rPr lang="vi-VN" dirty="0">
                <a:sym typeface="Symbol"/>
              </a:rPr>
              <a:t></a:t>
            </a:r>
            <a:r>
              <a:rPr lang="vi-VN" dirty="0"/>
              <a:t>p</a:t>
            </a:r>
            <a:endParaRPr lang="en-US" dirty="0"/>
          </a:p>
          <a:p>
            <a:pPr marL="0" indent="165100" algn="just"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Biểu</a:t>
            </a:r>
            <a:r>
              <a:rPr lang="en-US" sz="4800" b="1" dirty="0"/>
              <a:t> </a:t>
            </a:r>
            <a:r>
              <a:rPr lang="en-US" sz="4800" b="1" dirty="0" err="1"/>
              <a:t>thức</a:t>
            </a:r>
            <a:r>
              <a:rPr lang="en-US" sz="4800" b="1" dirty="0"/>
              <a:t> logic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81000"/>
          </a:xfrm>
        </p:spPr>
        <p:txBody>
          <a:bodyPr/>
          <a:lstStyle/>
          <a:p>
            <a:fld id="{3D9E56B6-077A-4A36-A778-66B152E4D643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7109887"/>
              </p:ext>
            </p:extLst>
          </p:nvPr>
        </p:nvGraphicFramePr>
        <p:xfrm>
          <a:off x="5734050" y="5029200"/>
          <a:ext cx="23495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49360" imgH="2108160" progId="Equation.DSMT4">
                  <p:embed/>
                </p:oleObj>
              </mc:Choice>
              <mc:Fallback>
                <p:oleObj name="Equation" r:id="rId2" imgW="2349360" imgH="2108160" progId="Equation.DSMT4">
                  <p:embed/>
                  <p:pic>
                    <p:nvPicPr>
                      <p:cNvPr id="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4050" y="5029200"/>
                        <a:ext cx="2349500" cy="1828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4530725"/>
          </a:xfrm>
        </p:spPr>
        <p:txBody>
          <a:bodyPr/>
          <a:lstStyle/>
          <a:p>
            <a:pPr marL="0" indent="344488" algn="just">
              <a:buClr>
                <a:srgbClr val="FF0000"/>
              </a:buClr>
              <a:buFont typeface="+mj-lt"/>
              <a:buAutoNum type="arabicPeriod"/>
            </a:pPr>
            <a:r>
              <a:rPr lang="vi-VN" dirty="0">
                <a:solidFill>
                  <a:srgbClr val="FF0000"/>
                </a:solidFill>
              </a:rPr>
              <a:t>Phủ định của phủ định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>
                <a:sym typeface="Symbol"/>
              </a:rPr>
              <a:t></a:t>
            </a:r>
            <a:r>
              <a:rPr lang="vi-VN" dirty="0"/>
              <a:t>p </a:t>
            </a:r>
            <a:r>
              <a:rPr lang="vi-VN" dirty="0">
                <a:sym typeface="Symbol"/>
              </a:rPr>
              <a:t></a:t>
            </a:r>
            <a:r>
              <a:rPr lang="en-US" dirty="0">
                <a:sym typeface="Symbol"/>
              </a:rPr>
              <a:t> </a:t>
            </a:r>
            <a:r>
              <a:rPr lang="vi-VN" dirty="0"/>
              <a:t>p</a:t>
            </a:r>
            <a:endParaRPr lang="en-US" dirty="0"/>
          </a:p>
          <a:p>
            <a:pPr marL="0" indent="344488" algn="just">
              <a:buClr>
                <a:srgbClr val="FF0000"/>
              </a:buClr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Qui </a:t>
            </a:r>
            <a:r>
              <a:rPr lang="en-US" dirty="0" err="1">
                <a:solidFill>
                  <a:srgbClr val="FF0000"/>
                </a:solidFill>
              </a:rPr>
              <a:t>tắc</a:t>
            </a:r>
            <a:r>
              <a:rPr lang="en-US" dirty="0">
                <a:solidFill>
                  <a:srgbClr val="FF0000"/>
                </a:solidFill>
              </a:rPr>
              <a:t> De Morgan:</a:t>
            </a:r>
            <a:r>
              <a:rPr lang="en-US" dirty="0"/>
              <a:t>	</a:t>
            </a:r>
            <a:r>
              <a:rPr lang="en-US" dirty="0">
                <a:sym typeface="Symbol"/>
              </a:rPr>
              <a:t></a:t>
            </a:r>
            <a:r>
              <a:rPr lang="en-US" dirty="0"/>
              <a:t> (p </a:t>
            </a:r>
            <a:r>
              <a:rPr lang="en-US" dirty="0">
                <a:sym typeface="Symbol"/>
              </a:rPr>
              <a:t> </a:t>
            </a:r>
            <a:r>
              <a:rPr lang="en-US" dirty="0"/>
              <a:t>q) </a:t>
            </a:r>
            <a:r>
              <a:rPr lang="en-US" dirty="0">
                <a:sym typeface="Symbol"/>
              </a:rPr>
              <a:t>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</a:t>
            </a:r>
            <a:r>
              <a:rPr lang="en-US" dirty="0"/>
              <a:t> p </a:t>
            </a:r>
            <a:r>
              <a:rPr lang="en-US" dirty="0">
                <a:sym typeface="Symbol"/>
              </a:rPr>
              <a:t>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</a:t>
            </a:r>
            <a:r>
              <a:rPr lang="en-US" dirty="0"/>
              <a:t> q</a:t>
            </a:r>
          </a:p>
          <a:p>
            <a:pPr marL="0" indent="344488" algn="just">
              <a:buClr>
                <a:srgbClr val="FF0000"/>
              </a:buClr>
              <a:buNone/>
              <a:tabLst>
                <a:tab pos="3657600" algn="l"/>
              </a:tabLst>
            </a:pPr>
            <a:r>
              <a:rPr lang="en-US" dirty="0"/>
              <a:t>	</a:t>
            </a:r>
            <a:r>
              <a:rPr lang="en-US" dirty="0">
                <a:sym typeface="Symbol"/>
              </a:rPr>
              <a:t></a:t>
            </a:r>
            <a:r>
              <a:rPr lang="en-US" dirty="0"/>
              <a:t> (p </a:t>
            </a:r>
            <a:r>
              <a:rPr lang="en-US" dirty="0">
                <a:sym typeface="Symbol"/>
              </a:rPr>
              <a:t> </a:t>
            </a:r>
            <a:r>
              <a:rPr lang="en-US" dirty="0"/>
              <a:t>q) </a:t>
            </a:r>
            <a:r>
              <a:rPr lang="en-US" dirty="0">
                <a:sym typeface="Symbol"/>
              </a:rPr>
              <a:t>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</a:t>
            </a:r>
            <a:r>
              <a:rPr lang="en-US" dirty="0"/>
              <a:t> p </a:t>
            </a:r>
            <a:r>
              <a:rPr lang="en-US" dirty="0">
                <a:sym typeface="Symbol"/>
              </a:rPr>
              <a:t>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</a:t>
            </a:r>
            <a:r>
              <a:rPr lang="en-US" dirty="0"/>
              <a:t> q</a:t>
            </a:r>
          </a:p>
          <a:p>
            <a:pPr marL="0" indent="344488" algn="just">
              <a:buClr>
                <a:srgbClr val="FF0000"/>
              </a:buClr>
              <a:buFont typeface="+mj-lt"/>
              <a:buAutoNum type="arabicPeriod" startAt="3"/>
            </a:pPr>
            <a:r>
              <a:rPr lang="en-US" dirty="0" err="1">
                <a:solidFill>
                  <a:srgbClr val="FF0000"/>
                </a:solidFill>
              </a:rPr>
              <a:t>Luật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giao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hoán</a:t>
            </a:r>
            <a:r>
              <a:rPr lang="en-US" dirty="0">
                <a:solidFill>
                  <a:srgbClr val="FF0000"/>
                </a:solidFill>
              </a:rPr>
              <a:t>: 	</a:t>
            </a:r>
            <a:r>
              <a:rPr lang="en-US" dirty="0"/>
              <a:t>p </a:t>
            </a:r>
            <a:r>
              <a:rPr lang="en-US" dirty="0">
                <a:sym typeface="Symbol"/>
              </a:rPr>
              <a:t></a:t>
            </a:r>
            <a:r>
              <a:rPr lang="en-US" dirty="0"/>
              <a:t> q </a:t>
            </a:r>
            <a:r>
              <a:rPr lang="en-US" dirty="0">
                <a:sym typeface="Symbol"/>
              </a:rPr>
              <a:t></a:t>
            </a:r>
            <a:r>
              <a:rPr lang="en-US" dirty="0"/>
              <a:t> q </a:t>
            </a:r>
            <a:r>
              <a:rPr lang="en-US" dirty="0">
                <a:sym typeface="Symbol"/>
              </a:rPr>
              <a:t></a:t>
            </a:r>
            <a:r>
              <a:rPr lang="en-US" dirty="0"/>
              <a:t> p</a:t>
            </a:r>
          </a:p>
          <a:p>
            <a:pPr marL="0" indent="344488" algn="just">
              <a:buClr>
                <a:srgbClr val="FF0000"/>
              </a:buClr>
              <a:buNone/>
            </a:pPr>
            <a:r>
              <a:rPr lang="en-US" dirty="0"/>
              <a:t>				p </a:t>
            </a:r>
            <a:r>
              <a:rPr lang="en-US" dirty="0">
                <a:sym typeface="Symbol"/>
              </a:rPr>
              <a:t></a:t>
            </a:r>
            <a:r>
              <a:rPr lang="en-US" dirty="0"/>
              <a:t> q </a:t>
            </a:r>
            <a:r>
              <a:rPr lang="en-US" dirty="0">
                <a:sym typeface="Symbol"/>
              </a:rPr>
              <a:t></a:t>
            </a:r>
            <a:r>
              <a:rPr lang="en-US" dirty="0"/>
              <a:t> q </a:t>
            </a:r>
            <a:r>
              <a:rPr lang="en-US" dirty="0">
                <a:sym typeface="Symbol"/>
              </a:rPr>
              <a:t></a:t>
            </a:r>
            <a:r>
              <a:rPr lang="en-US" dirty="0"/>
              <a:t> p</a:t>
            </a:r>
          </a:p>
          <a:p>
            <a:pPr marL="0" indent="344488" algn="just">
              <a:buClr>
                <a:srgbClr val="FF0000"/>
              </a:buClr>
              <a:buFont typeface="+mj-lt"/>
              <a:buAutoNum type="arabicPeriod" startAt="4"/>
            </a:pPr>
            <a:r>
              <a:rPr lang="en-US" dirty="0" err="1">
                <a:solidFill>
                  <a:srgbClr val="FF0000"/>
                </a:solidFill>
              </a:rPr>
              <a:t>Luật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kết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hợp</a:t>
            </a:r>
            <a:r>
              <a:rPr lang="en-US" dirty="0">
                <a:solidFill>
                  <a:srgbClr val="FF0000"/>
                </a:solidFill>
              </a:rPr>
              <a:t>:	</a:t>
            </a:r>
            <a:r>
              <a:rPr lang="en-US" dirty="0"/>
              <a:t>(p </a:t>
            </a:r>
            <a:r>
              <a:rPr lang="en-US" dirty="0">
                <a:sym typeface="Symbol"/>
              </a:rPr>
              <a:t></a:t>
            </a:r>
            <a:r>
              <a:rPr lang="en-US" dirty="0"/>
              <a:t> q) </a:t>
            </a:r>
            <a:r>
              <a:rPr lang="en-US" dirty="0">
                <a:sym typeface="Symbol"/>
              </a:rPr>
              <a:t></a:t>
            </a:r>
            <a:r>
              <a:rPr lang="en-US" dirty="0"/>
              <a:t> r </a:t>
            </a:r>
            <a:r>
              <a:rPr lang="en-US" dirty="0">
                <a:sym typeface="Symbol"/>
              </a:rPr>
              <a:t></a:t>
            </a:r>
            <a:r>
              <a:rPr lang="en-US" dirty="0"/>
              <a:t> p </a:t>
            </a:r>
            <a:r>
              <a:rPr lang="en-US" dirty="0">
                <a:sym typeface="Symbol"/>
              </a:rPr>
              <a:t></a:t>
            </a:r>
            <a:r>
              <a:rPr lang="en-US" dirty="0"/>
              <a:t> (q </a:t>
            </a:r>
            <a:r>
              <a:rPr lang="en-US" dirty="0">
                <a:sym typeface="Symbol"/>
              </a:rPr>
              <a:t></a:t>
            </a:r>
            <a:r>
              <a:rPr lang="en-US" dirty="0"/>
              <a:t> r)</a:t>
            </a:r>
          </a:p>
          <a:p>
            <a:pPr marL="0" indent="344488" algn="just">
              <a:buClr>
                <a:srgbClr val="FF0000"/>
              </a:buClr>
              <a:buNone/>
            </a:pPr>
            <a:r>
              <a:rPr lang="en-US" dirty="0"/>
              <a:t>			(p </a:t>
            </a:r>
            <a:r>
              <a:rPr lang="en-US" dirty="0">
                <a:sym typeface="Symbol"/>
              </a:rPr>
              <a:t></a:t>
            </a:r>
            <a:r>
              <a:rPr lang="en-US" dirty="0"/>
              <a:t> q) </a:t>
            </a:r>
            <a:r>
              <a:rPr lang="en-US" dirty="0">
                <a:sym typeface="Symbol"/>
              </a:rPr>
              <a:t></a:t>
            </a:r>
            <a:r>
              <a:rPr lang="en-US" dirty="0"/>
              <a:t> r </a:t>
            </a:r>
            <a:r>
              <a:rPr lang="en-US" dirty="0">
                <a:sym typeface="Symbol"/>
              </a:rPr>
              <a:t></a:t>
            </a:r>
            <a:r>
              <a:rPr lang="en-US" dirty="0"/>
              <a:t> p</a:t>
            </a:r>
            <a:r>
              <a:rPr lang="en-US" dirty="0">
                <a:sym typeface="Symbol"/>
              </a:rPr>
              <a:t>  </a:t>
            </a:r>
            <a:r>
              <a:rPr lang="en-US" dirty="0"/>
              <a:t>(q </a:t>
            </a:r>
            <a:r>
              <a:rPr lang="en-US" dirty="0">
                <a:sym typeface="Symbol"/>
              </a:rPr>
              <a:t></a:t>
            </a:r>
            <a:r>
              <a:rPr lang="en-US" dirty="0"/>
              <a:t> r)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Các</a:t>
            </a:r>
            <a:r>
              <a:rPr lang="en-US" sz="4800" b="1" dirty="0"/>
              <a:t> </a:t>
            </a:r>
            <a:r>
              <a:rPr lang="en-US" sz="4800" b="1" dirty="0" err="1"/>
              <a:t>luật</a:t>
            </a:r>
            <a:r>
              <a:rPr lang="en-US" sz="4800" b="1" dirty="0"/>
              <a:t> logic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4530725"/>
          </a:xfrm>
        </p:spPr>
        <p:txBody>
          <a:bodyPr/>
          <a:lstStyle/>
          <a:p>
            <a:pPr marL="0" indent="344488" algn="just">
              <a:buClr>
                <a:srgbClr val="FF0000"/>
              </a:buClr>
              <a:buFont typeface="+mj-lt"/>
              <a:buAutoNum type="arabicPeriod" startAt="5"/>
            </a:pPr>
            <a:r>
              <a:rPr lang="vi-VN" dirty="0">
                <a:solidFill>
                  <a:srgbClr val="FF0000"/>
                </a:solidFill>
              </a:rPr>
              <a:t>Luật phân phối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vi-VN" dirty="0"/>
              <a:t>p </a:t>
            </a:r>
            <a:r>
              <a:rPr lang="en-US" dirty="0">
                <a:sym typeface="Symbol"/>
              </a:rPr>
              <a:t></a:t>
            </a:r>
            <a:r>
              <a:rPr lang="vi-VN" dirty="0"/>
              <a:t> (q </a:t>
            </a:r>
            <a:r>
              <a:rPr lang="en-US" dirty="0">
                <a:sym typeface="Symbol"/>
              </a:rPr>
              <a:t></a:t>
            </a:r>
            <a:r>
              <a:rPr lang="vi-VN" dirty="0"/>
              <a:t> r) </a:t>
            </a:r>
            <a:r>
              <a:rPr lang="en-US" dirty="0">
                <a:sym typeface="Symbol"/>
              </a:rPr>
              <a:t></a:t>
            </a:r>
            <a:r>
              <a:rPr lang="vi-VN" dirty="0"/>
              <a:t> (p </a:t>
            </a:r>
            <a:r>
              <a:rPr lang="en-US" dirty="0">
                <a:sym typeface="Symbol"/>
              </a:rPr>
              <a:t></a:t>
            </a:r>
            <a:r>
              <a:rPr lang="vi-VN" dirty="0"/>
              <a:t> q) </a:t>
            </a:r>
            <a:r>
              <a:rPr lang="en-US" dirty="0">
                <a:sym typeface="Symbol"/>
              </a:rPr>
              <a:t></a:t>
            </a:r>
            <a:r>
              <a:rPr lang="vi-VN" dirty="0"/>
              <a:t> (p </a:t>
            </a:r>
            <a:r>
              <a:rPr lang="en-US" dirty="0">
                <a:sym typeface="Symbol"/>
              </a:rPr>
              <a:t></a:t>
            </a:r>
            <a:r>
              <a:rPr lang="vi-VN" dirty="0"/>
              <a:t> r)</a:t>
            </a:r>
          </a:p>
          <a:p>
            <a:pPr marL="0" indent="344488" algn="just">
              <a:buClr>
                <a:srgbClr val="FF0000"/>
              </a:buClr>
              <a:buNone/>
            </a:pPr>
            <a:r>
              <a:rPr lang="en-US" dirty="0"/>
              <a:t>			</a:t>
            </a:r>
            <a:r>
              <a:rPr lang="vi-VN" dirty="0"/>
              <a:t> p </a:t>
            </a:r>
            <a:r>
              <a:rPr lang="en-US" dirty="0">
                <a:sym typeface="Symbol"/>
              </a:rPr>
              <a:t></a:t>
            </a:r>
            <a:r>
              <a:rPr lang="vi-VN" dirty="0"/>
              <a:t> (q </a:t>
            </a:r>
            <a:r>
              <a:rPr lang="en-US" dirty="0">
                <a:sym typeface="Symbol"/>
              </a:rPr>
              <a:t></a:t>
            </a:r>
            <a:r>
              <a:rPr lang="vi-VN" dirty="0"/>
              <a:t> r) </a:t>
            </a:r>
            <a:r>
              <a:rPr lang="en-US" dirty="0">
                <a:sym typeface="Symbol"/>
              </a:rPr>
              <a:t></a:t>
            </a:r>
            <a:r>
              <a:rPr lang="vi-VN" dirty="0"/>
              <a:t> (p </a:t>
            </a:r>
            <a:r>
              <a:rPr lang="en-US" dirty="0">
                <a:sym typeface="Symbol"/>
              </a:rPr>
              <a:t></a:t>
            </a:r>
            <a:r>
              <a:rPr lang="vi-VN" dirty="0"/>
              <a:t> q) </a:t>
            </a:r>
            <a:r>
              <a:rPr lang="en-US" dirty="0">
                <a:sym typeface="Symbol"/>
              </a:rPr>
              <a:t></a:t>
            </a:r>
            <a:r>
              <a:rPr lang="vi-VN" dirty="0"/>
              <a:t> (p </a:t>
            </a:r>
            <a:r>
              <a:rPr lang="en-US" dirty="0">
                <a:sym typeface="Symbol"/>
              </a:rPr>
              <a:t></a:t>
            </a:r>
            <a:r>
              <a:rPr lang="vi-VN" dirty="0"/>
              <a:t> r)</a:t>
            </a:r>
            <a:endParaRPr lang="en-US" dirty="0"/>
          </a:p>
          <a:p>
            <a:pPr marL="0" indent="344488" algn="just">
              <a:buClr>
                <a:srgbClr val="FF0000"/>
              </a:buClr>
              <a:buFont typeface="+mj-lt"/>
              <a:buAutoNum type="arabicPeriod" startAt="6"/>
            </a:pPr>
            <a:r>
              <a:rPr lang="vi-VN" dirty="0">
                <a:solidFill>
                  <a:srgbClr val="FF0000"/>
                </a:solidFill>
              </a:rPr>
              <a:t>Luật lũy đẳng</a:t>
            </a:r>
            <a:r>
              <a:rPr lang="en-US" dirty="0">
                <a:solidFill>
                  <a:srgbClr val="FF0000"/>
                </a:solidFill>
              </a:rPr>
              <a:t>:	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vi-VN" dirty="0"/>
              <a:t>p </a:t>
            </a:r>
            <a:r>
              <a:rPr lang="en-US" dirty="0">
                <a:sym typeface="Symbol"/>
              </a:rPr>
              <a:t></a:t>
            </a:r>
            <a:r>
              <a:rPr lang="vi-VN" dirty="0"/>
              <a:t> p </a:t>
            </a:r>
            <a:r>
              <a:rPr lang="en-US" dirty="0">
                <a:sym typeface="Symbol"/>
              </a:rPr>
              <a:t></a:t>
            </a:r>
            <a:r>
              <a:rPr lang="vi-VN" dirty="0"/>
              <a:t> p</a:t>
            </a:r>
          </a:p>
          <a:p>
            <a:pPr marL="0" indent="344488" algn="just">
              <a:buClr>
                <a:srgbClr val="FF0000"/>
              </a:buClr>
              <a:buNone/>
            </a:pPr>
            <a:r>
              <a:rPr lang="en-US" dirty="0"/>
              <a:t>			 	</a:t>
            </a:r>
            <a:r>
              <a:rPr lang="vi-VN" dirty="0"/>
              <a:t>p </a:t>
            </a:r>
            <a:r>
              <a:rPr lang="en-US" dirty="0">
                <a:sym typeface="Symbol"/>
              </a:rPr>
              <a:t></a:t>
            </a:r>
            <a:r>
              <a:rPr lang="vi-VN" dirty="0"/>
              <a:t> p </a:t>
            </a:r>
            <a:r>
              <a:rPr lang="en-US" dirty="0">
                <a:sym typeface="Symbol"/>
              </a:rPr>
              <a:t></a:t>
            </a:r>
            <a:r>
              <a:rPr lang="vi-VN" dirty="0"/>
              <a:t> p</a:t>
            </a:r>
            <a:endParaRPr lang="en-US" dirty="0"/>
          </a:p>
          <a:p>
            <a:pPr marL="0" indent="344488" algn="just">
              <a:buClr>
                <a:srgbClr val="FF0000"/>
              </a:buClr>
              <a:buFont typeface="+mj-lt"/>
              <a:buAutoNum type="arabicPeriod" startAt="7"/>
            </a:pPr>
            <a:r>
              <a:rPr lang="en-US" dirty="0" err="1">
                <a:solidFill>
                  <a:srgbClr val="FF0000"/>
                </a:solidFill>
              </a:rPr>
              <a:t>Luật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trung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hòa</a:t>
            </a:r>
            <a:r>
              <a:rPr lang="en-US" dirty="0">
                <a:solidFill>
                  <a:srgbClr val="FF0000"/>
                </a:solidFill>
              </a:rPr>
              <a:t>:		</a:t>
            </a:r>
            <a:r>
              <a:rPr lang="en-US" dirty="0"/>
              <a:t>p </a:t>
            </a:r>
            <a:r>
              <a:rPr lang="en-US" dirty="0">
                <a:sym typeface="Symbol"/>
              </a:rPr>
              <a:t></a:t>
            </a:r>
            <a:r>
              <a:rPr lang="en-US" dirty="0"/>
              <a:t> 0</a:t>
            </a:r>
            <a:r>
              <a:rPr lang="en-US" dirty="0">
                <a:sym typeface="Symbol"/>
              </a:rPr>
              <a:t> </a:t>
            </a:r>
            <a:r>
              <a:rPr lang="en-US" dirty="0"/>
              <a:t> p</a:t>
            </a:r>
          </a:p>
          <a:p>
            <a:pPr marL="0" indent="344488" algn="just">
              <a:buClr>
                <a:srgbClr val="FF0000"/>
              </a:buClr>
              <a:buNone/>
            </a:pPr>
            <a:r>
              <a:rPr lang="en-US" dirty="0"/>
              <a:t>				p </a:t>
            </a:r>
            <a:r>
              <a:rPr lang="en-US" dirty="0">
                <a:sym typeface="Symbol"/>
              </a:rPr>
              <a:t></a:t>
            </a:r>
            <a:r>
              <a:rPr lang="en-US" dirty="0"/>
              <a:t> 1 </a:t>
            </a:r>
            <a:r>
              <a:rPr lang="en-US" dirty="0">
                <a:sym typeface="Symbol"/>
              </a:rPr>
              <a:t></a:t>
            </a:r>
            <a:r>
              <a:rPr lang="en-US" dirty="0"/>
              <a:t> p</a:t>
            </a:r>
          </a:p>
          <a:p>
            <a:pPr marL="0" indent="344488" algn="just">
              <a:buClr>
                <a:srgbClr val="FF0000"/>
              </a:buClr>
              <a:buFont typeface="+mj-lt"/>
              <a:buAutoNum type="arabicPeriod" startAt="8"/>
            </a:pPr>
            <a:r>
              <a:rPr lang="en-US" dirty="0" err="1">
                <a:solidFill>
                  <a:srgbClr val="FF0000"/>
                </a:solidFill>
              </a:rPr>
              <a:t>Luật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về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phần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tử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bù</a:t>
            </a:r>
            <a:r>
              <a:rPr lang="en-US" dirty="0">
                <a:solidFill>
                  <a:srgbClr val="FF0000"/>
                </a:solidFill>
              </a:rPr>
              <a:t>:	</a:t>
            </a:r>
            <a:r>
              <a:rPr lang="en-US" dirty="0"/>
              <a:t>p </a:t>
            </a:r>
            <a:r>
              <a:rPr lang="en-US" dirty="0">
                <a:sym typeface="Symbol"/>
              </a:rPr>
              <a:t> </a:t>
            </a:r>
            <a:r>
              <a:rPr lang="en-US" dirty="0"/>
              <a:t>p </a:t>
            </a:r>
            <a:r>
              <a:rPr lang="en-US" dirty="0">
                <a:sym typeface="Symbol"/>
              </a:rPr>
              <a:t></a:t>
            </a:r>
            <a:r>
              <a:rPr lang="en-US" dirty="0"/>
              <a:t> 0 </a:t>
            </a:r>
          </a:p>
          <a:p>
            <a:pPr marL="0" indent="344488" algn="just">
              <a:buClr>
                <a:srgbClr val="FF0000"/>
              </a:buClr>
              <a:buNone/>
            </a:pPr>
            <a:r>
              <a:rPr lang="en-US" dirty="0"/>
              <a:t>				p </a:t>
            </a:r>
            <a:r>
              <a:rPr lang="en-US" dirty="0">
                <a:sym typeface="Symbol"/>
              </a:rPr>
              <a:t>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</a:t>
            </a:r>
            <a:r>
              <a:rPr lang="en-US" dirty="0"/>
              <a:t>p </a:t>
            </a:r>
            <a:r>
              <a:rPr lang="en-US" dirty="0">
                <a:sym typeface="Symbol"/>
              </a:rPr>
              <a:t></a:t>
            </a:r>
            <a:r>
              <a:rPr lang="en-US" dirty="0"/>
              <a:t> 1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Các</a:t>
            </a:r>
            <a:r>
              <a:rPr lang="en-US" sz="4800" b="1" dirty="0"/>
              <a:t> </a:t>
            </a:r>
            <a:r>
              <a:rPr lang="en-US" sz="4800" b="1" dirty="0" err="1"/>
              <a:t>luật</a:t>
            </a:r>
            <a:r>
              <a:rPr lang="en-US" sz="4800" b="1" dirty="0"/>
              <a:t> logic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Font typeface="+mj-lt"/>
              <a:buAutoNum type="arabicPeriod" startAt="9"/>
            </a:pP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Luật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thống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trị</a:t>
            </a:r>
            <a:r>
              <a:rPr lang="en-US" dirty="0">
                <a:solidFill>
                  <a:srgbClr val="FF0000"/>
                </a:solidFill>
              </a:rPr>
              <a:t>: 		</a:t>
            </a:r>
            <a:r>
              <a:rPr lang="en-US" dirty="0"/>
              <a:t>p </a:t>
            </a:r>
            <a:r>
              <a:rPr lang="en-US" dirty="0">
                <a:sym typeface="Symbol"/>
              </a:rPr>
              <a:t></a:t>
            </a:r>
            <a:r>
              <a:rPr lang="en-US" dirty="0"/>
              <a:t> 0 </a:t>
            </a:r>
            <a:r>
              <a:rPr lang="en-US" dirty="0">
                <a:sym typeface="Symbol"/>
              </a:rPr>
              <a:t></a:t>
            </a:r>
            <a:r>
              <a:rPr lang="en-US" dirty="0"/>
              <a:t> 0 </a:t>
            </a:r>
          </a:p>
          <a:p>
            <a:pPr marL="0" indent="165100" algn="just">
              <a:buNone/>
            </a:pPr>
            <a:r>
              <a:rPr lang="en-US" dirty="0"/>
              <a:t>				p </a:t>
            </a:r>
            <a:r>
              <a:rPr lang="en-US" dirty="0">
                <a:sym typeface="Symbol"/>
              </a:rPr>
              <a:t></a:t>
            </a:r>
            <a:r>
              <a:rPr lang="en-US" dirty="0"/>
              <a:t> 1 </a:t>
            </a:r>
            <a:r>
              <a:rPr lang="en-US" dirty="0">
                <a:sym typeface="Symbol"/>
              </a:rPr>
              <a:t></a:t>
            </a:r>
            <a:r>
              <a:rPr lang="en-US" dirty="0"/>
              <a:t> 1</a:t>
            </a:r>
          </a:p>
          <a:p>
            <a:pPr marL="0" indent="165100" algn="just">
              <a:buClr>
                <a:srgbClr val="FF0000"/>
              </a:buClr>
              <a:buFont typeface="+mj-lt"/>
              <a:buAutoNum type="arabicPeriod" startAt="10"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Luật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hấp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thu</a:t>
            </a:r>
            <a:r>
              <a:rPr lang="en-US" dirty="0">
                <a:solidFill>
                  <a:srgbClr val="FF0000"/>
                </a:solidFill>
              </a:rPr>
              <a:t>: 		</a:t>
            </a:r>
            <a:r>
              <a:rPr lang="en-US" dirty="0"/>
              <a:t>p </a:t>
            </a:r>
            <a:r>
              <a:rPr lang="en-US" dirty="0">
                <a:sym typeface="Symbol"/>
              </a:rPr>
              <a:t></a:t>
            </a:r>
            <a:r>
              <a:rPr lang="en-US" dirty="0"/>
              <a:t> (p </a:t>
            </a:r>
            <a:r>
              <a:rPr lang="en-US" dirty="0">
                <a:sym typeface="Symbol"/>
              </a:rPr>
              <a:t></a:t>
            </a:r>
            <a:r>
              <a:rPr lang="en-US" dirty="0"/>
              <a:t> q)</a:t>
            </a:r>
            <a:r>
              <a:rPr lang="en-US" dirty="0">
                <a:sym typeface="Symbol"/>
              </a:rPr>
              <a:t> </a:t>
            </a:r>
            <a:r>
              <a:rPr lang="en-US" dirty="0"/>
              <a:t> p</a:t>
            </a:r>
          </a:p>
          <a:p>
            <a:pPr marL="0" indent="165100" algn="just">
              <a:buNone/>
            </a:pPr>
            <a:r>
              <a:rPr lang="en-US" dirty="0"/>
              <a:t>				p </a:t>
            </a:r>
            <a:r>
              <a:rPr lang="en-US" dirty="0">
                <a:sym typeface="Symbol"/>
              </a:rPr>
              <a:t></a:t>
            </a:r>
            <a:r>
              <a:rPr lang="en-US" dirty="0"/>
              <a:t> (p </a:t>
            </a:r>
            <a:r>
              <a:rPr lang="en-US" dirty="0">
                <a:sym typeface="Symbol"/>
              </a:rPr>
              <a:t></a:t>
            </a:r>
            <a:r>
              <a:rPr lang="en-US" dirty="0"/>
              <a:t> q) </a:t>
            </a:r>
            <a:r>
              <a:rPr lang="en-US" dirty="0">
                <a:sym typeface="Symbol"/>
              </a:rPr>
              <a:t></a:t>
            </a:r>
            <a:r>
              <a:rPr lang="en-US" dirty="0"/>
              <a:t> p</a:t>
            </a:r>
          </a:p>
          <a:p>
            <a:pPr marL="0" indent="165100" algn="just">
              <a:buClr>
                <a:srgbClr val="FF0000"/>
              </a:buClr>
              <a:buFont typeface="+mj-lt"/>
              <a:buAutoNum type="arabicPeriod" startAt="11"/>
            </a:pP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Luật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về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phép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kéo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theo</a:t>
            </a:r>
            <a:r>
              <a:rPr lang="en-US" dirty="0">
                <a:solidFill>
                  <a:srgbClr val="FF0000"/>
                </a:solidFill>
              </a:rPr>
              <a:t>:	</a:t>
            </a:r>
          </a:p>
          <a:p>
            <a:pPr marL="0" indent="0" algn="just">
              <a:buClr>
                <a:srgbClr val="FF0000"/>
              </a:buClr>
              <a:buNone/>
            </a:pPr>
            <a:r>
              <a:rPr lang="en-US" dirty="0">
                <a:solidFill>
                  <a:srgbClr val="FF0000"/>
                </a:solidFill>
              </a:rPr>
              <a:t>		</a:t>
            </a:r>
            <a:r>
              <a:rPr lang="en-US" dirty="0"/>
              <a:t>p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q </a:t>
            </a:r>
            <a:r>
              <a:rPr lang="en-US" dirty="0">
                <a:sym typeface="Symbol"/>
              </a:rPr>
              <a:t>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</a:t>
            </a:r>
            <a:r>
              <a:rPr lang="en-US" dirty="0"/>
              <a:t>p </a:t>
            </a:r>
            <a:r>
              <a:rPr lang="en-US" dirty="0">
                <a:sym typeface="Symbol"/>
              </a:rPr>
              <a:t></a:t>
            </a:r>
            <a:r>
              <a:rPr lang="en-US" dirty="0"/>
              <a:t> q</a:t>
            </a:r>
            <a:r>
              <a:rPr lang="en-US" dirty="0">
                <a:sym typeface="Symbol"/>
              </a:rPr>
              <a:t> 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</a:t>
            </a:r>
            <a:r>
              <a:rPr lang="en-US" dirty="0"/>
              <a:t>q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p</a:t>
            </a:r>
            <a:endParaRPr lang="en-US" dirty="0"/>
          </a:p>
          <a:p>
            <a:pPr marL="0" indent="0" algn="just">
              <a:buClr>
                <a:srgbClr val="FF0000"/>
              </a:buClr>
              <a:buNone/>
            </a:pPr>
            <a:r>
              <a:rPr lang="en-US" dirty="0">
                <a:solidFill>
                  <a:srgbClr val="FF0000"/>
                </a:solidFill>
              </a:rPr>
              <a:t>12. </a:t>
            </a:r>
            <a:r>
              <a:rPr lang="en-US" dirty="0" err="1">
                <a:solidFill>
                  <a:srgbClr val="FF0000"/>
                </a:solidFill>
              </a:rPr>
              <a:t>Luật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về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phép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kéo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theo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hai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chiều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  <a:p>
            <a:pPr marL="0" indent="165100" algn="just">
              <a:buNone/>
            </a:pPr>
            <a:r>
              <a:rPr lang="vi-VN" dirty="0"/>
              <a:t>		(p</a:t>
            </a:r>
            <a:r>
              <a:rPr lang="vi-VN" dirty="0">
                <a:sym typeface="Symbol"/>
              </a:rPr>
              <a:t> </a:t>
            </a:r>
            <a:r>
              <a:rPr lang="vi-VN" dirty="0"/>
              <a:t> q) </a:t>
            </a:r>
            <a:r>
              <a:rPr lang="en-US" dirty="0">
                <a:sym typeface="Symbol"/>
              </a:rPr>
              <a:t></a:t>
            </a:r>
            <a:r>
              <a:rPr lang="vi-VN" dirty="0"/>
              <a:t> (p </a:t>
            </a:r>
            <a:r>
              <a:rPr lang="en-US" dirty="0">
                <a:sym typeface="Symbol"/>
              </a:rPr>
              <a:t></a:t>
            </a:r>
            <a:r>
              <a:rPr lang="vi-VN" dirty="0"/>
              <a:t> q) </a:t>
            </a:r>
            <a:r>
              <a:rPr lang="en-US" dirty="0">
                <a:sym typeface="Symbol"/>
              </a:rPr>
              <a:t></a:t>
            </a:r>
            <a:r>
              <a:rPr lang="vi-VN" dirty="0"/>
              <a:t> (q</a:t>
            </a:r>
            <a:r>
              <a:rPr lang="en-US" dirty="0">
                <a:sym typeface="Symbol"/>
              </a:rPr>
              <a:t> </a:t>
            </a:r>
            <a:r>
              <a:rPr lang="vi-VN" dirty="0"/>
              <a:t> p)</a:t>
            </a:r>
          </a:p>
          <a:p>
            <a:pPr marL="0" indent="165100" algn="just">
              <a:buNone/>
            </a:pPr>
            <a:r>
              <a:rPr lang="vi-VN" dirty="0"/>
              <a:t>			</a:t>
            </a:r>
            <a:r>
              <a:rPr lang="en-US" dirty="0"/>
              <a:t>   </a:t>
            </a:r>
            <a:r>
              <a:rPr lang="en-US" dirty="0">
                <a:sym typeface="Symbol"/>
              </a:rPr>
              <a:t> </a:t>
            </a:r>
            <a:r>
              <a:rPr lang="vi-VN" dirty="0"/>
              <a:t> (</a:t>
            </a:r>
            <a:r>
              <a:rPr lang="en-US" dirty="0">
                <a:sym typeface="Symbol"/>
              </a:rPr>
              <a:t></a:t>
            </a:r>
            <a:r>
              <a:rPr lang="vi-VN" dirty="0"/>
              <a:t>p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</a:t>
            </a:r>
            <a:r>
              <a:rPr lang="en-US" dirty="0"/>
              <a:t> q</a:t>
            </a:r>
            <a:r>
              <a:rPr lang="vi-VN" dirty="0"/>
              <a:t>) </a:t>
            </a:r>
            <a:r>
              <a:rPr lang="en-US" dirty="0">
                <a:sym typeface="Symbol"/>
              </a:rPr>
              <a:t></a:t>
            </a:r>
            <a:r>
              <a:rPr lang="vi-VN" dirty="0"/>
              <a:t> (</a:t>
            </a:r>
            <a:r>
              <a:rPr lang="en-US" dirty="0">
                <a:sym typeface="Symbol"/>
              </a:rPr>
              <a:t></a:t>
            </a:r>
            <a:r>
              <a:rPr lang="en-US" dirty="0"/>
              <a:t>q </a:t>
            </a:r>
            <a:r>
              <a:rPr lang="en-US" dirty="0">
                <a:sym typeface="Symbol"/>
              </a:rPr>
              <a:t></a:t>
            </a:r>
            <a:r>
              <a:rPr lang="en-US" dirty="0"/>
              <a:t> p</a:t>
            </a:r>
            <a:r>
              <a:rPr lang="vi-VN" dirty="0"/>
              <a:t>)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Các</a:t>
            </a:r>
            <a:r>
              <a:rPr lang="en-US" sz="4800" b="1" dirty="0"/>
              <a:t> </a:t>
            </a:r>
            <a:r>
              <a:rPr lang="en-US" sz="4800" b="1" dirty="0" err="1"/>
              <a:t>luật</a:t>
            </a:r>
            <a:r>
              <a:rPr lang="en-US" sz="4800" b="1" dirty="0"/>
              <a:t> logic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4530725"/>
          </a:xfrm>
        </p:spPr>
        <p:txBody>
          <a:bodyPr/>
          <a:lstStyle/>
          <a:p>
            <a:pPr marL="0" indent="165100" algn="just">
              <a:buNone/>
            </a:pPr>
            <a:r>
              <a:rPr lang="en-US" dirty="0" err="1">
                <a:solidFill>
                  <a:srgbClr val="FF0000"/>
                </a:solidFill>
              </a:rPr>
              <a:t>Ví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dụ</a:t>
            </a:r>
            <a:r>
              <a:rPr lang="en-US" dirty="0">
                <a:solidFill>
                  <a:srgbClr val="FF0000"/>
                </a:solidFill>
              </a:rPr>
              <a:t>: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/>
              <a:t>Cho p, q, r là các biến mệnh đề. Ch</a:t>
            </a:r>
            <a:r>
              <a:rPr lang="en-US" dirty="0" err="1"/>
              <a:t>ứng</a:t>
            </a:r>
            <a:r>
              <a:rPr lang="en-US" dirty="0"/>
              <a:t> minh </a:t>
            </a:r>
            <a:r>
              <a:rPr lang="en-US" dirty="0" err="1"/>
              <a:t>rằng</a:t>
            </a:r>
            <a:r>
              <a:rPr lang="en-US" dirty="0"/>
              <a:t>: </a:t>
            </a:r>
            <a:r>
              <a:rPr lang="vi-VN" dirty="0"/>
              <a:t>(</a:t>
            </a:r>
            <a:r>
              <a:rPr lang="vi-VN" dirty="0">
                <a:sym typeface="Symbol"/>
              </a:rPr>
              <a:t></a:t>
            </a:r>
            <a:r>
              <a:rPr lang="vi-VN" dirty="0"/>
              <a:t>p </a:t>
            </a:r>
            <a:r>
              <a:rPr lang="en-US" dirty="0">
                <a:sym typeface="Symbol"/>
              </a:rPr>
              <a:t></a:t>
            </a:r>
            <a:r>
              <a:rPr lang="vi-VN" dirty="0"/>
              <a:t> r) </a:t>
            </a:r>
            <a:r>
              <a:rPr lang="en-US" dirty="0">
                <a:sym typeface="Symbol"/>
              </a:rPr>
              <a:t></a:t>
            </a:r>
            <a:r>
              <a:rPr lang="vi-VN" dirty="0"/>
              <a:t> (q</a:t>
            </a:r>
            <a:r>
              <a:rPr lang="en-US" dirty="0">
                <a:sym typeface="Symbol"/>
              </a:rPr>
              <a:t> </a:t>
            </a:r>
            <a:r>
              <a:rPr lang="vi-VN" dirty="0"/>
              <a:t> r) </a:t>
            </a:r>
            <a:r>
              <a:rPr lang="en-US" dirty="0">
                <a:sym typeface="Symbol"/>
              </a:rPr>
              <a:t></a:t>
            </a:r>
            <a:r>
              <a:rPr lang="vi-VN" dirty="0"/>
              <a:t> (p </a:t>
            </a:r>
            <a:r>
              <a:rPr lang="en-US" dirty="0">
                <a:sym typeface="Symbol"/>
              </a:rPr>
              <a:t></a:t>
            </a:r>
            <a:r>
              <a:rPr lang="vi-VN" dirty="0"/>
              <a:t> q) </a:t>
            </a:r>
            <a:r>
              <a:rPr lang="en-US" dirty="0">
                <a:sym typeface="Symbol"/>
              </a:rPr>
              <a:t></a:t>
            </a:r>
            <a:r>
              <a:rPr lang="vi-VN" dirty="0"/>
              <a:t> r </a:t>
            </a:r>
            <a:r>
              <a:rPr lang="en-US" dirty="0"/>
              <a:t>.</a:t>
            </a:r>
          </a:p>
          <a:p>
            <a:pPr marL="0" indent="165100" algn="just">
              <a:buNone/>
            </a:pPr>
            <a:r>
              <a:rPr lang="en-US" dirty="0" err="1"/>
              <a:t>Giải</a:t>
            </a:r>
            <a:r>
              <a:rPr lang="en-US" dirty="0"/>
              <a:t>:</a:t>
            </a:r>
          </a:p>
          <a:p>
            <a:pPr marL="0" indent="165100" algn="just">
              <a:buNone/>
            </a:pPr>
            <a:r>
              <a:rPr lang="en-US" dirty="0"/>
              <a:t> 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Các</a:t>
            </a:r>
            <a:r>
              <a:rPr lang="en-US" sz="4800" b="1" dirty="0"/>
              <a:t> </a:t>
            </a:r>
            <a:r>
              <a:rPr lang="en-US" sz="4800" b="1" dirty="0" err="1"/>
              <a:t>luật</a:t>
            </a:r>
            <a:r>
              <a:rPr lang="en-US" sz="4800" b="1" dirty="0"/>
              <a:t> logic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86000" y="3352800"/>
            <a:ext cx="4572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 (</a:t>
            </a:r>
            <a:r>
              <a:rPr lang="en-US" sz="2800" dirty="0">
                <a:sym typeface="Symbol"/>
              </a:rPr>
              <a:t> </a:t>
            </a:r>
            <a:r>
              <a:rPr lang="en-US" sz="2800" dirty="0"/>
              <a:t>p </a:t>
            </a:r>
            <a:r>
              <a:rPr lang="en-US" sz="2800" dirty="0">
                <a:sym typeface="Symbol"/>
              </a:rPr>
              <a:t></a:t>
            </a:r>
            <a:r>
              <a:rPr lang="en-US" sz="2800" dirty="0"/>
              <a:t> r)</a:t>
            </a:r>
            <a:r>
              <a:rPr lang="en-US" sz="2800" dirty="0">
                <a:sym typeface="Symbol"/>
              </a:rPr>
              <a:t> </a:t>
            </a:r>
            <a:r>
              <a:rPr lang="en-US" sz="2800" dirty="0"/>
              <a:t>  (q </a:t>
            </a:r>
            <a:r>
              <a:rPr lang="en-US" sz="2800" dirty="0">
                <a:sym typeface="Symbol"/>
              </a:rPr>
              <a:t></a:t>
            </a:r>
            <a:r>
              <a:rPr lang="en-US" sz="2800" dirty="0"/>
              <a:t> r)</a:t>
            </a:r>
          </a:p>
          <a:p>
            <a:pPr>
              <a:buNone/>
            </a:pPr>
            <a:r>
              <a:rPr lang="en-US" sz="2800" dirty="0">
                <a:sym typeface="Symbol"/>
              </a:rPr>
              <a:t></a:t>
            </a:r>
            <a:r>
              <a:rPr lang="en-US" sz="2800" dirty="0"/>
              <a:t>  ( p </a:t>
            </a:r>
            <a:r>
              <a:rPr lang="en-US" sz="2800" dirty="0">
                <a:sym typeface="Symbol"/>
              </a:rPr>
              <a:t></a:t>
            </a:r>
            <a:r>
              <a:rPr lang="en-US" sz="2800" dirty="0"/>
              <a:t> r )</a:t>
            </a:r>
            <a:r>
              <a:rPr lang="en-US" sz="2800" dirty="0">
                <a:sym typeface="Symbol"/>
              </a:rPr>
              <a:t> </a:t>
            </a:r>
            <a:r>
              <a:rPr lang="en-US" sz="2800" dirty="0"/>
              <a:t>  (</a:t>
            </a:r>
            <a:r>
              <a:rPr lang="en-US" sz="2800" dirty="0">
                <a:sym typeface="Symbol"/>
              </a:rPr>
              <a:t></a:t>
            </a:r>
            <a:r>
              <a:rPr lang="en-US" sz="2800" dirty="0"/>
              <a:t> q </a:t>
            </a:r>
            <a:r>
              <a:rPr lang="en-US" sz="2800" dirty="0">
                <a:sym typeface="Symbol"/>
              </a:rPr>
              <a:t></a:t>
            </a:r>
            <a:r>
              <a:rPr lang="en-US" sz="2800" dirty="0"/>
              <a:t> r)</a:t>
            </a:r>
          </a:p>
          <a:p>
            <a:pPr>
              <a:buNone/>
            </a:pPr>
            <a:r>
              <a:rPr lang="en-US" sz="2800" dirty="0">
                <a:sym typeface="Symbol"/>
              </a:rPr>
              <a:t>  </a:t>
            </a:r>
            <a:r>
              <a:rPr lang="en-US" sz="2800" dirty="0"/>
              <a:t>( p </a:t>
            </a:r>
            <a:r>
              <a:rPr lang="en-US" sz="2800" dirty="0">
                <a:sym typeface="Symbol"/>
              </a:rPr>
              <a:t> </a:t>
            </a:r>
            <a:r>
              <a:rPr lang="en-US" sz="2800" dirty="0"/>
              <a:t> q )</a:t>
            </a:r>
            <a:r>
              <a:rPr lang="en-US" sz="2800" dirty="0">
                <a:sym typeface="Symbol"/>
              </a:rPr>
              <a:t> </a:t>
            </a:r>
            <a:r>
              <a:rPr lang="en-US" sz="2800" dirty="0"/>
              <a:t> r</a:t>
            </a:r>
          </a:p>
          <a:p>
            <a:pPr>
              <a:buNone/>
            </a:pPr>
            <a:r>
              <a:rPr lang="en-US" sz="2800" dirty="0">
                <a:sym typeface="Symbol"/>
              </a:rPr>
              <a:t>  </a:t>
            </a:r>
            <a:r>
              <a:rPr lang="en-US" sz="2800" dirty="0"/>
              <a:t>(</a:t>
            </a:r>
            <a:r>
              <a:rPr lang="en-US" sz="2800" dirty="0">
                <a:sym typeface="Symbol"/>
              </a:rPr>
              <a:t> </a:t>
            </a:r>
            <a:r>
              <a:rPr lang="en-US" sz="2800" dirty="0"/>
              <a:t>p </a:t>
            </a:r>
            <a:r>
              <a:rPr lang="en-US" sz="2800" dirty="0">
                <a:sym typeface="Symbol"/>
              </a:rPr>
              <a:t></a:t>
            </a:r>
            <a:r>
              <a:rPr lang="en-US" sz="2800" dirty="0"/>
              <a:t> q )</a:t>
            </a:r>
            <a:r>
              <a:rPr lang="en-US" sz="2800" dirty="0">
                <a:sym typeface="Symbol"/>
              </a:rPr>
              <a:t> </a:t>
            </a:r>
            <a:r>
              <a:rPr lang="en-US" sz="2800" dirty="0"/>
              <a:t> r</a:t>
            </a:r>
          </a:p>
          <a:p>
            <a:pPr>
              <a:buNone/>
            </a:pPr>
            <a:r>
              <a:rPr lang="en-US" sz="2800" dirty="0">
                <a:sym typeface="Symbol"/>
              </a:rPr>
              <a:t>  </a:t>
            </a:r>
            <a:r>
              <a:rPr lang="en-US" sz="2800" dirty="0"/>
              <a:t>( p</a:t>
            </a:r>
            <a:r>
              <a:rPr lang="en-US" sz="2800" dirty="0">
                <a:sym typeface="Symbol"/>
              </a:rPr>
              <a:t> </a:t>
            </a:r>
            <a:r>
              <a:rPr lang="en-US" sz="2800" dirty="0"/>
              <a:t>  q ) </a:t>
            </a:r>
            <a:r>
              <a:rPr lang="en-US" sz="2800" dirty="0">
                <a:sym typeface="Symbol"/>
              </a:rPr>
              <a:t></a:t>
            </a:r>
            <a:r>
              <a:rPr lang="en-US" sz="2800" dirty="0"/>
              <a:t> r</a:t>
            </a:r>
          </a:p>
          <a:p>
            <a:pPr>
              <a:buNone/>
            </a:pPr>
            <a:r>
              <a:rPr lang="en-US" sz="2800" dirty="0">
                <a:sym typeface="Symbol"/>
              </a:rPr>
              <a:t>  (</a:t>
            </a:r>
            <a:r>
              <a:rPr lang="en-US" sz="2800" dirty="0"/>
              <a:t>p </a:t>
            </a:r>
            <a:r>
              <a:rPr lang="en-US" sz="2800" dirty="0">
                <a:sym typeface="Symbol"/>
              </a:rPr>
              <a:t></a:t>
            </a:r>
            <a:r>
              <a:rPr lang="en-US" sz="2800" dirty="0"/>
              <a:t> q ) </a:t>
            </a:r>
            <a:r>
              <a:rPr lang="en-US" sz="2800" dirty="0">
                <a:sym typeface="Symbol"/>
              </a:rPr>
              <a:t></a:t>
            </a:r>
            <a:r>
              <a:rPr lang="en-US" sz="2800" dirty="0"/>
              <a:t> r</a:t>
            </a:r>
            <a:endParaRPr lang="ru-RU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4530725"/>
          </a:xfrm>
        </p:spPr>
        <p:txBody>
          <a:bodyPr/>
          <a:lstStyle/>
          <a:p>
            <a:pPr marL="0" indent="165100" algn="just">
              <a:buNone/>
            </a:pPr>
            <a:r>
              <a:rPr lang="en-US" dirty="0" err="1">
                <a:solidFill>
                  <a:srgbClr val="FF0000"/>
                </a:solidFill>
              </a:rPr>
              <a:t>Ví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dụ</a:t>
            </a:r>
            <a:r>
              <a:rPr lang="en-US" dirty="0">
                <a:solidFill>
                  <a:srgbClr val="FF0000"/>
                </a:solidFill>
              </a:rPr>
              <a:t>: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/>
              <a:t>Cho p, q, r là các biến mệnh đề. Ch</a:t>
            </a:r>
            <a:r>
              <a:rPr lang="en-US" dirty="0" err="1"/>
              <a:t>ứng</a:t>
            </a:r>
            <a:r>
              <a:rPr lang="en-US" dirty="0"/>
              <a:t> minh </a:t>
            </a:r>
            <a:r>
              <a:rPr lang="en-US" dirty="0" err="1"/>
              <a:t>rằng</a:t>
            </a:r>
            <a:r>
              <a:rPr lang="en-US" dirty="0"/>
              <a:t>: </a:t>
            </a:r>
            <a:r>
              <a:rPr lang="vi-VN" dirty="0"/>
              <a:t>(</a:t>
            </a:r>
            <a:r>
              <a:rPr lang="vi-VN" dirty="0">
                <a:sym typeface="Symbol"/>
              </a:rPr>
              <a:t></a:t>
            </a:r>
            <a:r>
              <a:rPr lang="vi-VN" dirty="0"/>
              <a:t>p </a:t>
            </a:r>
            <a:r>
              <a:rPr lang="en-US" dirty="0">
                <a:sym typeface="Symbol"/>
              </a:rPr>
              <a:t></a:t>
            </a:r>
            <a:r>
              <a:rPr lang="vi-VN" dirty="0"/>
              <a:t> r) </a:t>
            </a:r>
            <a:r>
              <a:rPr lang="en-US" dirty="0">
                <a:sym typeface="Symbol"/>
              </a:rPr>
              <a:t></a:t>
            </a:r>
            <a:r>
              <a:rPr lang="vi-VN" dirty="0"/>
              <a:t> (q</a:t>
            </a:r>
            <a:r>
              <a:rPr lang="en-US" dirty="0">
                <a:sym typeface="Symbol"/>
              </a:rPr>
              <a:t> </a:t>
            </a:r>
            <a:r>
              <a:rPr lang="vi-VN" dirty="0"/>
              <a:t> r) </a:t>
            </a:r>
            <a:r>
              <a:rPr lang="en-US" dirty="0">
                <a:sym typeface="Symbol"/>
              </a:rPr>
              <a:t></a:t>
            </a:r>
            <a:r>
              <a:rPr lang="vi-VN" dirty="0"/>
              <a:t> (p </a:t>
            </a:r>
            <a:r>
              <a:rPr lang="en-US" dirty="0">
                <a:sym typeface="Symbol"/>
              </a:rPr>
              <a:t></a:t>
            </a:r>
            <a:r>
              <a:rPr lang="vi-VN" dirty="0"/>
              <a:t> q) </a:t>
            </a:r>
            <a:r>
              <a:rPr lang="en-US" dirty="0">
                <a:sym typeface="Symbol"/>
              </a:rPr>
              <a:t></a:t>
            </a:r>
            <a:r>
              <a:rPr lang="vi-VN" dirty="0"/>
              <a:t> r </a:t>
            </a:r>
            <a:r>
              <a:rPr lang="en-US" dirty="0"/>
              <a:t>.</a:t>
            </a:r>
          </a:p>
          <a:p>
            <a:pPr marL="0" indent="165100" algn="just">
              <a:buNone/>
            </a:pPr>
            <a:r>
              <a:rPr lang="en-US" dirty="0" err="1"/>
              <a:t>Giải</a:t>
            </a:r>
            <a:r>
              <a:rPr lang="en-US" dirty="0"/>
              <a:t>:</a:t>
            </a:r>
          </a:p>
          <a:p>
            <a:pPr marL="0" indent="165100" algn="just">
              <a:buNone/>
            </a:pPr>
            <a:r>
              <a:rPr lang="en-US" dirty="0"/>
              <a:t> 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Các</a:t>
            </a:r>
            <a:r>
              <a:rPr lang="en-US" sz="4800" b="1" dirty="0"/>
              <a:t> </a:t>
            </a:r>
            <a:r>
              <a:rPr lang="en-US" sz="4800" b="1" dirty="0" err="1"/>
              <a:t>luật</a:t>
            </a:r>
            <a:r>
              <a:rPr lang="en-US" sz="4800" b="1" dirty="0"/>
              <a:t> logic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4" name="Ảnh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368936"/>
            <a:ext cx="51054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1978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305800" cy="4953000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>
                <a:solidFill>
                  <a:schemeClr val="accent2"/>
                </a:solidFill>
              </a:rPr>
              <a:t>Định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nghĩa</a:t>
            </a:r>
            <a:r>
              <a:rPr lang="en-US" dirty="0">
                <a:solidFill>
                  <a:schemeClr val="accent2"/>
                </a:solidFill>
              </a:rPr>
              <a:t>: </a:t>
            </a:r>
          </a:p>
          <a:p>
            <a:pPr marL="0" indent="165100">
              <a:buClr>
                <a:srgbClr val="FF0000"/>
              </a:buClr>
              <a:buNone/>
            </a:pP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chứng</a:t>
            </a:r>
            <a:r>
              <a:rPr lang="en-US" dirty="0"/>
              <a:t> minh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, ta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: </a:t>
            </a:r>
            <a:r>
              <a:rPr lang="en-US" dirty="0" err="1"/>
              <a:t>nếu</a:t>
            </a:r>
            <a:r>
              <a:rPr lang="en-US" dirty="0"/>
              <a:t>    </a:t>
            </a:r>
            <a:r>
              <a:rPr lang="en-US" dirty="0" err="1"/>
              <a:t>và</a:t>
            </a:r>
            <a:r>
              <a:rPr lang="en-US" dirty="0"/>
              <a:t>     </a:t>
            </a:r>
            <a:r>
              <a:rPr lang="en-US" dirty="0" err="1"/>
              <a:t>và</a:t>
            </a:r>
            <a:r>
              <a:rPr lang="en-US" dirty="0"/>
              <a:t> … </a:t>
            </a:r>
            <a:r>
              <a:rPr lang="en-US" dirty="0" err="1"/>
              <a:t>và</a:t>
            </a:r>
            <a:r>
              <a:rPr lang="en-US" dirty="0"/>
              <a:t>     </a:t>
            </a:r>
            <a:r>
              <a:rPr lang="en-US" dirty="0" err="1"/>
              <a:t>thì</a:t>
            </a:r>
            <a:r>
              <a:rPr lang="en-US" dirty="0"/>
              <a:t>   , </a:t>
            </a:r>
            <a:r>
              <a:rPr lang="en-US" dirty="0" err="1"/>
              <a:t>tức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logic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pPr marL="0" indent="165100">
              <a:buClr>
                <a:srgbClr val="FF0000"/>
              </a:buClr>
              <a:buNone/>
            </a:pPr>
            <a:endParaRPr lang="en-US" dirty="0"/>
          </a:p>
          <a:p>
            <a:pPr marL="0" indent="165100">
              <a:buClr>
                <a:srgbClr val="FF0000"/>
              </a:buClr>
              <a:buNone/>
            </a:pP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>
                <a:solidFill>
                  <a:schemeClr val="accent2"/>
                </a:solidFill>
              </a:rPr>
              <a:t>là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đúng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/>
              <a:t>khi</a:t>
            </a:r>
            <a:r>
              <a:rPr lang="en-US" dirty="0"/>
              <a:t> ta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endParaRPr lang="en-US" dirty="0"/>
          </a:p>
          <a:p>
            <a:pPr marL="0" indent="165100">
              <a:buClr>
                <a:srgbClr val="FF0000"/>
              </a:buClr>
              <a:buNone/>
            </a:pPr>
            <a:r>
              <a:rPr lang="en-US" dirty="0">
                <a:sym typeface="Symbol"/>
              </a:rPr>
              <a:t>                                    </a:t>
            </a:r>
            <a:r>
              <a:rPr lang="en-US" dirty="0" err="1">
                <a:solidFill>
                  <a:schemeClr val="accent6"/>
                </a:solidFill>
                <a:sym typeface="Symbol"/>
              </a:rPr>
              <a:t>là</a:t>
            </a:r>
            <a:r>
              <a:rPr lang="en-US" dirty="0">
                <a:solidFill>
                  <a:schemeClr val="accent6"/>
                </a:solidFill>
                <a:sym typeface="Symbol"/>
              </a:rPr>
              <a:t> </a:t>
            </a:r>
            <a:r>
              <a:rPr lang="en-US" dirty="0" err="1">
                <a:solidFill>
                  <a:schemeClr val="accent6"/>
                </a:solidFill>
                <a:sym typeface="Symbol"/>
              </a:rPr>
              <a:t>hằng</a:t>
            </a:r>
            <a:r>
              <a:rPr lang="en-US" dirty="0">
                <a:solidFill>
                  <a:schemeClr val="accent6"/>
                </a:solidFill>
                <a:sym typeface="Symbol"/>
              </a:rPr>
              <a:t> </a:t>
            </a:r>
            <a:r>
              <a:rPr lang="en-US" dirty="0" err="1">
                <a:solidFill>
                  <a:schemeClr val="accent6"/>
                </a:solidFill>
                <a:sym typeface="Symbol"/>
              </a:rPr>
              <a:t>đúng</a:t>
            </a:r>
            <a:r>
              <a:rPr lang="en-US" dirty="0">
                <a:sym typeface="Symbol"/>
              </a:rPr>
              <a:t>.</a:t>
            </a:r>
          </a:p>
          <a:p>
            <a:pPr marL="0" indent="165100">
              <a:buClr>
                <a:srgbClr val="FF0000"/>
              </a:buClr>
              <a:buNone/>
            </a:pPr>
            <a:r>
              <a:rPr lang="en-US" dirty="0">
                <a:sym typeface="Symbol"/>
              </a:rPr>
              <a:t>Ta </a:t>
            </a:r>
            <a:r>
              <a:rPr lang="en-US" dirty="0" err="1">
                <a:sym typeface="Symbol"/>
              </a:rPr>
              <a:t>gọi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dạng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lý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luận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trên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là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một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quy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tắc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suy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diễn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và</a:t>
            </a:r>
            <a:r>
              <a:rPr lang="en-US" dirty="0">
                <a:sym typeface="Symbol"/>
              </a:rPr>
              <a:t>  </a:t>
            </a:r>
            <a:r>
              <a:rPr lang="en-US" dirty="0" err="1">
                <a:sym typeface="Symbol"/>
              </a:rPr>
              <a:t>thường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được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viết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theo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các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cách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sau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đây</a:t>
            </a:r>
            <a:r>
              <a:rPr lang="en-US" dirty="0">
                <a:sym typeface="Symbol"/>
              </a:rPr>
              <a:t>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</a:t>
            </a:r>
            <a:r>
              <a:rPr lang="en-US" sz="4800" b="1" dirty="0" err="1"/>
              <a:t>tắc</a:t>
            </a:r>
            <a:r>
              <a:rPr lang="en-US" sz="4800" b="1" dirty="0"/>
              <a:t> </a:t>
            </a:r>
            <a:r>
              <a:rPr lang="en-US" sz="4800" b="1" dirty="0" err="1"/>
              <a:t>suy</a:t>
            </a:r>
            <a:r>
              <a:rPr lang="en-US" sz="4800" b="1" dirty="0"/>
              <a:t> </a:t>
            </a:r>
            <a:r>
              <a:rPr lang="en-US" sz="4800" b="1" dirty="0" err="1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23</a:t>
            </a:fld>
            <a:endParaRPr lang="en-US" dirty="0"/>
          </a:p>
        </p:txBody>
      </p:sp>
      <p:graphicFrame>
        <p:nvGraphicFramePr>
          <p:cNvPr id="217090" name="Object 2"/>
          <p:cNvGraphicFramePr>
            <a:graphicFrameLocks noChangeAspect="1"/>
          </p:cNvGraphicFramePr>
          <p:nvPr/>
        </p:nvGraphicFramePr>
        <p:xfrm>
          <a:off x="6521450" y="2552700"/>
          <a:ext cx="304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4560" imgH="507960" progId="Equation.DSMT4">
                  <p:embed/>
                </p:oleObj>
              </mc:Choice>
              <mc:Fallback>
                <p:oleObj name="Equation" r:id="rId2" imgW="304560" imgH="507960" progId="Equation.DSMT4">
                  <p:embed/>
                  <p:pic>
                    <p:nvPicPr>
                      <p:cNvPr id="21709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1450" y="2552700"/>
                        <a:ext cx="3048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0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7889572"/>
              </p:ext>
            </p:extLst>
          </p:nvPr>
        </p:nvGraphicFramePr>
        <p:xfrm>
          <a:off x="7327552" y="2540174"/>
          <a:ext cx="330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0120" imgH="507960" progId="Equation.DSMT4">
                  <p:embed/>
                </p:oleObj>
              </mc:Choice>
              <mc:Fallback>
                <p:oleObj name="Equation" r:id="rId4" imgW="330120" imgH="507960" progId="Equation.DSMT4">
                  <p:embed/>
                  <p:pic>
                    <p:nvPicPr>
                      <p:cNvPr id="2170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7552" y="2540174"/>
                        <a:ext cx="330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0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8766581"/>
              </p:ext>
            </p:extLst>
          </p:nvPr>
        </p:nvGraphicFramePr>
        <p:xfrm>
          <a:off x="947803" y="4501619"/>
          <a:ext cx="3352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52680" imgH="507960" progId="Equation.DSMT4">
                  <p:embed/>
                </p:oleObj>
              </mc:Choice>
              <mc:Fallback>
                <p:oleObj name="Equation" r:id="rId6" imgW="3352680" imgH="507960" progId="Equation.DSMT4">
                  <p:embed/>
                  <p:pic>
                    <p:nvPicPr>
                      <p:cNvPr id="2170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803" y="4501619"/>
                        <a:ext cx="33528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9479929"/>
              </p:ext>
            </p:extLst>
          </p:nvPr>
        </p:nvGraphicFramePr>
        <p:xfrm>
          <a:off x="1141956" y="2961536"/>
          <a:ext cx="355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5320" imgH="507960" progId="Equation.DSMT4">
                  <p:embed/>
                </p:oleObj>
              </mc:Choice>
              <mc:Fallback>
                <p:oleObj name="Equation" r:id="rId8" imgW="355320" imgH="507960" progId="Equation.DSMT4">
                  <p:embed/>
                  <p:pic>
                    <p:nvPicPr>
                      <p:cNvPr id="1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1956" y="2961536"/>
                        <a:ext cx="355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486303"/>
              </p:ext>
            </p:extLst>
          </p:nvPr>
        </p:nvGraphicFramePr>
        <p:xfrm>
          <a:off x="2030607" y="3144729"/>
          <a:ext cx="209550" cy="321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440" imgH="291960" progId="Equation.DSMT4">
                  <p:embed/>
                </p:oleObj>
              </mc:Choice>
              <mc:Fallback>
                <p:oleObj name="Equation" r:id="rId10" imgW="190440" imgH="291960" progId="Equation.DSMT4">
                  <p:embed/>
                  <p:pic>
                    <p:nvPicPr>
                      <p:cNvPr id="1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0607" y="3144729"/>
                        <a:ext cx="209550" cy="3213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Đối tượng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0436262"/>
              </p:ext>
            </p:extLst>
          </p:nvPr>
        </p:nvGraphicFramePr>
        <p:xfrm>
          <a:off x="2895600" y="3466039"/>
          <a:ext cx="33432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343096" imgH="495183" progId="Equation.DSMT4">
                  <p:embed/>
                </p:oleObj>
              </mc:Choice>
              <mc:Fallback>
                <p:oleObj name="Equation" r:id="rId12" imgW="3343096" imgH="495183" progId="Equation.DSMT4">
                  <p:embed/>
                  <p:pic>
                    <p:nvPicPr>
                      <p:cNvPr id="4" name="Đối tượng 3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895600" y="3466039"/>
                        <a:ext cx="3343275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00200"/>
            <a:ext cx="8382000" cy="5105400"/>
          </a:xfrm>
        </p:spPr>
        <p:txBody>
          <a:bodyPr/>
          <a:lstStyle/>
          <a:p>
            <a:pPr marL="0" indent="165100">
              <a:buClr>
                <a:srgbClr val="FF0000"/>
              </a:buClr>
              <a:buNone/>
            </a:pPr>
            <a:r>
              <a:rPr lang="en-US" u="sng" dirty="0">
                <a:solidFill>
                  <a:srgbClr val="00B0F0"/>
                </a:solidFill>
                <a:sym typeface="Symbol"/>
              </a:rPr>
              <a:t>Cách 1</a:t>
            </a:r>
            <a:r>
              <a:rPr lang="en-US" dirty="0">
                <a:solidFill>
                  <a:srgbClr val="00B0F0"/>
                </a:solidFill>
                <a:sym typeface="Symbol"/>
              </a:rPr>
              <a:t>: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Biểu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thức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hằng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đúng</a:t>
            </a:r>
            <a:endParaRPr lang="en-US" dirty="0">
              <a:sym typeface="Symbol"/>
            </a:endParaRPr>
          </a:p>
          <a:p>
            <a:pPr marL="0" indent="165100">
              <a:buClr>
                <a:srgbClr val="FF0000"/>
              </a:buClr>
              <a:buNone/>
            </a:pPr>
            <a:endParaRPr lang="en-US" u="sng" dirty="0">
              <a:solidFill>
                <a:srgbClr val="00B0F0"/>
              </a:solidFill>
              <a:sym typeface="Symbol"/>
            </a:endParaRPr>
          </a:p>
          <a:p>
            <a:pPr marL="0" indent="165100">
              <a:buClr>
                <a:srgbClr val="FF0000"/>
              </a:buClr>
              <a:buNone/>
            </a:pPr>
            <a:r>
              <a:rPr lang="en-US" u="sng" dirty="0">
                <a:solidFill>
                  <a:srgbClr val="00B0F0"/>
                </a:solidFill>
                <a:sym typeface="Symbol"/>
              </a:rPr>
              <a:t>Cách 2</a:t>
            </a:r>
            <a:r>
              <a:rPr lang="en-US" dirty="0">
                <a:solidFill>
                  <a:srgbClr val="00B0F0"/>
                </a:solidFill>
                <a:sym typeface="Symbol"/>
              </a:rPr>
              <a:t>: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Dòng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suy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diễn</a:t>
            </a:r>
            <a:endParaRPr lang="en-US" dirty="0">
              <a:sym typeface="Symbol"/>
            </a:endParaRPr>
          </a:p>
          <a:p>
            <a:pPr marL="0" indent="165100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  <a:p>
            <a:pPr marL="0" indent="165100">
              <a:buClr>
                <a:srgbClr val="FF0000"/>
              </a:buClr>
              <a:buNone/>
            </a:pPr>
            <a:r>
              <a:rPr lang="en-US" u="sng" dirty="0">
                <a:solidFill>
                  <a:srgbClr val="00B0F0"/>
                </a:solidFill>
                <a:sym typeface="Symbol"/>
              </a:rPr>
              <a:t>Cách 3</a:t>
            </a:r>
            <a:r>
              <a:rPr lang="en-US" dirty="0">
                <a:solidFill>
                  <a:srgbClr val="00B0F0"/>
                </a:solidFill>
                <a:sym typeface="Symbol"/>
              </a:rPr>
              <a:t>: </a:t>
            </a:r>
            <a:r>
              <a:rPr lang="en-US" dirty="0" err="1">
                <a:sym typeface="Symbol"/>
              </a:rPr>
              <a:t>Mô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hình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suy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diễn</a:t>
            </a:r>
            <a:endParaRPr lang="en-US" dirty="0">
              <a:sym typeface="Symbol"/>
            </a:endParaRPr>
          </a:p>
          <a:p>
            <a:pPr marL="0" indent="165100">
              <a:buClr>
                <a:srgbClr val="FF0000"/>
              </a:buClr>
              <a:buNone/>
            </a:pPr>
            <a:endParaRPr lang="en-US" dirty="0">
              <a:solidFill>
                <a:srgbClr val="00B0F0"/>
              </a:solidFill>
              <a:sym typeface="Symbol"/>
            </a:endParaRPr>
          </a:p>
          <a:p>
            <a:pPr marL="0" indent="165100">
              <a:buClr>
                <a:srgbClr val="FF0000"/>
              </a:buClr>
              <a:buNone/>
            </a:pPr>
            <a:endParaRPr lang="en-US" dirty="0">
              <a:solidFill>
                <a:srgbClr val="00B0F0"/>
              </a:solidFill>
              <a:sym typeface="Symbol"/>
            </a:endParaRPr>
          </a:p>
          <a:p>
            <a:pPr marL="0" indent="165100">
              <a:buClr>
                <a:srgbClr val="FF0000"/>
              </a:buClr>
              <a:buNone/>
            </a:pPr>
            <a:endParaRPr lang="en-US" dirty="0">
              <a:solidFill>
                <a:srgbClr val="00B0F0"/>
              </a:solidFill>
              <a:sym typeface="Symbol"/>
            </a:endParaRPr>
          </a:p>
          <a:p>
            <a:pPr marL="0" indent="165100">
              <a:buClr>
                <a:srgbClr val="FF0000"/>
              </a:buClr>
              <a:buNone/>
            </a:pPr>
            <a:r>
              <a:rPr lang="en-US" dirty="0" err="1">
                <a:sym typeface="Symbol"/>
              </a:rPr>
              <a:t>Các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biểu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thức</a:t>
            </a:r>
            <a:r>
              <a:rPr lang="en-US" dirty="0">
                <a:sym typeface="Symbol"/>
              </a:rPr>
              <a:t> logic                  </a:t>
            </a:r>
            <a:r>
              <a:rPr lang="en-US" dirty="0" err="1">
                <a:sym typeface="Symbol"/>
              </a:rPr>
              <a:t>được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gọi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là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giả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thiết</a:t>
            </a:r>
            <a:r>
              <a:rPr lang="en-US" dirty="0">
                <a:sym typeface="Symbol"/>
              </a:rPr>
              <a:t>  (hay </a:t>
            </a:r>
            <a:r>
              <a:rPr lang="en-US" dirty="0" err="1">
                <a:sym typeface="Symbol"/>
              </a:rPr>
              <a:t>tiên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đề</a:t>
            </a:r>
            <a:r>
              <a:rPr lang="en-US" dirty="0">
                <a:sym typeface="Symbol"/>
              </a:rPr>
              <a:t>), </a:t>
            </a:r>
            <a:r>
              <a:rPr lang="en-US" dirty="0" err="1">
                <a:sym typeface="Symbol"/>
              </a:rPr>
              <a:t>biểu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thức</a:t>
            </a:r>
            <a:r>
              <a:rPr lang="en-US" dirty="0">
                <a:sym typeface="Symbol"/>
              </a:rPr>
              <a:t>    </a:t>
            </a:r>
            <a:r>
              <a:rPr lang="en-US" dirty="0" err="1">
                <a:sym typeface="Symbol"/>
              </a:rPr>
              <a:t>được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gọi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là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kết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luận</a:t>
            </a:r>
            <a:r>
              <a:rPr lang="en-US" dirty="0">
                <a:sym typeface="Symbol"/>
              </a:rPr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</a:t>
            </a:r>
            <a:r>
              <a:rPr lang="en-US" sz="4800" b="1" dirty="0" err="1"/>
              <a:t>tắc</a:t>
            </a:r>
            <a:r>
              <a:rPr lang="en-US" sz="4800" b="1" dirty="0"/>
              <a:t> </a:t>
            </a:r>
            <a:r>
              <a:rPr lang="en-US" sz="4800" b="1" dirty="0" err="1"/>
              <a:t>suy</a:t>
            </a:r>
            <a:r>
              <a:rPr lang="en-US" sz="4800" b="1" dirty="0"/>
              <a:t> </a:t>
            </a:r>
            <a:r>
              <a:rPr lang="en-US" sz="4800" b="1" dirty="0" err="1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81800" y="6553200"/>
            <a:ext cx="1905000" cy="152400"/>
          </a:xfrm>
        </p:spPr>
        <p:txBody>
          <a:bodyPr/>
          <a:lstStyle/>
          <a:p>
            <a:fld id="{3D9E56B6-077A-4A36-A778-66B152E4D643}" type="slidenum">
              <a:rPr lang="en-US" smtClean="0"/>
              <a:pPr/>
              <a:t>24</a:t>
            </a:fld>
            <a:endParaRPr lang="en-US" dirty="0"/>
          </a:p>
        </p:txBody>
      </p:sp>
      <p:graphicFrame>
        <p:nvGraphicFramePr>
          <p:cNvPr id="2170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9187879"/>
              </p:ext>
            </p:extLst>
          </p:nvPr>
        </p:nvGraphicFramePr>
        <p:xfrm>
          <a:off x="2923131" y="3119518"/>
          <a:ext cx="3352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52680" imgH="507960" progId="Equation.DSMT4">
                  <p:embed/>
                </p:oleObj>
              </mc:Choice>
              <mc:Fallback>
                <p:oleObj name="Equation" r:id="rId3" imgW="3352680" imgH="507960" progId="Equation.DSMT4">
                  <p:embed/>
                  <p:pic>
                    <p:nvPicPr>
                      <p:cNvPr id="2170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3131" y="3119518"/>
                        <a:ext cx="33528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4074099"/>
              </p:ext>
            </p:extLst>
          </p:nvPr>
        </p:nvGraphicFramePr>
        <p:xfrm>
          <a:off x="4759195" y="3608940"/>
          <a:ext cx="1066800" cy="220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7480" imgH="583920" progId="Equation.DSMT4">
                  <p:embed/>
                </p:oleObj>
              </mc:Choice>
              <mc:Fallback>
                <p:oleObj name="Equation" r:id="rId5" imgW="177480" imgH="583920" progId="Equation.DSMT4">
                  <p:embed/>
                  <p:pic>
                    <p:nvPicPr>
                      <p:cNvPr id="2181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9195" y="3608940"/>
                        <a:ext cx="1066800" cy="220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21" name="Object 9"/>
          <p:cNvGraphicFramePr>
            <a:graphicFrameLocks noChangeAspect="1"/>
          </p:cNvGraphicFramePr>
          <p:nvPr/>
        </p:nvGraphicFramePr>
        <p:xfrm>
          <a:off x="3930650" y="5689600"/>
          <a:ext cx="1638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38000" imgH="507960" progId="Equation.DSMT4">
                  <p:embed/>
                </p:oleObj>
              </mc:Choice>
              <mc:Fallback>
                <p:oleObj name="Equation" r:id="rId7" imgW="1638000" imgH="507960" progId="Equation.DSMT4">
                  <p:embed/>
                  <p:pic>
                    <p:nvPicPr>
                      <p:cNvPr id="21812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0650" y="5689600"/>
                        <a:ext cx="16383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0405661"/>
              </p:ext>
            </p:extLst>
          </p:nvPr>
        </p:nvGraphicFramePr>
        <p:xfrm>
          <a:off x="4389981" y="6287248"/>
          <a:ext cx="209550" cy="321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0440" imgH="291960" progId="Equation.DSMT4">
                  <p:embed/>
                </p:oleObj>
              </mc:Choice>
              <mc:Fallback>
                <p:oleObj name="Equation" r:id="rId9" imgW="190440" imgH="291960" progId="Equation.DSMT4">
                  <p:embed/>
                  <p:pic>
                    <p:nvPicPr>
                      <p:cNvPr id="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9981" y="6287248"/>
                        <a:ext cx="209550" cy="3213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Đối tượng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5668738"/>
              </p:ext>
            </p:extLst>
          </p:nvPr>
        </p:nvGraphicFramePr>
        <p:xfrm>
          <a:off x="6504662" y="457280"/>
          <a:ext cx="217170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171511" imgH="866570" progId="Equation.DSMT4">
                  <p:embed/>
                </p:oleObj>
              </mc:Choice>
              <mc:Fallback>
                <p:oleObj name="Equation" r:id="rId11" imgW="2171511" imgH="866570" progId="Equation.DSMT4">
                  <p:embed/>
                  <p:pic>
                    <p:nvPicPr>
                      <p:cNvPr id="4" name="Đối tượng 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504662" y="457280"/>
                        <a:ext cx="2171700" cy="866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Đối tượng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1972557"/>
              </p:ext>
            </p:extLst>
          </p:nvPr>
        </p:nvGraphicFramePr>
        <p:xfrm>
          <a:off x="2635250" y="2152489"/>
          <a:ext cx="42291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229150" imgH="495183" progId="Equation.DSMT4">
                  <p:embed/>
                </p:oleObj>
              </mc:Choice>
              <mc:Fallback>
                <p:oleObj name="Equation" r:id="rId13" imgW="4229150" imgH="495183" progId="Equation.DSMT4">
                  <p:embed/>
                  <p:pic>
                    <p:nvPicPr>
                      <p:cNvPr id="6" name="Đối tượng 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635250" y="2152489"/>
                        <a:ext cx="4229100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4800600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Font typeface="+mj-lt"/>
              <a:buAutoNum type="arabicPeriod"/>
            </a:pPr>
            <a:r>
              <a:rPr lang="vi-VN" dirty="0">
                <a:solidFill>
                  <a:srgbClr val="FF0000"/>
                </a:solidFill>
              </a:rPr>
              <a:t>1. Qui </a:t>
            </a:r>
            <a:r>
              <a:rPr lang="vi-VN" dirty="0" err="1">
                <a:solidFill>
                  <a:srgbClr val="FF0000"/>
                </a:solidFill>
              </a:rPr>
              <a:t>tắc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hội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đơn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giản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vi-VN" dirty="0">
              <a:solidFill>
                <a:srgbClr val="FF0000"/>
              </a:solidFill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/>
              <a:t>	(p </a:t>
            </a:r>
            <a:r>
              <a:rPr lang="en-US" dirty="0">
                <a:sym typeface="Symbol"/>
              </a:rPr>
              <a:t> q) </a:t>
            </a:r>
            <a:r>
              <a:rPr lang="vi-VN" dirty="0">
                <a:sym typeface="Symbol"/>
              </a:rPr>
              <a:t></a:t>
            </a:r>
            <a:r>
              <a:rPr lang="en-US" dirty="0">
                <a:sym typeface="Symbol"/>
              </a:rPr>
              <a:t> p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ym typeface="Symbol"/>
              </a:rPr>
              <a:t>	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>
                <a:solidFill>
                  <a:srgbClr val="FF0000"/>
                </a:solidFill>
              </a:rPr>
              <a:t>Ví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dụ</a:t>
            </a:r>
            <a:r>
              <a:rPr lang="en-US" dirty="0">
                <a:solidFill>
                  <a:srgbClr val="FF0000"/>
                </a:solidFill>
              </a:rPr>
              <a:t>:</a:t>
            </a:r>
            <a:r>
              <a:rPr lang="en-US" dirty="0"/>
              <a:t> </a:t>
            </a:r>
          </a:p>
          <a:p>
            <a:pPr marL="0" indent="165100" algn="just">
              <a:buClr>
                <a:srgbClr val="FF0000"/>
              </a:buClr>
              <a:buFont typeface="Symbol" pitchFamily="18" charset="2"/>
              <a:buChar char="·"/>
            </a:pPr>
            <a:r>
              <a:rPr lang="en-US" dirty="0"/>
              <a:t> SV A </a:t>
            </a:r>
            <a:r>
              <a:rPr lang="en-US" dirty="0" err="1"/>
              <a:t>lễ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.	      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/>
              <a:t> </a:t>
            </a:r>
            <a:r>
              <a:rPr lang="en-US" dirty="0" err="1"/>
              <a:t>Suy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: SV A </a:t>
            </a:r>
            <a:r>
              <a:rPr lang="en-US" dirty="0" err="1"/>
              <a:t>lễ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.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</a:t>
            </a:r>
            <a:r>
              <a:rPr lang="en-US" sz="4800" b="1" dirty="0" err="1"/>
              <a:t>tắc</a:t>
            </a:r>
            <a:r>
              <a:rPr lang="en-US" sz="4800" b="1" dirty="0"/>
              <a:t> </a:t>
            </a:r>
            <a:r>
              <a:rPr lang="en-US" sz="4800" b="1" dirty="0" err="1"/>
              <a:t>suy</a:t>
            </a:r>
            <a:r>
              <a:rPr lang="en-US" sz="4800" b="1" dirty="0"/>
              <a:t> </a:t>
            </a:r>
            <a:r>
              <a:rPr lang="en-US" sz="4800" b="1" dirty="0" err="1"/>
              <a:t>diễn</a:t>
            </a:r>
            <a:r>
              <a:rPr lang="en-US" sz="4800" b="1" dirty="0"/>
              <a:t> 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1905000" cy="304800"/>
          </a:xfrm>
        </p:spPr>
        <p:txBody>
          <a:bodyPr/>
          <a:lstStyle/>
          <a:p>
            <a:fld id="{3D9E56B6-077A-4A36-A778-66B152E4D643}" type="slidenum">
              <a:rPr lang="en-US" smtClean="0"/>
              <a:pPr/>
              <a:t>25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581314"/>
              </p:ext>
            </p:extLst>
          </p:nvPr>
        </p:nvGraphicFramePr>
        <p:xfrm>
          <a:off x="5562600" y="2133600"/>
          <a:ext cx="1295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8940"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  p</a:t>
                      </a:r>
                      <a:endParaRPr lang="en-US" sz="2800" b="0" dirty="0">
                        <a:solidFill>
                          <a:schemeClr val="tx1"/>
                        </a:solidFill>
                        <a:sym typeface="Symbol"/>
                      </a:endParaRPr>
                    </a:p>
                    <a:p>
                      <a:r>
                        <a:rPr lang="en-US" sz="2800" b="0" baseline="0" dirty="0">
                          <a:solidFill>
                            <a:schemeClr val="tx1"/>
                          </a:solidFill>
                          <a:sym typeface="Symbol"/>
                        </a:rPr>
                        <a:t>  q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algn="l">
                        <a:tabLst>
                          <a:tab pos="749300" algn="l"/>
                        </a:tabLst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sym typeface="Symbol"/>
                        </a:rPr>
                        <a:t>p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4800600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1. </a:t>
            </a:r>
            <a:r>
              <a:rPr lang="vi-VN" dirty="0">
                <a:solidFill>
                  <a:srgbClr val="FF0000"/>
                </a:solidFill>
              </a:rPr>
              <a:t>Qui </a:t>
            </a:r>
            <a:r>
              <a:rPr lang="vi-VN" dirty="0" err="1">
                <a:solidFill>
                  <a:srgbClr val="FF0000"/>
                </a:solidFill>
              </a:rPr>
              <a:t>tắc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hội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đơn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giản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vi-VN" dirty="0">
              <a:solidFill>
                <a:srgbClr val="FF0000"/>
              </a:solidFill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/>
              <a:t>	(p </a:t>
            </a:r>
            <a:r>
              <a:rPr lang="en-US" dirty="0">
                <a:sym typeface="Symbol"/>
              </a:rPr>
              <a:t> q) </a:t>
            </a:r>
            <a:r>
              <a:rPr lang="vi-VN" dirty="0">
                <a:sym typeface="Symbol"/>
              </a:rPr>
              <a:t></a:t>
            </a:r>
            <a:r>
              <a:rPr lang="en-US" dirty="0">
                <a:sym typeface="Symbol"/>
              </a:rPr>
              <a:t> q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ym typeface="Symbol"/>
              </a:rPr>
              <a:t>	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>
                <a:solidFill>
                  <a:srgbClr val="FF0000"/>
                </a:solidFill>
              </a:rPr>
              <a:t>Ví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dụ</a:t>
            </a:r>
            <a:r>
              <a:rPr lang="en-US" dirty="0">
                <a:solidFill>
                  <a:srgbClr val="FF0000"/>
                </a:solidFill>
              </a:rPr>
              <a:t>:</a:t>
            </a:r>
            <a:r>
              <a:rPr lang="en-US" dirty="0"/>
              <a:t> </a:t>
            </a:r>
          </a:p>
          <a:p>
            <a:pPr marL="0" indent="165100" algn="just">
              <a:buClr>
                <a:srgbClr val="FF0000"/>
              </a:buClr>
              <a:buFont typeface="Symbol" pitchFamily="18" charset="2"/>
              <a:buChar char="·"/>
            </a:pPr>
            <a:r>
              <a:rPr lang="en-US" dirty="0"/>
              <a:t> SV A </a:t>
            </a:r>
            <a:r>
              <a:rPr lang="en-US" dirty="0" err="1"/>
              <a:t>lễ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.	      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/>
              <a:t> </a:t>
            </a:r>
            <a:r>
              <a:rPr lang="en-US" dirty="0" err="1"/>
              <a:t>Suy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: SV A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.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</a:t>
            </a:r>
            <a:r>
              <a:rPr lang="en-US" sz="4800" b="1" dirty="0" err="1"/>
              <a:t>tắc</a:t>
            </a:r>
            <a:r>
              <a:rPr lang="en-US" sz="4800" b="1" dirty="0"/>
              <a:t> </a:t>
            </a:r>
            <a:r>
              <a:rPr lang="en-US" sz="4800" b="1" dirty="0" err="1"/>
              <a:t>suy</a:t>
            </a:r>
            <a:r>
              <a:rPr lang="en-US" sz="4800" b="1" dirty="0"/>
              <a:t> </a:t>
            </a:r>
            <a:r>
              <a:rPr lang="en-US" sz="4800" b="1" dirty="0" err="1"/>
              <a:t>diễn</a:t>
            </a:r>
            <a:r>
              <a:rPr lang="en-US" sz="4800" b="1" dirty="0"/>
              <a:t> 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1905000" cy="304800"/>
          </a:xfrm>
        </p:spPr>
        <p:txBody>
          <a:bodyPr/>
          <a:lstStyle/>
          <a:p>
            <a:fld id="{3D9E56B6-077A-4A36-A778-66B152E4D643}" type="slidenum">
              <a:rPr lang="en-US" smtClean="0"/>
              <a:pPr/>
              <a:t>26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375851"/>
              </p:ext>
            </p:extLst>
          </p:nvPr>
        </p:nvGraphicFramePr>
        <p:xfrm>
          <a:off x="5562600" y="2133600"/>
          <a:ext cx="1295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8940"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  p</a:t>
                      </a:r>
                      <a:endParaRPr lang="en-US" sz="2800" b="0" dirty="0">
                        <a:solidFill>
                          <a:schemeClr val="tx1"/>
                        </a:solidFill>
                        <a:sym typeface="Symbol"/>
                      </a:endParaRPr>
                    </a:p>
                    <a:p>
                      <a:r>
                        <a:rPr lang="en-US" sz="2800" b="0" baseline="0" dirty="0">
                          <a:solidFill>
                            <a:schemeClr val="tx1"/>
                          </a:solidFill>
                          <a:sym typeface="Symbol"/>
                        </a:rPr>
                        <a:t>  q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algn="l">
                        <a:tabLst>
                          <a:tab pos="749300" algn="l"/>
                        </a:tabLst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sym typeface="Symbol"/>
                        </a:rPr>
                        <a:t>q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22191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4800600"/>
          </a:xfrm>
        </p:spPr>
        <p:txBody>
          <a:bodyPr/>
          <a:lstStyle/>
          <a:p>
            <a:pPr marL="0" indent="0" algn="just">
              <a:buClr>
                <a:srgbClr val="FF0000"/>
              </a:buClr>
              <a:buNone/>
            </a:pPr>
            <a:r>
              <a:rPr lang="en-US">
                <a:solidFill>
                  <a:srgbClr val="FF0000"/>
                </a:solidFill>
              </a:rPr>
              <a:t>1.2</a:t>
            </a:r>
            <a:r>
              <a:rPr lang="en-US" dirty="0">
                <a:solidFill>
                  <a:srgbClr val="FF0000"/>
                </a:solidFill>
              </a:rPr>
              <a:t>. </a:t>
            </a:r>
            <a:r>
              <a:rPr lang="vi-VN" dirty="0">
                <a:solidFill>
                  <a:srgbClr val="FF0000"/>
                </a:solidFill>
              </a:rPr>
              <a:t>Qui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tắc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tuyển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đơn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giản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vi-VN" dirty="0">
              <a:solidFill>
                <a:srgbClr val="FF0000"/>
              </a:solidFill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/>
              <a:t>	 p 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</a:t>
            </a:r>
            <a:r>
              <a:rPr lang="en-US" dirty="0">
                <a:sym typeface="Symbol"/>
              </a:rPr>
              <a:t> p </a:t>
            </a:r>
            <a:r>
              <a:rPr lang="en-US" dirty="0"/>
              <a:t> q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ym typeface="Symbol"/>
              </a:rPr>
              <a:t>	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>
                <a:solidFill>
                  <a:srgbClr val="FF0000"/>
                </a:solidFill>
              </a:rPr>
              <a:t>Ví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dụ</a:t>
            </a:r>
            <a:r>
              <a:rPr lang="en-US" dirty="0">
                <a:solidFill>
                  <a:srgbClr val="FF0000"/>
                </a:solidFill>
              </a:rPr>
              <a:t>:</a:t>
            </a:r>
            <a:r>
              <a:rPr lang="en-US" dirty="0"/>
              <a:t> </a:t>
            </a:r>
          </a:p>
          <a:p>
            <a:pPr marL="0" indent="165100" algn="just">
              <a:buClr>
                <a:srgbClr val="FF0000"/>
              </a:buClr>
              <a:buFont typeface="Symbol" pitchFamily="18" charset="2"/>
              <a:buChar char="·"/>
            </a:pPr>
            <a:r>
              <a:rPr lang="en-US" dirty="0"/>
              <a:t> SV A </a:t>
            </a:r>
            <a:r>
              <a:rPr lang="en-US" dirty="0" err="1"/>
              <a:t>lễ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.	      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/>
              <a:t> </a:t>
            </a:r>
            <a:r>
              <a:rPr lang="en-US" dirty="0" err="1"/>
              <a:t>Suy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: SV A </a:t>
            </a:r>
            <a:r>
              <a:rPr lang="en-US" dirty="0" err="1"/>
              <a:t>lễ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hay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.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</a:t>
            </a:r>
            <a:r>
              <a:rPr lang="en-US" sz="4800" b="1" dirty="0" err="1"/>
              <a:t>tắc</a:t>
            </a:r>
            <a:r>
              <a:rPr lang="en-US" sz="4800" b="1" dirty="0"/>
              <a:t> </a:t>
            </a:r>
            <a:r>
              <a:rPr lang="en-US" sz="4800" b="1" dirty="0" err="1"/>
              <a:t>suy</a:t>
            </a:r>
            <a:r>
              <a:rPr lang="en-US" sz="4800" b="1" dirty="0"/>
              <a:t> </a:t>
            </a:r>
            <a:r>
              <a:rPr lang="en-US" sz="4800" b="1" dirty="0" err="1"/>
              <a:t>diễn</a:t>
            </a:r>
            <a:r>
              <a:rPr lang="en-US" sz="4800" b="1" dirty="0"/>
              <a:t> 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1905000" cy="304800"/>
          </a:xfrm>
        </p:spPr>
        <p:txBody>
          <a:bodyPr/>
          <a:lstStyle/>
          <a:p>
            <a:fld id="{3D9E56B6-077A-4A36-A778-66B152E4D643}" type="slidenum">
              <a:rPr lang="en-US" smtClean="0"/>
              <a:pPr/>
              <a:t>27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172337"/>
              </p:ext>
            </p:extLst>
          </p:nvPr>
        </p:nvGraphicFramePr>
        <p:xfrm>
          <a:off x="5562600" y="2133600"/>
          <a:ext cx="1524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8940"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   p</a:t>
                      </a:r>
                      <a:endParaRPr lang="en-US" sz="2800" b="0" dirty="0">
                        <a:solidFill>
                          <a:schemeClr val="tx1"/>
                        </a:solidFill>
                        <a:sym typeface="Symbol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749300" algn="l"/>
                        </a:tabLst>
                        <a:defRPr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sym typeface="Symbol"/>
                        </a:rPr>
                        <a:t>p </a:t>
                      </a:r>
                      <a:r>
                        <a:rPr lang="en-US" sz="2800" dirty="0">
                          <a:sym typeface="Symbol"/>
                        </a:rPr>
                        <a:t> 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  <a:sym typeface="Symbol"/>
                        </a:rPr>
                        <a:t>q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749300" algn="l"/>
                        </a:tabLst>
                        <a:defRPr/>
                      </a:pPr>
                      <a:endParaRPr lang="en-US" sz="28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38827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4800600"/>
          </a:xfrm>
        </p:spPr>
        <p:txBody>
          <a:bodyPr/>
          <a:lstStyle/>
          <a:p>
            <a:pPr marL="0" indent="0" algn="just">
              <a:buClr>
                <a:srgbClr val="FF0000"/>
              </a:buClr>
              <a:buNone/>
            </a:pPr>
            <a:r>
              <a:rPr lang="vi-VN" dirty="0">
                <a:solidFill>
                  <a:srgbClr val="FF0000"/>
                </a:solidFill>
              </a:rPr>
              <a:t>2. Qui tắc khẳng định (Modus Ponens)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vi-VN" dirty="0">
              <a:solidFill>
                <a:srgbClr val="FF0000"/>
              </a:solidFill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/>
              <a:t>	[(p </a:t>
            </a:r>
            <a:r>
              <a:rPr lang="en-US" dirty="0">
                <a:sym typeface="Symbol"/>
              </a:rPr>
              <a:t> q)  p] </a:t>
            </a:r>
            <a:r>
              <a:rPr lang="vi-VN" dirty="0">
                <a:sym typeface="Symbol"/>
              </a:rPr>
              <a:t></a:t>
            </a:r>
            <a:r>
              <a:rPr lang="en-US" dirty="0">
                <a:sym typeface="Symbol"/>
              </a:rPr>
              <a:t> q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ym typeface="Symbol"/>
              </a:rPr>
              <a:t>	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>
                <a:solidFill>
                  <a:srgbClr val="FF0000"/>
                </a:solidFill>
              </a:rPr>
              <a:t>Ví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dụ</a:t>
            </a:r>
            <a:r>
              <a:rPr lang="en-US" dirty="0">
                <a:solidFill>
                  <a:srgbClr val="FF0000"/>
                </a:solidFill>
              </a:rPr>
              <a:t>:</a:t>
            </a:r>
            <a:r>
              <a:rPr lang="en-US" dirty="0"/>
              <a:t> </a:t>
            </a:r>
          </a:p>
          <a:p>
            <a:pPr marL="0" indent="165100" algn="just">
              <a:buClr>
                <a:srgbClr val="FF0000"/>
              </a:buClr>
              <a:buFont typeface="Symbol" pitchFamily="18" charset="2"/>
              <a:buChar char="·"/>
            </a:pP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đậu</a:t>
            </a:r>
            <a:r>
              <a:rPr lang="en-US" dirty="0"/>
              <a:t> 		      </a:t>
            </a:r>
          </a:p>
          <a:p>
            <a:pPr marL="0" indent="165100" algn="just">
              <a:buClr>
                <a:srgbClr val="FF0000"/>
              </a:buClr>
              <a:buFont typeface="Symbol" pitchFamily="18" charset="2"/>
              <a:buChar char="·"/>
            </a:pPr>
            <a:r>
              <a:rPr lang="en-US" dirty="0"/>
              <a:t>SV A 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tốt</a:t>
            </a:r>
            <a:endParaRPr lang="en-US" dirty="0"/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/>
              <a:t>Suy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: SV A 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đậu</a:t>
            </a:r>
            <a:endParaRPr lang="en-US" dirty="0"/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ym typeface="Symbol"/>
              </a:rPr>
              <a:t>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chuồn</a:t>
            </a:r>
            <a:r>
              <a:rPr lang="en-US" dirty="0"/>
              <a:t> </a:t>
            </a:r>
            <a:r>
              <a:rPr lang="en-US" dirty="0" err="1"/>
              <a:t>chuồn</a:t>
            </a:r>
            <a:r>
              <a:rPr lang="en-US" dirty="0"/>
              <a:t> bay </a:t>
            </a:r>
            <a:r>
              <a:rPr lang="en-US" dirty="0" err="1"/>
              <a:t>thấp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mưa</a:t>
            </a:r>
            <a:r>
              <a:rPr lang="en-US" dirty="0"/>
              <a:t>	       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ym typeface="Symbol"/>
              </a:rPr>
              <a:t> </a:t>
            </a:r>
            <a:r>
              <a:rPr lang="en-US" dirty="0" err="1">
                <a:sym typeface="Symbol"/>
              </a:rPr>
              <a:t>Thấy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chuồn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chuồn</a:t>
            </a:r>
            <a:r>
              <a:rPr lang="en-US" dirty="0">
                <a:sym typeface="Symbol"/>
              </a:rPr>
              <a:t> bay </a:t>
            </a:r>
            <a:r>
              <a:rPr lang="en-US" dirty="0" err="1">
                <a:sym typeface="Symbol"/>
              </a:rPr>
              <a:t>thấp</a:t>
            </a:r>
            <a:endParaRPr lang="en-US" dirty="0"/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/>
              <a:t>Suy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: </a:t>
            </a:r>
            <a:r>
              <a:rPr lang="en-US" dirty="0" err="1"/>
              <a:t>trời</a:t>
            </a:r>
            <a:r>
              <a:rPr lang="en-US" dirty="0"/>
              <a:t> </a:t>
            </a:r>
            <a:r>
              <a:rPr lang="en-US" dirty="0" err="1"/>
              <a:t>mưa</a:t>
            </a:r>
            <a:endParaRPr lang="vi-V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</a:t>
            </a:r>
            <a:r>
              <a:rPr lang="en-US" sz="4800" b="1" dirty="0" err="1"/>
              <a:t>tắc</a:t>
            </a:r>
            <a:r>
              <a:rPr lang="en-US" sz="4800" b="1" dirty="0"/>
              <a:t> </a:t>
            </a:r>
            <a:r>
              <a:rPr lang="en-US" sz="4800" b="1" dirty="0" err="1"/>
              <a:t>suy</a:t>
            </a:r>
            <a:r>
              <a:rPr lang="en-US" sz="4800" b="1" dirty="0"/>
              <a:t> </a:t>
            </a:r>
            <a:r>
              <a:rPr lang="en-US" sz="4800" b="1" dirty="0" err="1"/>
              <a:t>diễn</a:t>
            </a:r>
            <a:r>
              <a:rPr lang="en-US" sz="4800" b="1" dirty="0"/>
              <a:t> 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1905000" cy="304800"/>
          </a:xfrm>
        </p:spPr>
        <p:txBody>
          <a:bodyPr/>
          <a:lstStyle/>
          <a:p>
            <a:fld id="{3D9E56B6-077A-4A36-A778-66B152E4D643}" type="slidenum">
              <a:rPr lang="en-US" smtClean="0"/>
              <a:pPr/>
              <a:t>28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562600" y="2133600"/>
          <a:ext cx="1295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8940"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p 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  <a:sym typeface="Symbol"/>
                        </a:rPr>
                        <a:t> q</a:t>
                      </a:r>
                    </a:p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  <a:sym typeface="Symbol"/>
                        </a:rPr>
                        <a:t>p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algn="l">
                        <a:tabLst>
                          <a:tab pos="749300" algn="l"/>
                        </a:tabLst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sym typeface="Symbol"/>
                        </a:rPr>
                        <a:t>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87551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2296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olidFill>
                  <a:srgbClr val="FF0000"/>
                </a:solidFill>
              </a:rPr>
              <a:t>3. Qui </a:t>
            </a:r>
            <a:r>
              <a:rPr lang="en-US" dirty="0" err="1">
                <a:solidFill>
                  <a:srgbClr val="FF0000"/>
                </a:solidFill>
              </a:rPr>
              <a:t>tắc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vi-VN" dirty="0">
                <a:solidFill>
                  <a:srgbClr val="FF0000"/>
                </a:solidFill>
              </a:rPr>
              <a:t>phủ định</a:t>
            </a:r>
            <a:r>
              <a:rPr lang="en-US" dirty="0">
                <a:solidFill>
                  <a:srgbClr val="FF0000"/>
                </a:solidFill>
              </a:rPr>
              <a:t> (Modus </a:t>
            </a:r>
            <a:r>
              <a:rPr lang="en-US" dirty="0" err="1">
                <a:solidFill>
                  <a:srgbClr val="FF0000"/>
                </a:solidFill>
              </a:rPr>
              <a:t>Tollens</a:t>
            </a:r>
            <a:r>
              <a:rPr lang="en-US" dirty="0">
                <a:solidFill>
                  <a:srgbClr val="FF0000"/>
                </a:solidFill>
              </a:rPr>
              <a:t>):</a:t>
            </a:r>
            <a:endParaRPr lang="vi-VN" dirty="0">
              <a:solidFill>
                <a:srgbClr val="FF0000"/>
              </a:solidFill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/>
              <a:t> [(p </a:t>
            </a:r>
            <a:r>
              <a:rPr lang="en-US" dirty="0">
                <a:sym typeface="Symbol"/>
              </a:rPr>
              <a:t> q)  q ] </a:t>
            </a:r>
            <a:r>
              <a:rPr lang="vi-VN" dirty="0">
                <a:sym typeface="Symbol"/>
              </a:rPr>
              <a:t></a:t>
            </a:r>
            <a:r>
              <a:rPr lang="en-US" dirty="0">
                <a:sym typeface="Symbol"/>
              </a:rPr>
              <a:t>  p 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ym typeface="Symbol"/>
              </a:rPr>
              <a:t>	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>
                <a:solidFill>
                  <a:srgbClr val="FF0000"/>
                </a:solidFill>
              </a:rPr>
              <a:t>Ví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dụ</a:t>
            </a:r>
            <a:r>
              <a:rPr lang="en-US" dirty="0">
                <a:solidFill>
                  <a:srgbClr val="FF0000"/>
                </a:solidFill>
              </a:rPr>
              <a:t>:</a:t>
            </a:r>
            <a:r>
              <a:rPr lang="en-US" dirty="0"/>
              <a:t> 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• Nếu </a:t>
            </a:r>
            <a:r>
              <a:rPr lang="en-US" dirty="0">
                <a:sym typeface="Symbol"/>
              </a:rPr>
              <a:t>A</a:t>
            </a:r>
            <a:r>
              <a:rPr lang="vi-VN" dirty="0">
                <a:sym typeface="Symbol"/>
              </a:rPr>
              <a:t> đi học đầy đủ thì </a:t>
            </a:r>
            <a:r>
              <a:rPr lang="en-US" dirty="0">
                <a:sym typeface="Symbol"/>
              </a:rPr>
              <a:t>A </a:t>
            </a:r>
            <a:r>
              <a:rPr lang="vi-VN" dirty="0">
                <a:sym typeface="Symbol"/>
              </a:rPr>
              <a:t>đậu toán rời rạc.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• </a:t>
            </a:r>
            <a:r>
              <a:rPr lang="en-US" dirty="0">
                <a:sym typeface="Symbol"/>
              </a:rPr>
              <a:t>A</a:t>
            </a:r>
            <a:r>
              <a:rPr lang="vi-VN" dirty="0">
                <a:sym typeface="Symbol"/>
              </a:rPr>
              <a:t> không đậu toán rời rạc.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Suy ra: </a:t>
            </a:r>
            <a:r>
              <a:rPr lang="en-US" dirty="0">
                <a:sym typeface="Symbol"/>
              </a:rPr>
              <a:t>A</a:t>
            </a:r>
            <a:r>
              <a:rPr lang="vi-VN" dirty="0">
                <a:sym typeface="Symbol"/>
              </a:rPr>
              <a:t> không đi học đầy đủ.</a:t>
            </a:r>
            <a:endParaRPr lang="vi-V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</a:t>
            </a:r>
            <a:r>
              <a:rPr lang="en-US" sz="4800" b="1" dirty="0" err="1"/>
              <a:t>tắc</a:t>
            </a:r>
            <a:r>
              <a:rPr lang="en-US" sz="4800" b="1" dirty="0"/>
              <a:t> </a:t>
            </a:r>
            <a:r>
              <a:rPr lang="en-US" sz="4800" b="1" dirty="0" err="1"/>
              <a:t>suy</a:t>
            </a:r>
            <a:r>
              <a:rPr lang="en-US" sz="4800" b="1" dirty="0"/>
              <a:t> </a:t>
            </a:r>
            <a:r>
              <a:rPr lang="en-US" sz="4800" b="1" dirty="0" err="1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29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0" y="1981200"/>
          <a:ext cx="1524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84250">
                <a:tc>
                  <a:txBody>
                    <a:bodyPr/>
                    <a:lstStyle/>
                    <a:p>
                      <a:pPr algn="l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  p 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  <a:sym typeface="Symbol"/>
                        </a:rPr>
                        <a:t> q</a:t>
                      </a:r>
                    </a:p>
                    <a:p>
                      <a:pPr algn="l"/>
                      <a:r>
                        <a:rPr lang="en-US" sz="2800" b="0" dirty="0">
                          <a:solidFill>
                            <a:schemeClr val="tx1"/>
                          </a:solidFill>
                          <a:sym typeface="Symbol"/>
                        </a:rPr>
                        <a:t>q 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>
                        <a:tabLst>
                          <a:tab pos="749300" algn="l"/>
                        </a:tabLst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sym typeface="Symbol"/>
                        </a:rPr>
                        <a:t>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p 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olidFill>
                  <a:srgbClr val="FF0000"/>
                </a:solidFill>
              </a:rPr>
              <a:t>4. </a:t>
            </a:r>
            <a:r>
              <a:rPr lang="vi-VN" dirty="0">
                <a:solidFill>
                  <a:srgbClr val="FF0000"/>
                </a:solidFill>
              </a:rPr>
              <a:t>Qui tắc tam đoạn luận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vi-VN" dirty="0">
              <a:solidFill>
                <a:srgbClr val="FF0000"/>
              </a:solidFill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/>
              <a:t> [(p </a:t>
            </a:r>
            <a:r>
              <a:rPr lang="en-US" dirty="0">
                <a:sym typeface="Symbol"/>
              </a:rPr>
              <a:t> q)  (q  r)] </a:t>
            </a:r>
            <a:r>
              <a:rPr lang="vi-VN" dirty="0">
                <a:sym typeface="Symbol"/>
              </a:rPr>
              <a:t></a:t>
            </a:r>
            <a:r>
              <a:rPr lang="en-US" dirty="0">
                <a:sym typeface="Symbol"/>
              </a:rPr>
              <a:t> (p  r)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ym typeface="Symbol"/>
              </a:rPr>
              <a:t>	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>
                <a:solidFill>
                  <a:srgbClr val="FF0000"/>
                </a:solidFill>
              </a:rPr>
              <a:t>Ví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dụ</a:t>
            </a:r>
            <a:r>
              <a:rPr lang="en-US" dirty="0">
                <a:solidFill>
                  <a:srgbClr val="FF0000"/>
                </a:solidFill>
              </a:rPr>
              <a:t>:</a:t>
            </a:r>
            <a:r>
              <a:rPr lang="en-US" dirty="0"/>
              <a:t> 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• Nếu trời mưa thì đường ướt</a:t>
            </a: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• Nếu đường ướt thì đường trơn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Suy ra</a:t>
            </a:r>
            <a:r>
              <a:rPr lang="en-US" dirty="0">
                <a:sym typeface="Symbol"/>
              </a:rPr>
              <a:t>:</a:t>
            </a:r>
            <a:r>
              <a:rPr lang="vi-VN" dirty="0">
                <a:sym typeface="Symbol"/>
              </a:rPr>
              <a:t> nếu trời mưa thì đường trơn.</a:t>
            </a:r>
            <a:endParaRPr lang="vi-V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</a:t>
            </a:r>
            <a:r>
              <a:rPr lang="en-US" sz="4800" b="1" dirty="0" err="1"/>
              <a:t>tắc</a:t>
            </a:r>
            <a:r>
              <a:rPr lang="en-US" sz="4800" b="1" dirty="0"/>
              <a:t> </a:t>
            </a:r>
            <a:r>
              <a:rPr lang="en-US" sz="4800" b="1" dirty="0" err="1"/>
              <a:t>suy</a:t>
            </a:r>
            <a:r>
              <a:rPr lang="en-US" sz="4800" b="1" dirty="0"/>
              <a:t> </a:t>
            </a:r>
            <a:r>
              <a:rPr lang="en-US" sz="4800" b="1" dirty="0" err="1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30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77000" y="1828800"/>
          <a:ext cx="1447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9605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p 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  <a:sym typeface="Symbol"/>
                        </a:rPr>
                        <a:t> q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  <a:sym typeface="Symbol"/>
                        </a:rPr>
                        <a:t>q  r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235">
                <a:tc>
                  <a:txBody>
                    <a:bodyPr/>
                    <a:lstStyle/>
                    <a:p>
                      <a:pPr algn="ctr">
                        <a:tabLst>
                          <a:tab pos="749300" algn="l"/>
                        </a:tabLst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sym typeface="Symbol"/>
                        </a:rPr>
                        <a:t>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p 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  <a:sym typeface="Symbol"/>
                        </a:rPr>
                        <a:t> r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2887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600200"/>
            <a:ext cx="7963426" cy="415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</a:t>
            </a:r>
            <a:r>
              <a:rPr lang="en-US" sz="4800" b="1" dirty="0" err="1"/>
              <a:t>tắc</a:t>
            </a:r>
            <a:r>
              <a:rPr lang="en-US" sz="4800" b="1" dirty="0"/>
              <a:t> </a:t>
            </a:r>
            <a:r>
              <a:rPr lang="en-US" sz="4800" b="1" dirty="0" err="1"/>
              <a:t>suy</a:t>
            </a:r>
            <a:r>
              <a:rPr lang="en-US" sz="4800" b="1" dirty="0"/>
              <a:t> </a:t>
            </a:r>
            <a:r>
              <a:rPr lang="en-US" sz="4800" b="1" dirty="0" err="1"/>
              <a:t>diễn</a:t>
            </a:r>
            <a:endParaRPr lang="en-US" sz="4400" dirty="0"/>
          </a:p>
        </p:txBody>
      </p:sp>
      <p:pic>
        <p:nvPicPr>
          <p:cNvPr id="5" name="Ảnh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46559"/>
            <a:ext cx="403915" cy="371475"/>
          </a:xfrm>
          <a:prstGeom prst="rect">
            <a:avLst/>
          </a:prstGeom>
        </p:spPr>
      </p:pic>
      <p:pic>
        <p:nvPicPr>
          <p:cNvPr id="9" name="Ảnh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75" y="2187387"/>
            <a:ext cx="6372225" cy="457200"/>
          </a:xfrm>
          <a:prstGeom prst="rect">
            <a:avLst/>
          </a:prstGeom>
        </p:spPr>
      </p:pic>
      <p:pic>
        <p:nvPicPr>
          <p:cNvPr id="10" name="Ảnh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131566"/>
            <a:ext cx="400050" cy="333375"/>
          </a:xfrm>
          <a:prstGeom prst="rect">
            <a:avLst/>
          </a:prstGeom>
        </p:spPr>
      </p:pic>
      <p:pic>
        <p:nvPicPr>
          <p:cNvPr id="11" name="Ảnh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0429" y="3137052"/>
            <a:ext cx="400050" cy="33337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2140" y="1600200"/>
            <a:ext cx="8253260" cy="4800600"/>
          </a:xfrm>
        </p:spPr>
        <p:txBody>
          <a:bodyPr/>
          <a:lstStyle/>
          <a:p>
            <a:pPr marL="0" indent="0" algn="just">
              <a:buClr>
                <a:srgbClr val="FF0000"/>
              </a:buClr>
              <a:buNone/>
            </a:pPr>
            <a:r>
              <a:rPr lang="en-US" dirty="0">
                <a:solidFill>
                  <a:srgbClr val="FF0000"/>
                </a:solidFill>
              </a:rPr>
              <a:t>6.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Qui </a:t>
            </a:r>
            <a:r>
              <a:rPr lang="en-US" dirty="0" err="1">
                <a:solidFill>
                  <a:srgbClr val="FF0000"/>
                </a:solidFill>
              </a:rPr>
              <a:t>tắc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chứng</a:t>
            </a:r>
            <a:r>
              <a:rPr lang="en-US" dirty="0">
                <a:solidFill>
                  <a:srgbClr val="FF0000"/>
                </a:solidFill>
              </a:rPr>
              <a:t> minh </a:t>
            </a:r>
            <a:r>
              <a:rPr lang="en-US" dirty="0" err="1">
                <a:solidFill>
                  <a:srgbClr val="FF0000"/>
                </a:solidFill>
              </a:rPr>
              <a:t>phản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chứng</a:t>
            </a:r>
            <a:r>
              <a:rPr lang="en-US" dirty="0">
                <a:solidFill>
                  <a:srgbClr val="FF0000"/>
                </a:solidFill>
              </a:rPr>
              <a:t>: (</a:t>
            </a:r>
            <a:r>
              <a:rPr lang="en-US" dirty="0" err="1">
                <a:solidFill>
                  <a:srgbClr val="FF0000"/>
                </a:solidFill>
              </a:rPr>
              <a:t>chỉ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được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sử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dụng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trong</a:t>
            </a:r>
            <a:r>
              <a:rPr lang="en-US" dirty="0">
                <a:solidFill>
                  <a:srgbClr val="FF0000"/>
                </a:solidFill>
              </a:rPr>
              <a:t>  </a:t>
            </a:r>
            <a:r>
              <a:rPr lang="en-US" dirty="0" err="1">
                <a:solidFill>
                  <a:srgbClr val="FF0000"/>
                </a:solidFill>
              </a:rPr>
              <a:t>trường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hợp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suy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luận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đã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cho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là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đúng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pPr marL="0" indent="0" algn="just">
              <a:buClr>
                <a:srgbClr val="FF0000"/>
              </a:buClr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dàng</a:t>
            </a:r>
            <a:r>
              <a:rPr lang="en-US" dirty="0"/>
              <a:t> </a:t>
            </a:r>
            <a:r>
              <a:rPr lang="en-US" dirty="0" err="1"/>
              <a:t>chứng</a:t>
            </a:r>
            <a:r>
              <a:rPr lang="en-US" dirty="0"/>
              <a:t> minh</a:t>
            </a:r>
            <a:endParaRPr lang="vi-VN" dirty="0">
              <a:solidFill>
                <a:srgbClr val="FF0000"/>
              </a:solidFill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/>
              <a:t> 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>
                <a:sym typeface="Symbol"/>
              </a:rPr>
              <a:t>Từ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đó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suy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ra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tổng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quát</a:t>
            </a:r>
            <a:r>
              <a:rPr lang="en-US" dirty="0">
                <a:sym typeface="Symbol"/>
              </a:rPr>
              <a:t>: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vi-V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</a:t>
            </a:r>
            <a:r>
              <a:rPr lang="en-US" sz="4800" b="1" dirty="0" err="1"/>
              <a:t>tắc</a:t>
            </a:r>
            <a:r>
              <a:rPr lang="en-US" sz="4800" b="1" dirty="0"/>
              <a:t> </a:t>
            </a:r>
            <a:r>
              <a:rPr lang="en-US" sz="4800" b="1" dirty="0" err="1"/>
              <a:t>suy</a:t>
            </a:r>
            <a:r>
              <a:rPr lang="en-US" sz="4800" b="1" dirty="0"/>
              <a:t> </a:t>
            </a:r>
            <a:r>
              <a:rPr lang="en-US" sz="4800" b="1" dirty="0" err="1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32</a:t>
            </a:fld>
            <a:endParaRPr lang="en-US" dirty="0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7754712"/>
              </p:ext>
            </p:extLst>
          </p:nvPr>
        </p:nvGraphicFramePr>
        <p:xfrm>
          <a:off x="662140" y="4086324"/>
          <a:ext cx="810086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432640" imgH="507960" progId="Equation.DSMT4">
                  <p:embed/>
                </p:oleObj>
              </mc:Choice>
              <mc:Fallback>
                <p:oleObj name="Equation" r:id="rId2" imgW="8432640" imgH="50796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140" y="4086324"/>
                        <a:ext cx="8100860" cy="508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7999239"/>
              </p:ext>
            </p:extLst>
          </p:nvPr>
        </p:nvGraphicFramePr>
        <p:xfrm>
          <a:off x="3096846" y="2985604"/>
          <a:ext cx="3708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08360" imgH="406080" progId="Equation.DSMT4">
                  <p:embed/>
                </p:oleObj>
              </mc:Choice>
              <mc:Fallback>
                <p:oleObj name="Equation" r:id="rId4" imgW="3708360" imgH="406080" progId="Equation.DSMT4">
                  <p:embed/>
                  <p:pic>
                    <p:nvPicPr>
                      <p:cNvPr id="2191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6846" y="2985604"/>
                        <a:ext cx="37084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/>
          <p:nvPr/>
        </p:nvSpPr>
        <p:spPr>
          <a:xfrm>
            <a:off x="619155" y="4773711"/>
            <a:ext cx="79248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 err="1"/>
              <a:t>Để</a:t>
            </a:r>
            <a:r>
              <a:rPr lang="en-US" sz="2800" b="1" dirty="0"/>
              <a:t> </a:t>
            </a:r>
            <a:r>
              <a:rPr lang="en-US" sz="2800" b="1" dirty="0" err="1"/>
              <a:t>chứng</a:t>
            </a:r>
            <a:r>
              <a:rPr lang="en-US" sz="2800" b="1" dirty="0"/>
              <a:t> minh </a:t>
            </a:r>
            <a:r>
              <a:rPr lang="en-US" sz="2800" b="1" dirty="0" err="1"/>
              <a:t>vế</a:t>
            </a:r>
            <a:r>
              <a:rPr lang="en-US" sz="2800" b="1" dirty="0"/>
              <a:t> </a:t>
            </a:r>
            <a:r>
              <a:rPr lang="en-US" sz="2800" b="1" dirty="0" err="1"/>
              <a:t>trái</a:t>
            </a:r>
            <a:r>
              <a:rPr lang="en-US" sz="2800" b="1" dirty="0"/>
              <a:t> </a:t>
            </a:r>
            <a:r>
              <a:rPr lang="en-US" sz="2800" b="1" dirty="0" err="1"/>
              <a:t>là</a:t>
            </a:r>
            <a:r>
              <a:rPr lang="en-US" sz="2800" b="1" dirty="0"/>
              <a:t> </a:t>
            </a:r>
            <a:r>
              <a:rPr lang="en-US" sz="2800" b="1" dirty="0" err="1"/>
              <a:t>một</a:t>
            </a:r>
            <a:r>
              <a:rPr lang="en-US" sz="2800" b="1" dirty="0"/>
              <a:t> </a:t>
            </a:r>
            <a:r>
              <a:rPr lang="en-US" sz="2800" b="1" dirty="0" err="1"/>
              <a:t>hằng</a:t>
            </a:r>
            <a:r>
              <a:rPr lang="en-US" sz="2800" b="1" dirty="0"/>
              <a:t> </a:t>
            </a:r>
            <a:r>
              <a:rPr lang="en-US" sz="2800" b="1" dirty="0" err="1"/>
              <a:t>đúng</a:t>
            </a:r>
            <a:r>
              <a:rPr lang="en-US" sz="2800" b="1" dirty="0"/>
              <a:t>, </a:t>
            </a:r>
            <a:r>
              <a:rPr lang="en-US" sz="2800" b="1" dirty="0" err="1"/>
              <a:t>ta</a:t>
            </a:r>
            <a:r>
              <a:rPr lang="en-US" sz="2800" b="1" dirty="0"/>
              <a:t> </a:t>
            </a:r>
            <a:r>
              <a:rPr lang="en-US" sz="2800" b="1" dirty="0" err="1"/>
              <a:t>chứng</a:t>
            </a:r>
            <a:r>
              <a:rPr lang="en-US" sz="2800" b="1" dirty="0"/>
              <a:t> minh </a:t>
            </a:r>
            <a:r>
              <a:rPr lang="en-US" sz="2800" b="1" dirty="0" err="1"/>
              <a:t>nếu</a:t>
            </a:r>
            <a:r>
              <a:rPr lang="en-US" sz="2800" b="1" dirty="0"/>
              <a:t> </a:t>
            </a:r>
            <a:r>
              <a:rPr lang="en-US" sz="2800" b="1" dirty="0" err="1"/>
              <a:t>thêm</a:t>
            </a:r>
            <a:r>
              <a:rPr lang="en-US" sz="2800" b="1" dirty="0"/>
              <a:t> </a:t>
            </a:r>
            <a:r>
              <a:rPr lang="en-US" sz="2800" b="1" dirty="0" err="1"/>
              <a:t>phủ</a:t>
            </a:r>
            <a:r>
              <a:rPr lang="en-US" sz="2800" b="1" dirty="0"/>
              <a:t> </a:t>
            </a:r>
            <a:r>
              <a:rPr lang="en-US" sz="2800" b="1" dirty="0" err="1"/>
              <a:t>định</a:t>
            </a:r>
            <a:r>
              <a:rPr lang="en-US" sz="2800" b="1" dirty="0"/>
              <a:t> </a:t>
            </a:r>
            <a:r>
              <a:rPr lang="en-US" sz="2800" b="1" dirty="0" err="1"/>
              <a:t>của</a:t>
            </a:r>
            <a:r>
              <a:rPr lang="en-US" sz="2800" b="1" dirty="0"/>
              <a:t> q </a:t>
            </a:r>
            <a:r>
              <a:rPr lang="en-US" sz="2800" b="1" dirty="0" err="1"/>
              <a:t>vào</a:t>
            </a:r>
            <a:r>
              <a:rPr lang="en-US" sz="2800" b="1" dirty="0"/>
              <a:t> </a:t>
            </a:r>
            <a:r>
              <a:rPr lang="en-US" sz="2800" b="1" dirty="0" err="1"/>
              <a:t>các</a:t>
            </a:r>
            <a:r>
              <a:rPr lang="en-US" sz="2800" b="1" dirty="0"/>
              <a:t> </a:t>
            </a:r>
            <a:r>
              <a:rPr lang="en-US" sz="2800" b="1" dirty="0" err="1"/>
              <a:t>tiên</a:t>
            </a:r>
            <a:r>
              <a:rPr lang="en-US" sz="2800" b="1" dirty="0"/>
              <a:t> </a:t>
            </a:r>
            <a:r>
              <a:rPr lang="en-US" sz="2800" b="1" dirty="0" err="1"/>
              <a:t>đề</a:t>
            </a:r>
            <a:r>
              <a:rPr lang="en-US" sz="2800" b="1" dirty="0"/>
              <a:t> </a:t>
            </a:r>
            <a:r>
              <a:rPr lang="en-US" sz="2800" b="1" dirty="0" err="1"/>
              <a:t>thì</a:t>
            </a:r>
            <a:r>
              <a:rPr lang="en-US" sz="2800" b="1" dirty="0"/>
              <a:t> </a:t>
            </a:r>
            <a:r>
              <a:rPr lang="en-US" sz="2800" b="1" dirty="0" err="1"/>
              <a:t>được</a:t>
            </a:r>
            <a:r>
              <a:rPr lang="en-US" sz="2800" b="1" dirty="0"/>
              <a:t> </a:t>
            </a:r>
            <a:r>
              <a:rPr lang="en-US" sz="2800" b="1" dirty="0" err="1"/>
              <a:t>một</a:t>
            </a:r>
            <a:r>
              <a:rPr lang="en-US" sz="2800" b="1" dirty="0"/>
              <a:t> </a:t>
            </a:r>
            <a:r>
              <a:rPr lang="en-US" sz="2800" b="1" dirty="0" err="1"/>
              <a:t>mâu</a:t>
            </a:r>
            <a:r>
              <a:rPr lang="en-US" sz="2800" b="1" dirty="0"/>
              <a:t> </a:t>
            </a:r>
            <a:r>
              <a:rPr lang="en-US" sz="2800" b="1" dirty="0" err="1"/>
              <a:t>thuẫn</a:t>
            </a:r>
            <a:r>
              <a:rPr lang="en-US" sz="2800" b="1" dirty="0"/>
              <a:t>.</a:t>
            </a:r>
            <a:endParaRPr lang="vi-VN" sz="2800" b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0" algn="just">
              <a:buClr>
                <a:srgbClr val="FF0000"/>
              </a:buClr>
              <a:buNone/>
            </a:pPr>
            <a:r>
              <a:rPr lang="en-US" dirty="0">
                <a:solidFill>
                  <a:srgbClr val="FF0000"/>
                </a:solidFill>
              </a:rPr>
              <a:t>6. </a:t>
            </a:r>
            <a:r>
              <a:rPr lang="vi-VN" dirty="0">
                <a:solidFill>
                  <a:srgbClr val="FF0000"/>
                </a:solidFill>
              </a:rPr>
              <a:t>Qui t</a:t>
            </a:r>
            <a:r>
              <a:rPr lang="en-US" dirty="0" err="1">
                <a:solidFill>
                  <a:srgbClr val="FF0000"/>
                </a:solidFill>
              </a:rPr>
              <a:t>ắc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chứng</a:t>
            </a:r>
            <a:r>
              <a:rPr lang="en-US" dirty="0">
                <a:solidFill>
                  <a:srgbClr val="FF0000"/>
                </a:solidFill>
              </a:rPr>
              <a:t> minh </a:t>
            </a:r>
            <a:r>
              <a:rPr lang="en-US" dirty="0" err="1">
                <a:solidFill>
                  <a:srgbClr val="FF0000"/>
                </a:solidFill>
              </a:rPr>
              <a:t>phản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chứng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>
                <a:solidFill>
                  <a:srgbClr val="FF0000"/>
                </a:solidFill>
              </a:rPr>
              <a:t>Ví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dụ</a:t>
            </a:r>
            <a:r>
              <a:rPr lang="en-US" dirty="0">
                <a:solidFill>
                  <a:srgbClr val="FF0000"/>
                </a:solidFill>
              </a:rPr>
              <a:t>:</a:t>
            </a:r>
            <a:r>
              <a:rPr lang="en-US" dirty="0"/>
              <a:t> 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vi-V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</a:t>
            </a:r>
            <a:r>
              <a:rPr lang="en-US" sz="4800" b="1" dirty="0" err="1"/>
              <a:t>tắc</a:t>
            </a:r>
            <a:r>
              <a:rPr lang="en-US" sz="4800" b="1" dirty="0"/>
              <a:t> </a:t>
            </a:r>
            <a:r>
              <a:rPr lang="en-US" sz="4800" b="1" dirty="0" err="1"/>
              <a:t>suy</a:t>
            </a:r>
            <a:r>
              <a:rPr lang="en-US" sz="4800" b="1" dirty="0"/>
              <a:t> </a:t>
            </a:r>
            <a:r>
              <a:rPr lang="en-US" sz="4800" b="1" dirty="0" err="1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33</a:t>
            </a:fld>
            <a:endParaRPr lang="en-US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36042"/>
              </p:ext>
            </p:extLst>
          </p:nvPr>
        </p:nvGraphicFramePr>
        <p:xfrm>
          <a:off x="914400" y="2743200"/>
          <a:ext cx="3429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Chứng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minh </a:t>
                      </a:r>
                      <a:r>
                        <a:rPr lang="en-US" sz="2400" baseline="0" dirty="0" err="1">
                          <a:solidFill>
                            <a:schemeClr val="tx1"/>
                          </a:solidFill>
                        </a:rPr>
                        <a:t>suy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chemeClr val="tx1"/>
                          </a:solidFill>
                        </a:rPr>
                        <a:t>luận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chemeClr val="tx1"/>
                          </a:solidFill>
                        </a:rPr>
                        <a:t>sau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chemeClr val="tx1"/>
                          </a:solidFill>
                        </a:rPr>
                        <a:t>đúng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: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  p 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sym typeface="Symbol"/>
                        </a:rPr>
                        <a:t> r</a:t>
                      </a:r>
                    </a:p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sym typeface="Symbol"/>
                        </a:rPr>
                        <a:t>p  q</a:t>
                      </a:r>
                    </a:p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  q 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sym typeface="Symbol"/>
                        </a:rPr>
                        <a:t>s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sym typeface="Symbol"/>
                        </a:rPr>
                        <a:t>r  s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367090"/>
              </p:ext>
            </p:extLst>
          </p:nvPr>
        </p:nvGraphicFramePr>
        <p:xfrm>
          <a:off x="5105401" y="2780281"/>
          <a:ext cx="3722076" cy="3620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2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97867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Giải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chemeClr val="tx1"/>
                          </a:solidFill>
                        </a:rPr>
                        <a:t>Nếu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chemeClr val="tx1"/>
                          </a:solidFill>
                        </a:rPr>
                        <a:t>dùng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qui </a:t>
                      </a:r>
                      <a:r>
                        <a:rPr lang="en-US" sz="2400" baseline="0" dirty="0" err="1">
                          <a:solidFill>
                            <a:schemeClr val="tx1"/>
                          </a:solidFill>
                        </a:rPr>
                        <a:t>tắc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cm </a:t>
                      </a:r>
                      <a:r>
                        <a:rPr lang="en-US" sz="2400" baseline="0" dirty="0" err="1">
                          <a:solidFill>
                            <a:schemeClr val="tx1"/>
                          </a:solidFill>
                        </a:rPr>
                        <a:t>phản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chemeClr val="tx1"/>
                          </a:solidFill>
                        </a:rPr>
                        <a:t>chứng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, ta </a:t>
                      </a:r>
                      <a:r>
                        <a:rPr lang="en-US" sz="2400" baseline="0" dirty="0" err="1">
                          <a:solidFill>
                            <a:schemeClr val="tx1"/>
                          </a:solidFill>
                        </a:rPr>
                        <a:t>cần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chemeClr val="tx1"/>
                          </a:solidFill>
                        </a:rPr>
                        <a:t>chứng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minh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0871">
                <a:tc>
                  <a:txBody>
                    <a:bodyPr/>
                    <a:lstStyle/>
                    <a:p>
                      <a:pPr marL="1139825" indent="0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  p 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sym typeface="Symbol"/>
                        </a:rPr>
                        <a:t> r</a:t>
                      </a:r>
                    </a:p>
                    <a:p>
                      <a:pPr marL="1139825" indent="0"/>
                      <a:r>
                        <a:rPr lang="en-US" sz="2400" dirty="0">
                          <a:solidFill>
                            <a:schemeClr val="tx1"/>
                          </a:solidFill>
                          <a:sym typeface="Symbol"/>
                        </a:rPr>
                        <a:t>p  q</a:t>
                      </a:r>
                    </a:p>
                    <a:p>
                      <a:pPr marL="1139825" indent="0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  q 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sym typeface="Symbol"/>
                        </a:rPr>
                        <a:t>s</a:t>
                      </a:r>
                    </a:p>
                    <a:p>
                      <a:pPr marL="1139825" indent="0"/>
                      <a:r>
                        <a:rPr lang="en-US" sz="2400" dirty="0">
                          <a:solidFill>
                            <a:schemeClr val="tx1"/>
                          </a:solidFill>
                          <a:sym typeface="Symbol"/>
                        </a:rPr>
                        <a:t>r</a:t>
                      </a:r>
                    </a:p>
                    <a:p>
                      <a:pPr marL="1139825" indent="0"/>
                      <a:r>
                        <a:rPr lang="en-US" sz="2400" dirty="0">
                          <a:solidFill>
                            <a:schemeClr val="tx1"/>
                          </a:solidFill>
                          <a:sym typeface="Symbol"/>
                        </a:rPr>
                        <a:t>s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294">
                <a:tc>
                  <a:txBody>
                    <a:bodyPr/>
                    <a:lstStyle/>
                    <a:p>
                      <a:pPr marL="113982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sym typeface="Symbol"/>
                        </a:rPr>
                        <a:t>0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Hình chữ nhật 6"/>
          <p:cNvSpPr/>
          <p:nvPr/>
        </p:nvSpPr>
        <p:spPr>
          <a:xfrm>
            <a:off x="381000" y="5371148"/>
            <a:ext cx="4278922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 err="1">
                <a:solidFill>
                  <a:schemeClr val="accent2"/>
                </a:solidFill>
              </a:rPr>
              <a:t>Chú</a:t>
            </a:r>
            <a:r>
              <a:rPr lang="en-US" dirty="0">
                <a:solidFill>
                  <a:schemeClr val="accent2"/>
                </a:solidFill>
              </a:rPr>
              <a:t> ý: </a:t>
            </a:r>
            <a:r>
              <a:rPr lang="en-US" dirty="0" err="1">
                <a:solidFill>
                  <a:schemeClr val="tx1"/>
                </a:solidFill>
              </a:rPr>
              <a:t>Để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chứng</a:t>
            </a:r>
            <a:r>
              <a:rPr lang="en-US" dirty="0">
                <a:solidFill>
                  <a:schemeClr val="tx1"/>
                </a:solidFill>
              </a:rPr>
              <a:t> minh </a:t>
            </a:r>
            <a:r>
              <a:rPr lang="en-US" dirty="0" err="1">
                <a:solidFill>
                  <a:schemeClr val="tx1"/>
                </a:solidFill>
              </a:rPr>
              <a:t>suy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luận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đúng</a:t>
            </a:r>
            <a:r>
              <a:rPr lang="en-US" dirty="0">
                <a:solidFill>
                  <a:schemeClr val="tx1"/>
                </a:solidFill>
              </a:rPr>
              <a:t> ta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thể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không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sử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dụng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tắc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chứng</a:t>
            </a:r>
            <a:r>
              <a:rPr lang="en-US" dirty="0">
                <a:solidFill>
                  <a:schemeClr val="tx1"/>
                </a:solidFill>
              </a:rPr>
              <a:t> minh </a:t>
            </a:r>
            <a:r>
              <a:rPr lang="en-US" dirty="0" err="1">
                <a:solidFill>
                  <a:schemeClr val="tx1"/>
                </a:solidFill>
              </a:rPr>
              <a:t>phản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chứng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chứng</a:t>
            </a:r>
            <a:r>
              <a:rPr lang="en-US" dirty="0">
                <a:solidFill>
                  <a:schemeClr val="tx1"/>
                </a:solidFill>
              </a:rPr>
              <a:t> minh </a:t>
            </a:r>
            <a:r>
              <a:rPr lang="en-US" dirty="0" err="1">
                <a:solidFill>
                  <a:schemeClr val="tx1"/>
                </a:solidFill>
              </a:rPr>
              <a:t>trực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tiếp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vi-V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0" algn="just">
              <a:buClr>
                <a:srgbClr val="FF0000"/>
              </a:buClr>
              <a:buNone/>
            </a:pPr>
            <a:r>
              <a:rPr lang="vi-VN" dirty="0">
                <a:solidFill>
                  <a:srgbClr val="FF0000"/>
                </a:solidFill>
              </a:rPr>
              <a:t>7. Qui tắc chứng minh theo trường hợp 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vi-VN" dirty="0">
              <a:solidFill>
                <a:srgbClr val="FF0000"/>
              </a:solidFill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/>
              <a:t>          [(p </a:t>
            </a:r>
            <a:r>
              <a:rPr lang="en-US" dirty="0">
                <a:sym typeface="Symbol"/>
              </a:rPr>
              <a:t> r)  (q  r)] </a:t>
            </a:r>
            <a:r>
              <a:rPr lang="vi-VN" dirty="0">
                <a:sym typeface="Symbol"/>
              </a:rPr>
              <a:t></a:t>
            </a:r>
            <a:r>
              <a:rPr lang="en-US" dirty="0">
                <a:sym typeface="Symbol"/>
              </a:rPr>
              <a:t> [(p  q)r]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olidFill>
                  <a:schemeClr val="accent2"/>
                </a:solidFill>
                <a:sym typeface="Symbol"/>
              </a:rPr>
              <a:t>* </a:t>
            </a:r>
            <a:r>
              <a:rPr lang="en-US" dirty="0" err="1">
                <a:solidFill>
                  <a:schemeClr val="accent2"/>
                </a:solidFill>
                <a:sym typeface="Symbol"/>
              </a:rPr>
              <a:t>Tổng</a:t>
            </a:r>
            <a:r>
              <a:rPr lang="en-US" dirty="0">
                <a:solidFill>
                  <a:schemeClr val="accent2"/>
                </a:solidFill>
                <a:sym typeface="Symbol"/>
              </a:rPr>
              <a:t> </a:t>
            </a:r>
            <a:r>
              <a:rPr lang="en-US" dirty="0" err="1">
                <a:solidFill>
                  <a:schemeClr val="accent2"/>
                </a:solidFill>
                <a:sym typeface="Symbol"/>
              </a:rPr>
              <a:t>quát</a:t>
            </a:r>
            <a:r>
              <a:rPr lang="en-US" dirty="0">
                <a:solidFill>
                  <a:schemeClr val="accent2"/>
                </a:solidFill>
                <a:sym typeface="Symbol"/>
              </a:rPr>
              <a:t>: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olidFill>
                <a:srgbClr val="FF0000"/>
              </a:solidFill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</a:t>
            </a:r>
            <a:r>
              <a:rPr lang="en-US" sz="4800" b="1" dirty="0" err="1"/>
              <a:t>tắc</a:t>
            </a:r>
            <a:r>
              <a:rPr lang="en-US" sz="4800" b="1" dirty="0"/>
              <a:t> </a:t>
            </a:r>
            <a:r>
              <a:rPr lang="en-US" sz="4800" b="1" dirty="0" err="1"/>
              <a:t>suy</a:t>
            </a:r>
            <a:r>
              <a:rPr lang="en-US" sz="4800" b="1" dirty="0"/>
              <a:t> </a:t>
            </a:r>
            <a:r>
              <a:rPr lang="en-US" sz="4800" b="1" dirty="0" err="1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34</a:t>
            </a:fld>
            <a:endParaRPr lang="en-US" dirty="0"/>
          </a:p>
        </p:txBody>
      </p:sp>
      <p:graphicFrame>
        <p:nvGraphicFramePr>
          <p:cNvPr id="191490" name="Object 2"/>
          <p:cNvGraphicFramePr>
            <a:graphicFrameLocks noChangeAspect="1"/>
          </p:cNvGraphicFramePr>
          <p:nvPr/>
        </p:nvGraphicFramePr>
        <p:xfrm>
          <a:off x="2546350" y="3276600"/>
          <a:ext cx="50546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054400" imgH="1041120" progId="Equation.DSMT4">
                  <p:embed/>
                </p:oleObj>
              </mc:Choice>
              <mc:Fallback>
                <p:oleObj name="Equation" r:id="rId2" imgW="5054400" imgH="1041120" progId="Equation.DSMT4">
                  <p:embed/>
                  <p:pic>
                    <p:nvPicPr>
                      <p:cNvPr id="19149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6350" y="3276600"/>
                        <a:ext cx="50546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olidFill>
                  <a:srgbClr val="FF0000"/>
                </a:solidFill>
                <a:sym typeface="Symbol"/>
              </a:rPr>
              <a:t>8.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Phản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ví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dụ</a:t>
            </a:r>
            <a:r>
              <a:rPr lang="en-US" dirty="0">
                <a:solidFill>
                  <a:srgbClr val="FF0000"/>
                </a:solidFill>
                <a:sym typeface="Symbol"/>
              </a:rPr>
              <a:t>: (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chỉ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sử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dụng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để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chứng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minh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suy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luận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không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đúng</a:t>
            </a:r>
            <a:r>
              <a:rPr lang="en-US" dirty="0">
                <a:solidFill>
                  <a:srgbClr val="FF0000"/>
                </a:solidFill>
                <a:sym typeface="Symbol"/>
              </a:rPr>
              <a:t>)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Để chứng minh một phép suy </a:t>
            </a:r>
            <a:r>
              <a:rPr lang="vi-VN" dirty="0" err="1">
                <a:sym typeface="Symbol"/>
              </a:rPr>
              <a:t>luận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là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olidFill>
                  <a:srgbClr val="0070C0"/>
                </a:solidFill>
                <a:sym typeface="Symbol"/>
              </a:rPr>
              <a:t>không</a:t>
            </a:r>
            <a:r>
              <a:rPr lang="en-US" dirty="0">
                <a:solidFill>
                  <a:srgbClr val="0070C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0070C0"/>
                </a:solidFill>
                <a:sym typeface="Symbol"/>
              </a:rPr>
              <a:t>đúng</a:t>
            </a:r>
            <a:r>
              <a:rPr lang="en-US" dirty="0">
                <a:sym typeface="Symbol"/>
              </a:rPr>
              <a:t> t</a:t>
            </a:r>
            <a:r>
              <a:rPr lang="vi-VN" dirty="0">
                <a:sym typeface="Symbol"/>
              </a:rPr>
              <a:t>a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chỉ cần chỉ ra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một phản ví dụ</a:t>
            </a:r>
            <a:r>
              <a:rPr lang="en-US" dirty="0">
                <a:sym typeface="Symbol"/>
              </a:rPr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</a:t>
            </a:r>
            <a:r>
              <a:rPr lang="en-US" sz="4800" b="1" dirty="0" err="1"/>
              <a:t>tắc</a:t>
            </a:r>
            <a:r>
              <a:rPr lang="en-US" sz="4800" b="1" dirty="0"/>
              <a:t> </a:t>
            </a:r>
            <a:r>
              <a:rPr lang="en-US" sz="4800" b="1" dirty="0" err="1"/>
              <a:t>suy</a:t>
            </a:r>
            <a:r>
              <a:rPr lang="en-US" sz="4800" b="1" dirty="0"/>
              <a:t> </a:t>
            </a:r>
            <a:r>
              <a:rPr lang="en-US" sz="4800" b="1" dirty="0" err="1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38200" y="3657600"/>
            <a:ext cx="80772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sz="2800" dirty="0" err="1">
                <a:sym typeface="Symbol"/>
              </a:rPr>
              <a:t>Để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tìm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một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phản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ví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dụ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ta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chỉ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cần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chỉ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ra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một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trường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hợp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về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chân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trị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của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các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biến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mệnh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đề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sao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cho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olidFill>
                  <a:srgbClr val="00B0F0"/>
                </a:solidFill>
                <a:sym typeface="Symbol"/>
              </a:rPr>
              <a:t>các</a:t>
            </a:r>
            <a:r>
              <a:rPr lang="en-US" sz="2800" dirty="0">
                <a:solidFill>
                  <a:srgbClr val="00B0F0"/>
                </a:solidFill>
                <a:sym typeface="Symbol"/>
              </a:rPr>
              <a:t> </a:t>
            </a:r>
            <a:r>
              <a:rPr lang="en-US" sz="2800" dirty="0" err="1">
                <a:solidFill>
                  <a:srgbClr val="00B0F0"/>
                </a:solidFill>
                <a:sym typeface="Symbol"/>
              </a:rPr>
              <a:t>tiên</a:t>
            </a:r>
            <a:r>
              <a:rPr lang="en-US" sz="2800" dirty="0">
                <a:solidFill>
                  <a:srgbClr val="00B0F0"/>
                </a:solidFill>
                <a:sym typeface="Symbol"/>
              </a:rPr>
              <a:t> </a:t>
            </a:r>
            <a:r>
              <a:rPr lang="en-US" sz="2800" dirty="0" err="1">
                <a:solidFill>
                  <a:srgbClr val="00B0F0"/>
                </a:solidFill>
                <a:sym typeface="Symbol"/>
              </a:rPr>
              <a:t>đề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trong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phép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suy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luận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olidFill>
                  <a:srgbClr val="00B0F0"/>
                </a:solidFill>
                <a:sym typeface="Symbol"/>
              </a:rPr>
              <a:t>là</a:t>
            </a:r>
            <a:r>
              <a:rPr lang="en-US" sz="2800" dirty="0">
                <a:solidFill>
                  <a:srgbClr val="00B0F0"/>
                </a:solidFill>
                <a:sym typeface="Symbol"/>
              </a:rPr>
              <a:t> </a:t>
            </a:r>
            <a:r>
              <a:rPr lang="en-US" sz="2800" dirty="0" err="1">
                <a:solidFill>
                  <a:srgbClr val="00B0F0"/>
                </a:solidFill>
                <a:sym typeface="Symbol"/>
              </a:rPr>
              <a:t>đúng</a:t>
            </a:r>
            <a:r>
              <a:rPr lang="en-US" sz="2800" dirty="0">
                <a:solidFill>
                  <a:srgbClr val="00B0F0"/>
                </a:solidFill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còn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olidFill>
                  <a:srgbClr val="00B050"/>
                </a:solidFill>
                <a:sym typeface="Symbol"/>
              </a:rPr>
              <a:t>kết</a:t>
            </a:r>
            <a:r>
              <a:rPr lang="en-US" sz="2800" dirty="0">
                <a:solidFill>
                  <a:srgbClr val="00B050"/>
                </a:solidFill>
                <a:sym typeface="Symbol"/>
              </a:rPr>
              <a:t> </a:t>
            </a:r>
            <a:r>
              <a:rPr lang="en-US" sz="2800" dirty="0" err="1">
                <a:solidFill>
                  <a:srgbClr val="00B050"/>
                </a:solidFill>
                <a:sym typeface="Symbol"/>
              </a:rPr>
              <a:t>luận</a:t>
            </a:r>
            <a:r>
              <a:rPr lang="en-US" sz="2800" dirty="0">
                <a:solidFill>
                  <a:srgbClr val="00B050"/>
                </a:solidFill>
                <a:sym typeface="Symbol"/>
              </a:rPr>
              <a:t> </a:t>
            </a:r>
            <a:r>
              <a:rPr lang="en-US" sz="2800" dirty="0" err="1">
                <a:solidFill>
                  <a:srgbClr val="00B050"/>
                </a:solidFill>
                <a:sym typeface="Symbol"/>
              </a:rPr>
              <a:t>là</a:t>
            </a:r>
            <a:r>
              <a:rPr lang="en-US" sz="2800" dirty="0">
                <a:solidFill>
                  <a:srgbClr val="00B050"/>
                </a:solidFill>
                <a:sym typeface="Symbol"/>
              </a:rPr>
              <a:t> </a:t>
            </a:r>
            <a:r>
              <a:rPr lang="en-US" sz="2800" dirty="0" err="1">
                <a:solidFill>
                  <a:srgbClr val="00B050"/>
                </a:solidFill>
                <a:sym typeface="Symbol"/>
              </a:rPr>
              <a:t>sai</a:t>
            </a:r>
            <a:r>
              <a:rPr lang="en-US" sz="2800" dirty="0">
                <a:solidFill>
                  <a:srgbClr val="00B050"/>
                </a:solidFill>
                <a:sym typeface="Symbol"/>
              </a:rPr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305800" cy="5029200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olidFill>
                  <a:srgbClr val="FF0000"/>
                </a:solidFill>
                <a:sym typeface="Symbol"/>
              </a:rPr>
              <a:t>8.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Phản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ví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dụ</a:t>
            </a:r>
            <a:r>
              <a:rPr lang="en-US" dirty="0">
                <a:solidFill>
                  <a:srgbClr val="FF0000"/>
                </a:solidFill>
                <a:sym typeface="Symbol"/>
              </a:rPr>
              <a:t>: 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>
                <a:solidFill>
                  <a:srgbClr val="FF0000"/>
                </a:solidFill>
                <a:sym typeface="Symbol"/>
              </a:rPr>
              <a:t>Ví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dụ</a:t>
            </a:r>
            <a:r>
              <a:rPr lang="en-US" dirty="0">
                <a:solidFill>
                  <a:srgbClr val="FF0000"/>
                </a:solidFill>
                <a:sym typeface="Symbol"/>
              </a:rPr>
              <a:t>: </a:t>
            </a:r>
            <a:r>
              <a:rPr lang="en-US" dirty="0">
                <a:sym typeface="Symbol"/>
              </a:rPr>
              <a:t>CM </a:t>
            </a:r>
            <a:r>
              <a:rPr lang="en-US" dirty="0" err="1">
                <a:sym typeface="Symbol"/>
              </a:rPr>
              <a:t>suy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luận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sau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không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đúng</a:t>
            </a:r>
            <a:r>
              <a:rPr lang="en-US" dirty="0">
                <a:sym typeface="Symbol"/>
              </a:rPr>
              <a:t>: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>
                <a:solidFill>
                  <a:schemeClr val="accent2"/>
                </a:solidFill>
                <a:sym typeface="Symbol"/>
              </a:rPr>
              <a:t>Mục</a:t>
            </a:r>
            <a:r>
              <a:rPr lang="en-US" dirty="0">
                <a:solidFill>
                  <a:schemeClr val="accent2"/>
                </a:solidFill>
                <a:sym typeface="Symbol"/>
              </a:rPr>
              <a:t> </a:t>
            </a:r>
            <a:r>
              <a:rPr lang="en-US" dirty="0" err="1">
                <a:solidFill>
                  <a:schemeClr val="accent2"/>
                </a:solidFill>
                <a:sym typeface="Symbol"/>
              </a:rPr>
              <a:t>đích</a:t>
            </a:r>
            <a:r>
              <a:rPr lang="en-US" dirty="0">
                <a:solidFill>
                  <a:schemeClr val="accent2"/>
                </a:solidFill>
                <a:sym typeface="Symbol"/>
              </a:rPr>
              <a:t>: </a:t>
            </a:r>
            <a:r>
              <a:rPr lang="en-US" dirty="0">
                <a:sym typeface="Symbol"/>
              </a:rPr>
              <a:t>Ta </a:t>
            </a:r>
            <a:r>
              <a:rPr lang="en-US" dirty="0" err="1">
                <a:sym typeface="Symbol"/>
              </a:rPr>
              <a:t>sẽ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tìm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p,q,r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thỏa</a:t>
            </a: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  <a:p>
            <a:pPr marL="0" indent="165100">
              <a:buClr>
                <a:srgbClr val="FF0000"/>
              </a:buClr>
              <a:buNone/>
            </a:pPr>
            <a:r>
              <a:rPr lang="en-US" dirty="0" err="1">
                <a:sym typeface="Symbol"/>
              </a:rPr>
              <a:t>Dễ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dàng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tìm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thấy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một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phản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ví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dụ</a:t>
            </a:r>
            <a:r>
              <a:rPr lang="en-US" dirty="0">
                <a:sym typeface="Symbol"/>
              </a:rPr>
              <a:t>:  p=1,q=0,r=1.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</a:t>
            </a:r>
            <a:r>
              <a:rPr lang="en-US" sz="4800" b="1" dirty="0" err="1"/>
              <a:t>tắc</a:t>
            </a:r>
            <a:r>
              <a:rPr lang="en-US" sz="4800" b="1" dirty="0"/>
              <a:t> </a:t>
            </a:r>
            <a:r>
              <a:rPr lang="en-US" sz="4800" b="1" dirty="0" err="1"/>
              <a:t>suy</a:t>
            </a:r>
            <a:r>
              <a:rPr lang="en-US" sz="4800" b="1" dirty="0"/>
              <a:t> </a:t>
            </a:r>
            <a:r>
              <a:rPr lang="en-US" sz="4800" b="1" dirty="0" err="1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81800" y="6477000"/>
            <a:ext cx="1905000" cy="228600"/>
          </a:xfrm>
        </p:spPr>
        <p:txBody>
          <a:bodyPr/>
          <a:lstStyle/>
          <a:p>
            <a:fld id="{3D9E56B6-077A-4A36-A778-66B152E4D643}" type="slidenum">
              <a:rPr lang="en-US" smtClean="0"/>
              <a:pPr/>
              <a:t>36</a:t>
            </a:fld>
            <a:endParaRPr lang="en-US" dirty="0"/>
          </a:p>
        </p:txBody>
      </p:sp>
      <p:graphicFrame>
        <p:nvGraphicFramePr>
          <p:cNvPr id="194561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8107227"/>
              </p:ext>
            </p:extLst>
          </p:nvPr>
        </p:nvGraphicFramePr>
        <p:xfrm>
          <a:off x="6656785" y="1567290"/>
          <a:ext cx="1752600" cy="186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7160" imgH="495000" progId="Equation.3">
                  <p:embed/>
                </p:oleObj>
              </mc:Choice>
              <mc:Fallback>
                <p:oleObj name="Equation" r:id="rId2" imgW="317160" imgH="495000" progId="Equation.3">
                  <p:embed/>
                  <p:pic>
                    <p:nvPicPr>
                      <p:cNvPr id="194561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6785" y="1567290"/>
                        <a:ext cx="1752600" cy="186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1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767400"/>
              </p:ext>
            </p:extLst>
          </p:nvPr>
        </p:nvGraphicFramePr>
        <p:xfrm>
          <a:off x="5660231" y="3352800"/>
          <a:ext cx="2243138" cy="186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6080" imgH="495000" progId="Equation.3">
                  <p:embed/>
                </p:oleObj>
              </mc:Choice>
              <mc:Fallback>
                <p:oleObj name="Equation" r:id="rId4" imgW="406080" imgH="495000" progId="Equation.3">
                  <p:embed/>
                  <p:pic>
                    <p:nvPicPr>
                      <p:cNvPr id="2201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0231" y="3352800"/>
                        <a:ext cx="2243138" cy="186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305800" cy="5029200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olidFill>
                  <a:srgbClr val="FF0000"/>
                </a:solidFill>
                <a:sym typeface="Symbol"/>
              </a:rPr>
              <a:t>8.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Phản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ví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dụ</a:t>
            </a:r>
            <a:r>
              <a:rPr lang="en-US" dirty="0">
                <a:solidFill>
                  <a:srgbClr val="FF0000"/>
                </a:solidFill>
                <a:sym typeface="Symbol"/>
              </a:rPr>
              <a:t>: 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>
                <a:solidFill>
                  <a:srgbClr val="FF0000"/>
                </a:solidFill>
                <a:sym typeface="Symbol"/>
              </a:rPr>
              <a:t>Ví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dụ</a:t>
            </a:r>
            <a:r>
              <a:rPr lang="en-US" dirty="0">
                <a:solidFill>
                  <a:srgbClr val="FF0000"/>
                </a:solidFill>
                <a:sym typeface="Symbol"/>
              </a:rPr>
              <a:t>: </a:t>
            </a:r>
            <a:r>
              <a:rPr lang="en-US" dirty="0">
                <a:sym typeface="Symbol"/>
              </a:rPr>
              <a:t>CM </a:t>
            </a:r>
            <a:r>
              <a:rPr lang="en-US" dirty="0" err="1">
                <a:sym typeface="Symbol"/>
              </a:rPr>
              <a:t>suy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luận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sau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không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đúng</a:t>
            </a:r>
            <a:r>
              <a:rPr lang="en-US" dirty="0">
                <a:sym typeface="Symbol"/>
              </a:rPr>
              <a:t>: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olidFill>
                <a:schemeClr val="accent2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>
                <a:solidFill>
                  <a:schemeClr val="accent2"/>
                </a:solidFill>
                <a:sym typeface="Symbol"/>
              </a:rPr>
              <a:t>Giải:</a:t>
            </a:r>
            <a:r>
              <a:rPr lang="en-US" dirty="0" err="1">
                <a:sym typeface="Symbol"/>
              </a:rPr>
              <a:t>Chọn</a:t>
            </a:r>
            <a:r>
              <a:rPr lang="en-US" dirty="0">
                <a:sym typeface="Symbol"/>
              </a:rPr>
              <a:t> p=1,q=0,r=1, </a:t>
            </a:r>
            <a:r>
              <a:rPr lang="en-US" dirty="0" err="1">
                <a:sym typeface="Symbol"/>
              </a:rPr>
              <a:t>khi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đó</a:t>
            </a:r>
            <a:r>
              <a:rPr lang="en-US" dirty="0">
                <a:sym typeface="Symbol"/>
              </a:rPr>
              <a:t> ta </a:t>
            </a:r>
            <a:r>
              <a:rPr lang="en-US" dirty="0" err="1">
                <a:sym typeface="Symbol"/>
              </a:rPr>
              <a:t>có</a:t>
            </a:r>
            <a:r>
              <a:rPr lang="en-US" dirty="0">
                <a:sym typeface="Symbol"/>
              </a:rPr>
              <a:t>: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  <a:p>
            <a:pPr marL="0" indent="165100">
              <a:buClr>
                <a:srgbClr val="FF0000"/>
              </a:buClr>
              <a:buNone/>
            </a:pPr>
            <a:r>
              <a:rPr lang="en-US" dirty="0" err="1">
                <a:sym typeface="Symbol"/>
              </a:rPr>
              <a:t>Vậy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suy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luận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đã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cho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là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không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đúng</a:t>
            </a:r>
            <a:r>
              <a:rPr lang="en-US" dirty="0">
                <a:sym typeface="Symbol"/>
              </a:rPr>
              <a:t> (</a:t>
            </a:r>
            <a:r>
              <a:rPr lang="en-US" dirty="0" err="1">
                <a:sym typeface="Symbol"/>
              </a:rPr>
              <a:t>đpcm</a:t>
            </a:r>
            <a:r>
              <a:rPr lang="en-US" dirty="0">
                <a:sym typeface="Symbol"/>
              </a:rPr>
              <a:t>).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</a:t>
            </a:r>
            <a:r>
              <a:rPr lang="en-US" sz="4800" b="1" dirty="0" err="1"/>
              <a:t>tắc</a:t>
            </a:r>
            <a:r>
              <a:rPr lang="en-US" sz="4800" b="1" dirty="0"/>
              <a:t> </a:t>
            </a:r>
            <a:r>
              <a:rPr lang="en-US" sz="4800" b="1" dirty="0" err="1"/>
              <a:t>suy</a:t>
            </a:r>
            <a:r>
              <a:rPr lang="en-US" sz="4800" b="1" dirty="0"/>
              <a:t> </a:t>
            </a:r>
            <a:r>
              <a:rPr lang="en-US" sz="4800" b="1" dirty="0" err="1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81800" y="6477000"/>
            <a:ext cx="1905000" cy="228600"/>
          </a:xfrm>
        </p:spPr>
        <p:txBody>
          <a:bodyPr/>
          <a:lstStyle/>
          <a:p>
            <a:fld id="{3D9E56B6-077A-4A36-A778-66B152E4D643}" type="slidenum">
              <a:rPr lang="en-US" smtClean="0"/>
              <a:pPr/>
              <a:t>37</a:t>
            </a:fld>
            <a:endParaRPr lang="en-US" dirty="0"/>
          </a:p>
        </p:txBody>
      </p:sp>
      <p:graphicFrame>
        <p:nvGraphicFramePr>
          <p:cNvPr id="194561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1982772"/>
              </p:ext>
            </p:extLst>
          </p:nvPr>
        </p:nvGraphicFramePr>
        <p:xfrm>
          <a:off x="6629400" y="1600200"/>
          <a:ext cx="1752600" cy="186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7160" imgH="495000" progId="Equation.3">
                  <p:embed/>
                </p:oleObj>
              </mc:Choice>
              <mc:Fallback>
                <p:oleObj name="Equation" r:id="rId2" imgW="317160" imgH="495000" progId="Equation.3">
                  <p:embed/>
                  <p:pic>
                    <p:nvPicPr>
                      <p:cNvPr id="194561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1600200"/>
                        <a:ext cx="1752600" cy="186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1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1268959"/>
              </p:ext>
            </p:extLst>
          </p:nvPr>
        </p:nvGraphicFramePr>
        <p:xfrm>
          <a:off x="3679031" y="3733800"/>
          <a:ext cx="2243138" cy="186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6080" imgH="495000" progId="Equation.3">
                  <p:embed/>
                </p:oleObj>
              </mc:Choice>
              <mc:Fallback>
                <p:oleObj name="Equation" r:id="rId4" imgW="406080" imgH="495000" progId="Equation.3">
                  <p:embed/>
                  <p:pic>
                    <p:nvPicPr>
                      <p:cNvPr id="2201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9031" y="3733800"/>
                        <a:ext cx="2243138" cy="186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145228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3733800" cy="4953000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sz="2200" dirty="0">
                <a:solidFill>
                  <a:srgbClr val="FF0000"/>
                </a:solidFill>
                <a:sym typeface="Symbol"/>
              </a:rPr>
              <a:t>8. </a:t>
            </a:r>
            <a:r>
              <a:rPr lang="en-US" sz="2200" dirty="0" err="1">
                <a:solidFill>
                  <a:srgbClr val="FF0000"/>
                </a:solidFill>
                <a:sym typeface="Symbol"/>
              </a:rPr>
              <a:t>Phản</a:t>
            </a:r>
            <a:r>
              <a:rPr lang="en-US" sz="22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200" dirty="0" err="1">
                <a:solidFill>
                  <a:srgbClr val="FF0000"/>
                </a:solidFill>
                <a:sym typeface="Symbol"/>
              </a:rPr>
              <a:t>ví</a:t>
            </a:r>
            <a:r>
              <a:rPr lang="en-US" sz="22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200" dirty="0" err="1">
                <a:solidFill>
                  <a:srgbClr val="FF0000"/>
                </a:solidFill>
                <a:sym typeface="Symbol"/>
              </a:rPr>
              <a:t>dụ</a:t>
            </a:r>
            <a:endParaRPr lang="en-US" sz="2200" dirty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sz="2200" dirty="0" err="1">
                <a:solidFill>
                  <a:srgbClr val="FF0000"/>
                </a:solidFill>
                <a:sym typeface="Symbol"/>
              </a:rPr>
              <a:t>Ví</a:t>
            </a:r>
            <a:r>
              <a:rPr lang="en-US" sz="22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200" dirty="0" err="1">
                <a:solidFill>
                  <a:srgbClr val="FF0000"/>
                </a:solidFill>
                <a:sym typeface="Symbol"/>
              </a:rPr>
              <a:t>dụ</a:t>
            </a:r>
            <a:r>
              <a:rPr lang="en-US" sz="2200" dirty="0">
                <a:solidFill>
                  <a:srgbClr val="FF0000"/>
                </a:solidFill>
                <a:sym typeface="Symbol"/>
              </a:rPr>
              <a:t>:</a:t>
            </a:r>
            <a:r>
              <a:rPr lang="en-US" sz="2200" dirty="0">
                <a:sym typeface="Symbol"/>
              </a:rPr>
              <a:t> </a:t>
            </a:r>
            <a:r>
              <a:rPr lang="vi-VN" sz="2200" dirty="0">
                <a:sym typeface="Symbol"/>
              </a:rPr>
              <a:t>Ông Minh nói rằng nếu không</a:t>
            </a:r>
            <a:r>
              <a:rPr lang="en-US" sz="2200" dirty="0">
                <a:sym typeface="Symbol"/>
              </a:rPr>
              <a:t> </a:t>
            </a:r>
            <a:r>
              <a:rPr lang="vi-VN" sz="2200" dirty="0">
                <a:sym typeface="Symbol"/>
              </a:rPr>
              <a:t>được tăng lương thì ông ta</a:t>
            </a:r>
            <a:r>
              <a:rPr lang="en-US" sz="2200" dirty="0">
                <a:sym typeface="Symbol"/>
              </a:rPr>
              <a:t> </a:t>
            </a:r>
            <a:r>
              <a:rPr lang="vi-VN" sz="2200" dirty="0">
                <a:sym typeface="Symbol"/>
              </a:rPr>
              <a:t>sẽ nghỉ việc. Mặt khác, nếu</a:t>
            </a:r>
            <a:r>
              <a:rPr lang="en-US" sz="2200" dirty="0">
                <a:sym typeface="Symbol"/>
              </a:rPr>
              <a:t> </a:t>
            </a:r>
            <a:r>
              <a:rPr lang="vi-VN" sz="2200" dirty="0">
                <a:sym typeface="Symbol"/>
              </a:rPr>
              <a:t>ông ấy nghỉ việc và vợ ông</a:t>
            </a:r>
            <a:r>
              <a:rPr lang="en-US" sz="2200" dirty="0">
                <a:sym typeface="Symbol"/>
              </a:rPr>
              <a:t> </a:t>
            </a:r>
            <a:r>
              <a:rPr lang="vi-VN" sz="2200" dirty="0">
                <a:sym typeface="Symbol"/>
              </a:rPr>
              <a:t>ấy bị mất việc thì phải bán</a:t>
            </a:r>
            <a:r>
              <a:rPr lang="en-US" sz="2200" dirty="0">
                <a:sym typeface="Symbol"/>
              </a:rPr>
              <a:t> </a:t>
            </a:r>
            <a:r>
              <a:rPr lang="vi-VN" sz="2200" dirty="0">
                <a:sym typeface="Symbol"/>
              </a:rPr>
              <a:t>xe.Biết rằng nếu vợ ông</a:t>
            </a:r>
            <a:r>
              <a:rPr lang="en-US" sz="2200" dirty="0">
                <a:sym typeface="Symbol"/>
              </a:rPr>
              <a:t> </a:t>
            </a:r>
            <a:r>
              <a:rPr lang="vi-VN" sz="2200" dirty="0">
                <a:sym typeface="Symbol"/>
              </a:rPr>
              <a:t>Minh hay  đi làm trễ thì</a:t>
            </a:r>
            <a:r>
              <a:rPr lang="en-US" sz="2200" dirty="0">
                <a:sym typeface="Symbol"/>
              </a:rPr>
              <a:t> </a:t>
            </a:r>
            <a:r>
              <a:rPr lang="vi-VN" sz="2200" dirty="0">
                <a:sym typeface="Symbol"/>
              </a:rPr>
              <a:t>trước sau gì cũng sẽ bị mất</a:t>
            </a:r>
            <a:r>
              <a:rPr lang="en-US" sz="2200" dirty="0">
                <a:sym typeface="Symbol"/>
              </a:rPr>
              <a:t> </a:t>
            </a:r>
            <a:r>
              <a:rPr lang="vi-VN" sz="2200" dirty="0">
                <a:sym typeface="Symbol"/>
              </a:rPr>
              <a:t>việc và cuối cùng ông Minh</a:t>
            </a:r>
            <a:r>
              <a:rPr lang="en-US" sz="2200" dirty="0">
                <a:sym typeface="Symbol"/>
              </a:rPr>
              <a:t> </a:t>
            </a:r>
            <a:r>
              <a:rPr lang="vi-VN" sz="2200" dirty="0">
                <a:sym typeface="Symbol"/>
              </a:rPr>
              <a:t>đã được tăng lương.</a:t>
            </a:r>
            <a:endParaRPr lang="en-US" sz="2200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sz="2200" dirty="0">
                <a:sym typeface="Symbol"/>
              </a:rPr>
              <a:t> </a:t>
            </a:r>
            <a:r>
              <a:rPr lang="vi-VN" sz="2200" dirty="0">
                <a:solidFill>
                  <a:srgbClr val="FF0000"/>
                </a:solidFill>
                <a:sym typeface="Symbol"/>
              </a:rPr>
              <a:t>Suy ra </a:t>
            </a:r>
            <a:r>
              <a:rPr lang="vi-VN" sz="2200" dirty="0">
                <a:sym typeface="Symbol"/>
              </a:rPr>
              <a:t>nếu ông Minh không</a:t>
            </a:r>
            <a:r>
              <a:rPr lang="en-US" sz="2200" dirty="0">
                <a:sym typeface="Symbol"/>
              </a:rPr>
              <a:t> </a:t>
            </a:r>
            <a:r>
              <a:rPr lang="vi-VN" sz="2200" dirty="0">
                <a:sym typeface="Symbol"/>
              </a:rPr>
              <a:t>bán xe thì vợ ông ta đã</a:t>
            </a:r>
            <a:r>
              <a:rPr lang="en-US" sz="2200" dirty="0">
                <a:sym typeface="Symbol"/>
              </a:rPr>
              <a:t> </a:t>
            </a:r>
            <a:r>
              <a:rPr lang="vi-VN" sz="2200" dirty="0">
                <a:sym typeface="Symbol"/>
              </a:rPr>
              <a:t>không đi làm trễ</a:t>
            </a:r>
            <a:r>
              <a:rPr lang="en-US" sz="2200" dirty="0">
                <a:sym typeface="Symbol"/>
              </a:rPr>
              <a:t>.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en-US" sz="2200" dirty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</a:t>
            </a:r>
            <a:r>
              <a:rPr lang="en-US" sz="4800" b="1" dirty="0" err="1"/>
              <a:t>tắc</a:t>
            </a:r>
            <a:r>
              <a:rPr lang="en-US" sz="4800" b="1" dirty="0"/>
              <a:t> </a:t>
            </a:r>
            <a:r>
              <a:rPr lang="en-US" sz="4800" b="1" dirty="0" err="1"/>
              <a:t>suy</a:t>
            </a:r>
            <a:r>
              <a:rPr lang="en-US" sz="4800" b="1" dirty="0"/>
              <a:t> </a:t>
            </a:r>
            <a:r>
              <a:rPr lang="en-US" sz="4800" b="1" dirty="0" err="1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724400" y="1676400"/>
            <a:ext cx="37338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indent="165100" algn="just" eaLnBrk="1" hangingPunct="1">
              <a:spcBef>
                <a:spcPct val="20000"/>
              </a:spcBef>
              <a:buClr>
                <a:srgbClr val="FF0000"/>
              </a:buClr>
              <a:buSzPct val="90000"/>
            </a:pPr>
            <a:r>
              <a:rPr lang="vi-VN" sz="2000" kern="0" dirty="0">
                <a:solidFill>
                  <a:srgbClr val="FF0000"/>
                </a:solidFill>
                <a:latin typeface="+mn-lt"/>
                <a:sym typeface="Symbol"/>
              </a:rPr>
              <a:t>p</a:t>
            </a:r>
            <a:r>
              <a:rPr lang="vi-VN" sz="2000" kern="0" dirty="0">
                <a:solidFill>
                  <a:srgbClr val="009900"/>
                </a:solidFill>
                <a:latin typeface="+mn-lt"/>
                <a:sym typeface="Symbol"/>
              </a:rPr>
              <a:t>: ông Minh được tăng</a:t>
            </a:r>
            <a:r>
              <a:rPr lang="en-US" sz="2000" kern="0" dirty="0">
                <a:solidFill>
                  <a:srgbClr val="009900"/>
                </a:solidFill>
                <a:latin typeface="+mn-lt"/>
                <a:sym typeface="Symbol"/>
              </a:rPr>
              <a:t> </a:t>
            </a:r>
            <a:r>
              <a:rPr lang="vi-VN" sz="2000" kern="0" dirty="0">
                <a:solidFill>
                  <a:srgbClr val="009900"/>
                </a:solidFill>
                <a:latin typeface="+mn-lt"/>
                <a:sym typeface="Symbol"/>
              </a:rPr>
              <a:t>lương.</a:t>
            </a:r>
          </a:p>
          <a:p>
            <a:pPr lvl="0" indent="165100" algn="just" eaLnBrk="1" hangingPunct="1">
              <a:spcBef>
                <a:spcPct val="20000"/>
              </a:spcBef>
              <a:buClr>
                <a:srgbClr val="FF0000"/>
              </a:buClr>
              <a:buSzPct val="90000"/>
            </a:pPr>
            <a:r>
              <a:rPr lang="vi-VN" sz="2000" kern="0" dirty="0">
                <a:solidFill>
                  <a:srgbClr val="FF0000"/>
                </a:solidFill>
                <a:latin typeface="+mn-lt"/>
                <a:sym typeface="Symbol"/>
              </a:rPr>
              <a:t>q</a:t>
            </a:r>
            <a:r>
              <a:rPr lang="vi-VN" sz="2000" kern="0" dirty="0">
                <a:solidFill>
                  <a:srgbClr val="009900"/>
                </a:solidFill>
                <a:latin typeface="+mn-lt"/>
                <a:sym typeface="Symbol"/>
              </a:rPr>
              <a:t>: ông Minh nghỉ việc.</a:t>
            </a:r>
          </a:p>
          <a:p>
            <a:pPr lvl="0" indent="165100" algn="just" eaLnBrk="1" hangingPunct="1">
              <a:spcBef>
                <a:spcPct val="20000"/>
              </a:spcBef>
              <a:buClr>
                <a:srgbClr val="FF0000"/>
              </a:buClr>
              <a:buSzPct val="90000"/>
            </a:pPr>
            <a:r>
              <a:rPr lang="vi-VN" sz="2000" kern="0" dirty="0">
                <a:solidFill>
                  <a:srgbClr val="FF0000"/>
                </a:solidFill>
                <a:latin typeface="+mn-lt"/>
                <a:sym typeface="Symbol"/>
              </a:rPr>
              <a:t>r</a:t>
            </a:r>
            <a:r>
              <a:rPr lang="vi-VN" sz="2000" kern="0" dirty="0">
                <a:solidFill>
                  <a:srgbClr val="009900"/>
                </a:solidFill>
                <a:latin typeface="+mn-lt"/>
                <a:sym typeface="Symbol"/>
              </a:rPr>
              <a:t>: vợ ông Minh mất việc.</a:t>
            </a:r>
          </a:p>
          <a:p>
            <a:pPr lvl="0" indent="165100" algn="just" eaLnBrk="1" hangingPunct="1">
              <a:spcBef>
                <a:spcPct val="20000"/>
              </a:spcBef>
              <a:buClr>
                <a:srgbClr val="FF0000"/>
              </a:buClr>
              <a:buSzPct val="90000"/>
            </a:pPr>
            <a:r>
              <a:rPr lang="vi-VN" sz="2000" kern="0" dirty="0">
                <a:solidFill>
                  <a:srgbClr val="FF0000"/>
                </a:solidFill>
                <a:latin typeface="+mn-lt"/>
                <a:sym typeface="Symbol"/>
              </a:rPr>
              <a:t>s</a:t>
            </a:r>
            <a:r>
              <a:rPr lang="vi-VN" sz="2000" kern="0" dirty="0">
                <a:solidFill>
                  <a:srgbClr val="009900"/>
                </a:solidFill>
                <a:latin typeface="+mn-lt"/>
                <a:sym typeface="Symbol"/>
              </a:rPr>
              <a:t>: gia đình phải bán xe.</a:t>
            </a:r>
          </a:p>
          <a:p>
            <a:pPr lvl="0" indent="165100" algn="just" eaLnBrk="1" hangingPunct="1">
              <a:spcBef>
                <a:spcPct val="20000"/>
              </a:spcBef>
              <a:buClr>
                <a:srgbClr val="FF0000"/>
              </a:buClr>
              <a:buSzPct val="90000"/>
            </a:pPr>
            <a:r>
              <a:rPr lang="vi-VN" sz="2000" kern="0" dirty="0">
                <a:solidFill>
                  <a:srgbClr val="FF0000"/>
                </a:solidFill>
                <a:latin typeface="+mn-lt"/>
                <a:sym typeface="Symbol"/>
              </a:rPr>
              <a:t>t</a:t>
            </a:r>
            <a:r>
              <a:rPr lang="vi-VN" sz="2000" kern="0" dirty="0">
                <a:solidFill>
                  <a:srgbClr val="009900"/>
                </a:solidFill>
                <a:latin typeface="+mn-lt"/>
                <a:sym typeface="Symbol"/>
              </a:rPr>
              <a:t>: vợ ông hay đi làm trể.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10200" y="3733800"/>
          <a:ext cx="1905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8980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sym typeface="Symbol"/>
                        </a:rPr>
                        <a:t>p  q</a:t>
                      </a:r>
                    </a:p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sym typeface="Symbol"/>
                        </a:rPr>
                        <a:t>   q  r  s</a:t>
                      </a:r>
                    </a:p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sym typeface="Symbol"/>
                        </a:rPr>
                        <a:t>   t  r</a:t>
                      </a:r>
                    </a:p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sym typeface="Symbol"/>
                        </a:rPr>
                        <a:t>   p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592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sym typeface="Symbol"/>
                        </a:rPr>
                        <a:t>st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Ví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dụ</a:t>
            </a:r>
            <a:r>
              <a:rPr lang="en-US" dirty="0">
                <a:solidFill>
                  <a:srgbClr val="FF0000"/>
                </a:solidFill>
                <a:sym typeface="Symbol"/>
              </a:rPr>
              <a:t>: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Kiểm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tra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tính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đúng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đắn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của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suy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luận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sau</a:t>
            </a:r>
            <a:r>
              <a:rPr lang="en-US" dirty="0">
                <a:solidFill>
                  <a:srgbClr val="FF0000"/>
                </a:solidFill>
                <a:sym typeface="Symbol"/>
              </a:rPr>
              <a:t>: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ym typeface="Symbol"/>
              </a:rPr>
              <a:t>HD: </a:t>
            </a:r>
            <a:r>
              <a:rPr lang="en-US" dirty="0" err="1">
                <a:sym typeface="Symbol"/>
              </a:rPr>
              <a:t>Dùng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phản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ví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dụ</a:t>
            </a: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>
                <a:sym typeface="Symbol"/>
              </a:rPr>
              <a:t>Chọn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olidFill>
                <a:srgbClr val="FF0000"/>
              </a:solidFill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</a:t>
            </a:r>
            <a:r>
              <a:rPr lang="en-US" sz="4800" b="1" dirty="0" err="1"/>
              <a:t>tắc</a:t>
            </a:r>
            <a:r>
              <a:rPr lang="en-US" sz="4800" b="1" dirty="0"/>
              <a:t> </a:t>
            </a:r>
            <a:r>
              <a:rPr lang="en-US" sz="4800" b="1" dirty="0" err="1"/>
              <a:t>suy</a:t>
            </a:r>
            <a:r>
              <a:rPr lang="en-US" sz="4800" b="1" dirty="0"/>
              <a:t> </a:t>
            </a:r>
            <a:r>
              <a:rPr lang="en-US" sz="4800" b="1" dirty="0" err="1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39</a:t>
            </a:fld>
            <a:endParaRPr lang="en-US" dirty="0"/>
          </a:p>
        </p:txBody>
      </p:sp>
      <p:graphicFrame>
        <p:nvGraphicFramePr>
          <p:cNvPr id="1925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2148043"/>
              </p:ext>
            </p:extLst>
          </p:nvPr>
        </p:nvGraphicFramePr>
        <p:xfrm>
          <a:off x="3581400" y="2057400"/>
          <a:ext cx="21336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040" imgH="571320" progId="Equation.3">
                  <p:embed/>
                </p:oleObj>
              </mc:Choice>
              <mc:Fallback>
                <p:oleObj name="Equation" r:id="rId2" imgW="419040" imgH="571320" progId="Equation.3">
                  <p:embed/>
                  <p:pic>
                    <p:nvPicPr>
                      <p:cNvPr id="1925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057400"/>
                        <a:ext cx="213360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7"/>
          <p:cNvSpPr txBox="1"/>
          <p:nvPr/>
        </p:nvSpPr>
        <p:spPr>
          <a:xfrm>
            <a:off x="1778000" y="5585403"/>
            <a:ext cx="563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p=1, q=0, r=1, s=0, t=1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524000"/>
            <a:ext cx="8001000" cy="533400"/>
          </a:xfrm>
        </p:spPr>
        <p:txBody>
          <a:bodyPr/>
          <a:lstStyle/>
          <a:p>
            <a:r>
              <a:rPr lang="en-US" sz="3200" dirty="0" err="1">
                <a:solidFill>
                  <a:schemeClr val="accent2"/>
                </a:solidFill>
              </a:rPr>
              <a:t>Suy</a:t>
            </a:r>
            <a:r>
              <a:rPr lang="en-US" sz="3200" dirty="0">
                <a:solidFill>
                  <a:schemeClr val="accent2"/>
                </a:solidFill>
              </a:rPr>
              <a:t> </a:t>
            </a:r>
            <a:r>
              <a:rPr lang="en-US" sz="3200" dirty="0" err="1">
                <a:solidFill>
                  <a:schemeClr val="accent2"/>
                </a:solidFill>
              </a:rPr>
              <a:t>luận</a:t>
            </a:r>
            <a:r>
              <a:rPr lang="en-US" sz="3200" dirty="0">
                <a:solidFill>
                  <a:schemeClr val="accent2"/>
                </a:solidFill>
              </a:rPr>
              <a:t> </a:t>
            </a:r>
            <a:r>
              <a:rPr lang="en-US" sz="3200" dirty="0" err="1">
                <a:solidFill>
                  <a:schemeClr val="accent2"/>
                </a:solidFill>
              </a:rPr>
              <a:t>sau</a:t>
            </a:r>
            <a:r>
              <a:rPr lang="en-US" sz="3200" dirty="0">
                <a:solidFill>
                  <a:schemeClr val="accent2"/>
                </a:solidFill>
              </a:rPr>
              <a:t> </a:t>
            </a:r>
            <a:r>
              <a:rPr lang="en-US" sz="3200" dirty="0" err="1">
                <a:solidFill>
                  <a:schemeClr val="accent2"/>
                </a:solidFill>
              </a:rPr>
              <a:t>đúng</a:t>
            </a:r>
            <a:r>
              <a:rPr lang="en-US" sz="3200" dirty="0">
                <a:solidFill>
                  <a:schemeClr val="accent2"/>
                </a:solidFill>
              </a:rPr>
              <a:t> hay </a:t>
            </a:r>
            <a:r>
              <a:rPr lang="en-US" sz="3200" dirty="0" err="1">
                <a:solidFill>
                  <a:schemeClr val="accent2"/>
                </a:solidFill>
              </a:rPr>
              <a:t>không</a:t>
            </a:r>
            <a:r>
              <a:rPr lang="en-US" sz="3200" dirty="0">
                <a:solidFill>
                  <a:schemeClr val="accent2"/>
                </a:solidFill>
              </a:rPr>
              <a:t> </a:t>
            </a:r>
            <a:r>
              <a:rPr lang="en-US" sz="3200" dirty="0" err="1">
                <a:solidFill>
                  <a:schemeClr val="accent2"/>
                </a:solidFill>
              </a:rPr>
              <a:t>đúng</a:t>
            </a:r>
            <a:r>
              <a:rPr lang="en-US" sz="3200" dirty="0">
                <a:solidFill>
                  <a:schemeClr val="accent2"/>
                </a:solidFill>
              </a:rPr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057400"/>
            <a:ext cx="7772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1"/>
          <p:cNvSpPr txBox="1">
            <a:spLocks/>
          </p:cNvSpPr>
          <p:nvPr/>
        </p:nvSpPr>
        <p:spPr bwMode="auto">
          <a:xfrm>
            <a:off x="914400" y="277813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sz="4800" b="1" kern="0"/>
              <a:t>Qui tắc suy diễn</a:t>
            </a:r>
            <a:endParaRPr lang="en-US" sz="4400" kern="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en-US" sz="4800" b="1" dirty="0"/>
              <a:t>Qui </a:t>
            </a:r>
            <a:r>
              <a:rPr lang="en-US" sz="4800" b="1" dirty="0" err="1"/>
              <a:t>tắc</a:t>
            </a:r>
            <a:r>
              <a:rPr lang="en-US" sz="4800" b="1" dirty="0"/>
              <a:t> </a:t>
            </a:r>
            <a:r>
              <a:rPr lang="en-US" sz="4800" b="1" dirty="0" err="1"/>
              <a:t>suy</a:t>
            </a:r>
            <a:r>
              <a:rPr lang="en-US" sz="4800" b="1" dirty="0"/>
              <a:t> </a:t>
            </a:r>
            <a:r>
              <a:rPr lang="en-US" sz="4800" b="1" dirty="0" err="1"/>
              <a:t>diễn</a:t>
            </a:r>
            <a:endParaRPr lang="en-US" sz="4400" dirty="0"/>
          </a:p>
        </p:txBody>
      </p:sp>
      <p:sp>
        <p:nvSpPr>
          <p:cNvPr id="5" name="Hình chữ nhật 4"/>
          <p:cNvSpPr/>
          <p:nvPr/>
        </p:nvSpPr>
        <p:spPr>
          <a:xfrm>
            <a:off x="838200" y="1572309"/>
            <a:ext cx="754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sz="2600" dirty="0" err="1">
                <a:solidFill>
                  <a:srgbClr val="FF0000"/>
                </a:solidFill>
                <a:sym typeface="Symbol"/>
              </a:rPr>
              <a:t>Ví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dụ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: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Kiểm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tra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tính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đúng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đắn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của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suy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luận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sau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:</a:t>
            </a:r>
          </a:p>
        </p:txBody>
      </p:sp>
      <p:pic>
        <p:nvPicPr>
          <p:cNvPr id="9" name="Ảnh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286805"/>
            <a:ext cx="2800350" cy="1409700"/>
          </a:xfrm>
          <a:prstGeom prst="rect">
            <a:avLst/>
          </a:prstGeom>
        </p:spPr>
      </p:pic>
      <p:pic>
        <p:nvPicPr>
          <p:cNvPr id="10" name="Ảnh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3955092"/>
            <a:ext cx="3733800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560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en-US" sz="4800" b="1" dirty="0"/>
              <a:t>Qui </a:t>
            </a:r>
            <a:r>
              <a:rPr lang="en-US" sz="4800" b="1" dirty="0" err="1"/>
              <a:t>tắc</a:t>
            </a:r>
            <a:r>
              <a:rPr lang="en-US" sz="4800" b="1" dirty="0"/>
              <a:t> </a:t>
            </a:r>
            <a:r>
              <a:rPr lang="en-US" sz="4800" b="1" dirty="0" err="1"/>
              <a:t>suy</a:t>
            </a:r>
            <a:r>
              <a:rPr lang="en-US" sz="4800" b="1" dirty="0"/>
              <a:t> </a:t>
            </a:r>
            <a:r>
              <a:rPr lang="en-US" sz="4800" b="1" dirty="0" err="1"/>
              <a:t>diễn</a:t>
            </a:r>
            <a:endParaRPr lang="en-US" sz="4400" dirty="0"/>
          </a:p>
        </p:txBody>
      </p:sp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286000"/>
            <a:ext cx="2403231" cy="2188474"/>
          </a:xfrm>
          <a:prstGeom prst="rect">
            <a:avLst/>
          </a:prstGeom>
        </p:spPr>
      </p:pic>
      <p:pic>
        <p:nvPicPr>
          <p:cNvPr id="8" name="Ảnh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3962400"/>
            <a:ext cx="3429000" cy="1895475"/>
          </a:xfrm>
          <a:prstGeom prst="rect">
            <a:avLst/>
          </a:prstGeom>
        </p:spPr>
      </p:pic>
      <p:sp>
        <p:nvSpPr>
          <p:cNvPr id="5" name="Hình chữ nhật 4"/>
          <p:cNvSpPr/>
          <p:nvPr/>
        </p:nvSpPr>
        <p:spPr>
          <a:xfrm>
            <a:off x="838200" y="1572309"/>
            <a:ext cx="7543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sz="2600" dirty="0" err="1">
                <a:solidFill>
                  <a:srgbClr val="FF0000"/>
                </a:solidFill>
                <a:sym typeface="Symbol"/>
              </a:rPr>
              <a:t>Ví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dụ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: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Kiểm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tra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tính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đúng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đắn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của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suy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luận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sz="2600" dirty="0" err="1">
                <a:solidFill>
                  <a:srgbClr val="FF0000"/>
                </a:solidFill>
                <a:sym typeface="Symbol"/>
              </a:rPr>
              <a:t>sau</a:t>
            </a:r>
            <a:r>
              <a:rPr lang="en-US" sz="2600" dirty="0">
                <a:solidFill>
                  <a:srgbClr val="FF0000"/>
                </a:solidFill>
                <a:sym typeface="Symbol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876605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olidFill>
                  <a:srgbClr val="FF0000"/>
                </a:solidFill>
                <a:sym typeface="Symbol"/>
              </a:rPr>
              <a:t>Định nghĩa: 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olidFill>
                  <a:srgbClr val="6666FF"/>
                </a:solidFill>
                <a:sym typeface="Symbol"/>
              </a:rPr>
              <a:t>Vị từ </a:t>
            </a:r>
            <a:r>
              <a:rPr lang="vi-VN" dirty="0">
                <a:sym typeface="Symbol"/>
              </a:rPr>
              <a:t>là một khẳng định p(x,y,..), trong đó x,y...là các biến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thuộc tập hợp A, B,.. cho trước sao cho: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- Bản thân p(x,y,..) không phải là mệnh đề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- Nếu thay x,y,.. thành giá trị cụ thể thì p(x,y,..) là mệnh đề.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olidFill>
                  <a:srgbClr val="FF0000"/>
                </a:solidFill>
                <a:sym typeface="Symbol"/>
              </a:rPr>
              <a:t>Ví dụ: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- p(n) =  “n +1 là số nguyên tố”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- q(x,y) = “x + y = 1” </a:t>
            </a:r>
            <a:endParaRPr lang="en-US" dirty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Vị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r>
              <a:rPr lang="en-US" sz="4800" b="1" dirty="0"/>
              <a:t> - </a:t>
            </a:r>
            <a:r>
              <a:rPr lang="en-US" sz="4800" b="1" dirty="0" err="1"/>
              <a:t>Lượng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43</a:t>
            </a:fld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olidFill>
                  <a:srgbClr val="FF0000"/>
                </a:solidFill>
                <a:sym typeface="Symbol"/>
              </a:rPr>
              <a:t>Các phép toán trên vị từ</a:t>
            </a:r>
            <a:endParaRPr lang="en-US" dirty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Cho trước các vị từ p(x), q(x) theo một biến xA. Khi ấy, ta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cũng c</a:t>
            </a:r>
            <a:r>
              <a:rPr lang="en-US" dirty="0">
                <a:sym typeface="Symbol"/>
              </a:rPr>
              <a:t>ó</a:t>
            </a:r>
            <a:r>
              <a:rPr lang="vi-VN" dirty="0">
                <a:sym typeface="Symbol"/>
              </a:rPr>
              <a:t> các phép toán tương ứng như trên mệnh đề: </a:t>
            </a:r>
          </a:p>
          <a:p>
            <a:pPr marL="0" indent="165100" algn="just">
              <a:buClr>
                <a:srgbClr val="339966"/>
              </a:buClr>
              <a:buFont typeface="Wingdings" pitchFamily="2" charset="2"/>
              <a:buChar char="v"/>
            </a:pPr>
            <a:r>
              <a:rPr lang="vi-VN" dirty="0">
                <a:sym typeface="Symbol"/>
              </a:rPr>
              <a:t> Phủ định: p(x)</a:t>
            </a:r>
            <a:endParaRPr lang="en-US" dirty="0">
              <a:sym typeface="Symbol"/>
            </a:endParaRPr>
          </a:p>
          <a:p>
            <a:pPr marL="0" indent="165100" algn="just">
              <a:buClr>
                <a:srgbClr val="339966"/>
              </a:buClr>
              <a:buFont typeface="Wingdings" pitchFamily="2" charset="2"/>
              <a:buChar char="v"/>
            </a:pP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Phép nối liền (hội, giao): p(x)  q(x)</a:t>
            </a:r>
            <a:endParaRPr lang="en-US" dirty="0">
              <a:sym typeface="Symbol"/>
            </a:endParaRPr>
          </a:p>
          <a:p>
            <a:pPr marL="0" indent="165100" algn="just">
              <a:buClr>
                <a:srgbClr val="339966"/>
              </a:buClr>
              <a:buFont typeface="Wingdings" pitchFamily="2" charset="2"/>
              <a:buChar char="v"/>
            </a:pPr>
            <a:r>
              <a:rPr lang="vi-VN" dirty="0">
                <a:sym typeface="Symbol"/>
              </a:rPr>
              <a:t> Phép nối rời (tuyển, hợp): p(x)  q(x)</a:t>
            </a:r>
            <a:endParaRPr lang="en-US" dirty="0">
              <a:sym typeface="Symbol"/>
            </a:endParaRPr>
          </a:p>
          <a:p>
            <a:pPr marL="0" indent="165100" algn="just">
              <a:buClr>
                <a:srgbClr val="339966"/>
              </a:buClr>
              <a:buFont typeface="Wingdings" pitchFamily="2" charset="2"/>
              <a:buChar char="v"/>
            </a:pPr>
            <a:r>
              <a:rPr lang="vi-VN" dirty="0">
                <a:sym typeface="Symbol"/>
              </a:rPr>
              <a:t> Phép kéo theo: p(x)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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q(x)</a:t>
            </a:r>
            <a:endParaRPr lang="en-US" dirty="0">
              <a:sym typeface="Symbol"/>
            </a:endParaRPr>
          </a:p>
          <a:p>
            <a:pPr marL="0" indent="165100" algn="just">
              <a:buClr>
                <a:srgbClr val="339966"/>
              </a:buClr>
              <a:buFont typeface="Wingdings" pitchFamily="2" charset="2"/>
              <a:buChar char="v"/>
            </a:pPr>
            <a:r>
              <a:rPr lang="vi-VN" dirty="0">
                <a:sym typeface="Symbol"/>
              </a:rPr>
              <a:t> Phép kéo theo hai chiều:  p(x)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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q(x)</a:t>
            </a:r>
            <a:endParaRPr lang="en-US" dirty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Vị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r>
              <a:rPr lang="en-US" sz="4800" b="1" dirty="0"/>
              <a:t> - </a:t>
            </a:r>
            <a:r>
              <a:rPr lang="en-US" sz="4800" b="1" dirty="0" err="1"/>
              <a:t>Lượng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44</a:t>
            </a:fld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Cho p(x) là một vị từ theo một biến xác định trên A. </a:t>
            </a:r>
            <a:r>
              <a:rPr lang="vi-VN" dirty="0">
                <a:solidFill>
                  <a:srgbClr val="FF0000"/>
                </a:solidFill>
                <a:sym typeface="Symbol"/>
              </a:rPr>
              <a:t>Các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vi-VN" dirty="0">
                <a:solidFill>
                  <a:srgbClr val="FF0000"/>
                </a:solidFill>
                <a:sym typeface="Symbol"/>
              </a:rPr>
              <a:t>mệnh đề lượng từ hóa của p(x) </a:t>
            </a:r>
            <a:r>
              <a:rPr lang="vi-VN" dirty="0">
                <a:sym typeface="Symbol"/>
              </a:rPr>
              <a:t>được định nghĩa như sau: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ym typeface="Symbol"/>
              </a:rPr>
              <a:t>- </a:t>
            </a:r>
            <a:r>
              <a:rPr lang="vi-VN" dirty="0">
                <a:sym typeface="Symbol"/>
              </a:rPr>
              <a:t>Mệnh đề </a:t>
            </a:r>
            <a:r>
              <a:rPr lang="vi-VN" dirty="0">
                <a:solidFill>
                  <a:srgbClr val="00B050"/>
                </a:solidFill>
                <a:sym typeface="Symbol"/>
              </a:rPr>
              <a:t>“Với mọi x thuộc A, p(x) ”</a:t>
            </a:r>
            <a:r>
              <a:rPr lang="vi-VN" dirty="0">
                <a:sym typeface="Symbol"/>
              </a:rPr>
              <a:t>, kí hiệu: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olidFill>
                  <a:srgbClr val="00B050"/>
                </a:solidFill>
                <a:sym typeface="Symbol"/>
              </a:rPr>
              <a:t>“x  A, p(x)”</a:t>
            </a:r>
            <a:r>
              <a:rPr lang="en-US" dirty="0">
                <a:solidFill>
                  <a:srgbClr val="00B050"/>
                </a:solidFill>
                <a:sym typeface="Symbol"/>
              </a:rPr>
              <a:t> </a:t>
            </a:r>
            <a:r>
              <a:rPr lang="vi-VN" dirty="0">
                <a:sym typeface="Symbol"/>
              </a:rPr>
              <a:t>là mđ đúng khi và chỉ khi p(a) luôn đúng với mọi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giá trị a  A. </a:t>
            </a:r>
            <a:r>
              <a:rPr lang="vi-VN" dirty="0">
                <a:solidFill>
                  <a:srgbClr val="00B0F0"/>
                </a:solidFill>
                <a:sym typeface="Symbol"/>
              </a:rPr>
              <a:t></a:t>
            </a:r>
            <a:r>
              <a:rPr lang="en-US" dirty="0">
                <a:solidFill>
                  <a:srgbClr val="00B0F0"/>
                </a:solidFill>
                <a:sym typeface="Symbol"/>
              </a:rPr>
              <a:t> </a:t>
            </a:r>
            <a:r>
              <a:rPr lang="vi-VN" dirty="0">
                <a:solidFill>
                  <a:srgbClr val="00B0F0"/>
                </a:solidFill>
                <a:sym typeface="Symbol"/>
              </a:rPr>
              <a:t>đgl lượng từ phổ dụng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- Mệnh đề </a:t>
            </a:r>
            <a:r>
              <a:rPr lang="vi-VN" dirty="0">
                <a:solidFill>
                  <a:srgbClr val="00B050"/>
                </a:solidFill>
                <a:sym typeface="Symbol"/>
              </a:rPr>
              <a:t>“Tồn tại (có ít nhất một) x thuộc A, p(x)” </a:t>
            </a:r>
            <a:r>
              <a:rPr lang="vi-VN" dirty="0">
                <a:sym typeface="Symbol"/>
              </a:rPr>
              <a:t>kí hiệu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olidFill>
                  <a:srgbClr val="00B050"/>
                </a:solidFill>
                <a:sym typeface="Symbol"/>
              </a:rPr>
              <a:t>“x  A, p(x)”</a:t>
            </a:r>
            <a:r>
              <a:rPr lang="en-US" dirty="0">
                <a:solidFill>
                  <a:srgbClr val="00B050"/>
                </a:solidFill>
                <a:sym typeface="Symbol"/>
              </a:rPr>
              <a:t> </a:t>
            </a:r>
            <a:r>
              <a:rPr lang="vi-VN" dirty="0">
                <a:sym typeface="Symbol"/>
              </a:rPr>
              <a:t>là mệnh đề đúng khi và chỉ khi có ít nhất một giá trị x= a</a:t>
            </a:r>
            <a:r>
              <a:rPr lang="en-US" dirty="0">
                <a:sym typeface="Symbol"/>
              </a:rPr>
              <a:t>’</a:t>
            </a:r>
            <a:r>
              <a:rPr lang="vi-VN" dirty="0">
                <a:sym typeface="Symbol"/>
              </a:rPr>
              <a:t> A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nào đó sao cho mệnh đề p(a</a:t>
            </a:r>
            <a:r>
              <a:rPr lang="en-US" dirty="0">
                <a:sym typeface="Symbol"/>
              </a:rPr>
              <a:t>’</a:t>
            </a:r>
            <a:r>
              <a:rPr lang="vi-VN" dirty="0">
                <a:sym typeface="Symbol"/>
              </a:rPr>
              <a:t>) đúng. </a:t>
            </a:r>
            <a:r>
              <a:rPr lang="vi-VN" dirty="0">
                <a:solidFill>
                  <a:srgbClr val="00B0F0"/>
                </a:solidFill>
                <a:sym typeface="Symbol"/>
              </a:rPr>
              <a:t> đgl lượng từ tồn tại</a:t>
            </a:r>
            <a:endParaRPr lang="en-US" dirty="0">
              <a:solidFill>
                <a:srgbClr val="00B0F0"/>
              </a:solidFill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Vị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r>
              <a:rPr lang="en-US" sz="4800" b="1" dirty="0"/>
              <a:t> - </a:t>
            </a:r>
            <a:r>
              <a:rPr lang="en-US" sz="4800" b="1" dirty="0" err="1"/>
              <a:t>Lượng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45</a:t>
            </a:fld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Nhóm 2"/>
          <p:cNvGrpSpPr/>
          <p:nvPr/>
        </p:nvGrpSpPr>
        <p:grpSpPr>
          <a:xfrm>
            <a:off x="533400" y="771525"/>
            <a:ext cx="8239125" cy="5314950"/>
            <a:chOff x="533400" y="771525"/>
            <a:chExt cx="8239125" cy="5314950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33400" y="771525"/>
              <a:ext cx="8239125" cy="5314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" name="Ảnh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79112" y="771525"/>
              <a:ext cx="314325" cy="3714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3058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Cho p(x, y) là một vị từ theo hai biến x, y xác định trên AB. Ta định nghĩa các mệnh đề lượng từ hóa của p(x, y) như sau: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“xA,yB, p(x, y)”  “xA, (yB, p(x, y))”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“xA, yB, p(x, y)”  “xA, (yB,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p(x, y))”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“xA, yB, p(x, y)”  “xA, (yB, p(x, y))”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“xA, yB, p(x, y)”  “xA, (yB, p(x, y))”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Vị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r>
              <a:rPr lang="en-US" sz="4800" b="1" dirty="0"/>
              <a:t> - </a:t>
            </a:r>
            <a:r>
              <a:rPr lang="en-US" sz="4800" b="1" dirty="0" err="1"/>
              <a:t>Lượng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47</a:t>
            </a:fld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olidFill>
                  <a:srgbClr val="FF0000"/>
                </a:solidFill>
                <a:sym typeface="Symbol"/>
              </a:rPr>
              <a:t>Ví dụ</a:t>
            </a:r>
            <a:r>
              <a:rPr lang="en-US" dirty="0">
                <a:solidFill>
                  <a:srgbClr val="FF0000"/>
                </a:solidFill>
                <a:sym typeface="Symbol"/>
              </a:rPr>
              <a:t>: </a:t>
            </a:r>
            <a:r>
              <a:rPr lang="vi-VN" dirty="0">
                <a:sym typeface="Symbol"/>
              </a:rPr>
              <a:t>Các mệnh đề sau đúng hay sai?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- “x  R,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 </a:t>
            </a:r>
            <a:r>
              <a:rPr lang="en-US" dirty="0">
                <a:sym typeface="Symbol"/>
              </a:rPr>
              <a:t>                       </a:t>
            </a:r>
            <a:r>
              <a:rPr lang="vi-VN" dirty="0">
                <a:sym typeface="Symbol"/>
              </a:rPr>
              <a:t>”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- “x  R,</a:t>
            </a:r>
            <a:r>
              <a:rPr lang="en-US" dirty="0">
                <a:sym typeface="Symbol"/>
              </a:rPr>
              <a:t>                          </a:t>
            </a:r>
            <a:r>
              <a:rPr lang="vi-VN" dirty="0">
                <a:sym typeface="Symbol"/>
              </a:rPr>
              <a:t>”</a:t>
            </a: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pt-BR" dirty="0">
                <a:sym typeface="Symbol"/>
              </a:rPr>
              <a:t>- “x  R, y  R, 2x + y &lt; 1”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pt-BR" dirty="0">
                <a:sym typeface="Symbol"/>
              </a:rPr>
              <a:t>- “x  R, y  R, 2x + y &lt; 1”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pt-BR" dirty="0">
                <a:sym typeface="Symbol"/>
              </a:rPr>
              <a:t>- “x  R, y  R, x + 2y &lt; 1”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pt-BR" dirty="0">
                <a:sym typeface="Symbol"/>
              </a:rPr>
              <a:t>- “x  R, y  R, x + 2y &lt; 1”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Vị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r>
              <a:rPr lang="en-US" sz="4800" b="1" dirty="0"/>
              <a:t> - </a:t>
            </a:r>
            <a:r>
              <a:rPr lang="en-US" sz="4800" b="1" dirty="0" err="1"/>
              <a:t>Lượng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48</a:t>
            </a:fld>
            <a:endParaRPr lang="en-US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605088" y="2038350"/>
          <a:ext cx="237648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34880" imgH="444240" progId="Equation.DSMT4">
                  <p:embed/>
                </p:oleObj>
              </mc:Choice>
              <mc:Fallback>
                <p:oleObj name="Equation" r:id="rId3" imgW="2234880" imgH="44424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088" y="2038350"/>
                        <a:ext cx="2376487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624138" y="2509838"/>
          <a:ext cx="237648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34880" imgH="444240" progId="Equation.DSMT4">
                  <p:embed/>
                </p:oleObj>
              </mc:Choice>
              <mc:Fallback>
                <p:oleObj name="Equation" r:id="rId5" imgW="2234880" imgH="44424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4138" y="2509838"/>
                        <a:ext cx="2376487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49</a:t>
            </a:fld>
            <a:endParaRPr lang="en-US"/>
          </a:p>
        </p:txBody>
      </p:sp>
      <p:grpSp>
        <p:nvGrpSpPr>
          <p:cNvPr id="3" name="Nhóm 2"/>
          <p:cNvGrpSpPr/>
          <p:nvPr/>
        </p:nvGrpSpPr>
        <p:grpSpPr>
          <a:xfrm>
            <a:off x="838200" y="1914524"/>
            <a:ext cx="7467600" cy="3571875"/>
            <a:chOff x="838200" y="1914524"/>
            <a:chExt cx="7467600" cy="3571875"/>
          </a:xfrm>
        </p:grpSpPr>
        <p:pic>
          <p:nvPicPr>
            <p:cNvPr id="262146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838200" y="1914524"/>
              <a:ext cx="7467600" cy="3571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" name="Ảnh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52600" y="1914524"/>
              <a:ext cx="339377" cy="3714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50</a:t>
            </a:fld>
            <a:endParaRPr lang="en-US"/>
          </a:p>
        </p:txBody>
      </p:sp>
      <p:grpSp>
        <p:nvGrpSpPr>
          <p:cNvPr id="3" name="Nhóm 2"/>
          <p:cNvGrpSpPr/>
          <p:nvPr/>
        </p:nvGrpSpPr>
        <p:grpSpPr>
          <a:xfrm>
            <a:off x="666750" y="595313"/>
            <a:ext cx="7810500" cy="5667375"/>
            <a:chOff x="666750" y="595313"/>
            <a:chExt cx="7810500" cy="5667375"/>
          </a:xfrm>
        </p:grpSpPr>
        <p:pic>
          <p:nvPicPr>
            <p:cNvPr id="264194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66750" y="595313"/>
              <a:ext cx="7810500" cy="5667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" name="Ảnh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1223" y="619125"/>
              <a:ext cx="304800" cy="3714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olidFill>
                  <a:srgbClr val="FF0000"/>
                </a:solidFill>
                <a:sym typeface="Symbol"/>
              </a:rPr>
              <a:t>Định lý</a:t>
            </a:r>
            <a:endParaRPr lang="en-US" dirty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Cho p(x, y) là một vị từ theo hai biến x, y xác định trên AB. Khi đó:</a:t>
            </a: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Font typeface="Wingdings" pitchFamily="2" charset="2"/>
              <a:buChar char="§"/>
            </a:pP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“xA, yB, p(x, y)”  “yB, xA, p(x, y)”</a:t>
            </a: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Font typeface="Wingdings" pitchFamily="2" charset="2"/>
              <a:buChar char="§"/>
            </a:pPr>
            <a:r>
              <a:rPr lang="vi-VN" dirty="0">
                <a:sym typeface="Symbol"/>
              </a:rPr>
              <a:t> “xA, yB, p(x, y)”  “yB, xA, p(x, y)”</a:t>
            </a: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Font typeface="Wingdings" pitchFamily="2" charset="2"/>
              <a:buChar char="§"/>
            </a:pPr>
            <a:r>
              <a:rPr lang="vi-VN" dirty="0">
                <a:sym typeface="Symbol"/>
              </a:rPr>
              <a:t> “xA, yB, p(x, y)”  “yB, xA, p(x, y)”</a:t>
            </a: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olidFill>
                  <a:srgbClr val="00B0F0"/>
                </a:solidFill>
                <a:sym typeface="Symbol"/>
              </a:rPr>
              <a:t>Phủ định</a:t>
            </a:r>
            <a:r>
              <a:rPr lang="vi-VN" dirty="0">
                <a:sym typeface="Symbol"/>
              </a:rPr>
              <a:t> của mệnh đề lượng từ hóa vị từ p(x,y,..)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có được bằng cách: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thay  thành ,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thay  thành ,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và p(x,y,..) thành  p(x,y,..).</a:t>
            </a:r>
            <a:endParaRPr lang="en-US" dirty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Vị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r>
              <a:rPr lang="en-US" sz="4800" b="1" dirty="0"/>
              <a:t> - </a:t>
            </a:r>
            <a:r>
              <a:rPr lang="en-US" sz="4800" b="1" dirty="0" err="1"/>
              <a:t>Lượng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51</a:t>
            </a:fld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olidFill>
                  <a:srgbClr val="FF0000"/>
                </a:solidFill>
                <a:sym typeface="Symbol"/>
              </a:rPr>
              <a:t>Với vị từ theo 1 biến ta có :</a:t>
            </a:r>
            <a:endParaRPr lang="en-US" dirty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olidFill>
                  <a:srgbClr val="FF0000"/>
                </a:solidFill>
                <a:sym typeface="Symbol"/>
              </a:rPr>
              <a:t>Với vị từ theo 2 biến </a:t>
            </a:r>
            <a:endParaRPr lang="en-US" dirty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vi-VN" dirty="0">
              <a:solidFill>
                <a:srgbClr val="FF0000"/>
              </a:solidFill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Vị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r>
              <a:rPr lang="en-US" sz="4800" b="1" dirty="0"/>
              <a:t> - </a:t>
            </a:r>
            <a:r>
              <a:rPr lang="en-US" sz="4800" b="1" dirty="0" err="1"/>
              <a:t>Lượng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52</a:t>
            </a:fld>
            <a:endParaRPr lang="en-US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454275" y="2119313"/>
          <a:ext cx="42338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51080" imgH="533160" progId="Equation.DSMT4">
                  <p:embed/>
                </p:oleObj>
              </mc:Choice>
              <mc:Fallback>
                <p:oleObj name="Equation" r:id="rId3" imgW="4051080" imgH="53316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275" y="2119313"/>
                        <a:ext cx="4233863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454275" y="2684463"/>
          <a:ext cx="42338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51080" imgH="533160" progId="Equation.DSMT4">
                  <p:embed/>
                </p:oleObj>
              </mc:Choice>
              <mc:Fallback>
                <p:oleObj name="Equation" r:id="rId5" imgW="4051080" imgH="53316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275" y="2684463"/>
                        <a:ext cx="4233863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111250" y="3627438"/>
          <a:ext cx="75374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213320" imgH="533160" progId="Equation.DSMT4">
                  <p:embed/>
                </p:oleObj>
              </mc:Choice>
              <mc:Fallback>
                <p:oleObj name="Equation" r:id="rId7" imgW="7213320" imgH="53316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1250" y="3627438"/>
                        <a:ext cx="753745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1144588" y="4314825"/>
          <a:ext cx="753903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213320" imgH="533160" progId="Equation.DSMT4">
                  <p:embed/>
                </p:oleObj>
              </mc:Choice>
              <mc:Fallback>
                <p:oleObj name="Equation" r:id="rId9" imgW="7213320" imgH="533160" progId="Equation.DSMT4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4588" y="4314825"/>
                        <a:ext cx="7539037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1190625" y="4926013"/>
          <a:ext cx="75390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213320" imgH="533160" progId="Equation.DSMT4">
                  <p:embed/>
                </p:oleObj>
              </mc:Choice>
              <mc:Fallback>
                <p:oleObj name="Equation" r:id="rId11" imgW="7213320" imgH="533160" progId="Equation.DSMT4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0625" y="4926013"/>
                        <a:ext cx="7539038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1204913" y="5473700"/>
          <a:ext cx="753903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213320" imgH="533160" progId="Equation.DSMT4">
                  <p:embed/>
                </p:oleObj>
              </mc:Choice>
              <mc:Fallback>
                <p:oleObj name="Equation" r:id="rId13" imgW="7213320" imgH="533160" progId="Equation.DSMT4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4913" y="5473700"/>
                        <a:ext cx="7539037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vi-VN" dirty="0" err="1">
                <a:solidFill>
                  <a:srgbClr val="FF0000"/>
                </a:solidFill>
                <a:sym typeface="Symbol"/>
              </a:rPr>
              <a:t>Ví</a:t>
            </a:r>
            <a:r>
              <a:rPr lang="vi-VN" dirty="0">
                <a:solidFill>
                  <a:srgbClr val="FF0000"/>
                </a:solidFill>
                <a:sym typeface="Symbol"/>
              </a:rPr>
              <a:t> </a:t>
            </a:r>
            <a:r>
              <a:rPr lang="vi-VN" dirty="0" err="1">
                <a:solidFill>
                  <a:srgbClr val="FF0000"/>
                </a:solidFill>
                <a:sym typeface="Symbol"/>
              </a:rPr>
              <a:t>dụ</a:t>
            </a:r>
            <a:r>
              <a:rPr lang="vi-VN" dirty="0">
                <a:solidFill>
                  <a:srgbClr val="FF0000"/>
                </a:solidFill>
                <a:sym typeface="Symbol"/>
              </a:rPr>
              <a:t>: </a:t>
            </a:r>
            <a:r>
              <a:rPr lang="vi-VN" dirty="0">
                <a:sym typeface="Symbol"/>
              </a:rPr>
              <a:t>phủ định các mệnh đề sau</a:t>
            </a: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A = “x  A, 2x + 1  0”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vi-VN" dirty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Vị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r>
              <a:rPr lang="en-US" sz="4800" b="1" dirty="0"/>
              <a:t> - </a:t>
            </a:r>
            <a:r>
              <a:rPr lang="en-US" sz="4800" b="1" dirty="0" err="1"/>
              <a:t>Lượng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endParaRPr lang="en-US" sz="4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vi-VN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vi-VN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vi-VN"/>
          </a:p>
        </p:txBody>
      </p:sp>
      <p:graphicFrame>
        <p:nvGraphicFramePr>
          <p:cNvPr id="10" name="Đối tượng 9"/>
          <p:cNvGraphicFramePr>
            <a:graphicFrameLocks noChangeAspect="1"/>
          </p:cNvGraphicFramePr>
          <p:nvPr/>
        </p:nvGraphicFramePr>
        <p:xfrm>
          <a:off x="0" y="0"/>
          <a:ext cx="161925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4957" imgH="190335" progId="Equation.DSMT4">
                  <p:embed/>
                </p:oleObj>
              </mc:Choice>
              <mc:Fallback>
                <p:oleObj name="Equation" r:id="rId3" imgW="164957" imgH="190335" progId="Equation.DSMT4">
                  <p:embed/>
                  <p:pic>
                    <p:nvPicPr>
                      <p:cNvPr id="10" name="Đối tượng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61925" cy="190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Ảnh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175" y="2868612"/>
            <a:ext cx="3705225" cy="249555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7675"/>
            <a:ext cx="82296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vi-VN" dirty="0" err="1">
                <a:solidFill>
                  <a:srgbClr val="FF0000"/>
                </a:solidFill>
                <a:sym typeface="Symbol"/>
              </a:rPr>
              <a:t>Ví</a:t>
            </a:r>
            <a:r>
              <a:rPr lang="vi-VN" dirty="0">
                <a:solidFill>
                  <a:srgbClr val="FF0000"/>
                </a:solidFill>
                <a:sym typeface="Symbol"/>
              </a:rPr>
              <a:t> </a:t>
            </a:r>
            <a:r>
              <a:rPr lang="vi-VN" dirty="0" err="1">
                <a:solidFill>
                  <a:srgbClr val="FF0000"/>
                </a:solidFill>
                <a:sym typeface="Symbol"/>
              </a:rPr>
              <a:t>dụ</a:t>
            </a:r>
            <a:r>
              <a:rPr lang="vi-VN" dirty="0">
                <a:solidFill>
                  <a:srgbClr val="FF0000"/>
                </a:solidFill>
                <a:sym typeface="Symbol"/>
              </a:rPr>
              <a:t>:</a:t>
            </a:r>
            <a:endParaRPr lang="vi-VN" dirty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Vị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r>
              <a:rPr lang="en-US" sz="4800" b="1" dirty="0"/>
              <a:t> - </a:t>
            </a:r>
            <a:r>
              <a:rPr lang="en-US" sz="4800" b="1" dirty="0" err="1"/>
              <a:t>Lượng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endParaRPr lang="en-US" sz="4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54</a:t>
            </a:fld>
            <a:endParaRPr lang="en-US" dirty="0"/>
          </a:p>
        </p:txBody>
      </p:sp>
      <p:pic>
        <p:nvPicPr>
          <p:cNvPr id="8" name="Ảnh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789519"/>
            <a:ext cx="5562600" cy="1377543"/>
          </a:xfrm>
          <a:prstGeom prst="rect">
            <a:avLst/>
          </a:prstGeom>
        </p:spPr>
      </p:pic>
      <p:pic>
        <p:nvPicPr>
          <p:cNvPr id="11" name="Ảnh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175" y="3352800"/>
            <a:ext cx="3552825" cy="270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215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7675"/>
            <a:ext cx="82296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vi-VN" dirty="0" err="1">
                <a:solidFill>
                  <a:srgbClr val="FF0000"/>
                </a:solidFill>
                <a:sym typeface="Symbol"/>
              </a:rPr>
              <a:t>Ví</a:t>
            </a:r>
            <a:r>
              <a:rPr lang="vi-VN" dirty="0">
                <a:solidFill>
                  <a:srgbClr val="FF0000"/>
                </a:solidFill>
                <a:sym typeface="Symbol"/>
              </a:rPr>
              <a:t> </a:t>
            </a:r>
            <a:r>
              <a:rPr lang="vi-VN" dirty="0" err="1">
                <a:solidFill>
                  <a:srgbClr val="FF0000"/>
                </a:solidFill>
                <a:sym typeface="Symbol"/>
              </a:rPr>
              <a:t>dụ</a:t>
            </a:r>
            <a:r>
              <a:rPr lang="vi-VN" dirty="0">
                <a:solidFill>
                  <a:srgbClr val="FF0000"/>
                </a:solidFill>
                <a:sym typeface="Symbol"/>
              </a:rPr>
              <a:t>:</a:t>
            </a:r>
            <a:endParaRPr lang="vi-VN" dirty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Vị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r>
              <a:rPr lang="en-US" sz="4800" b="1" dirty="0"/>
              <a:t> - </a:t>
            </a:r>
            <a:r>
              <a:rPr lang="en-US" sz="4800" b="1" dirty="0" err="1"/>
              <a:t>Lượng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endParaRPr lang="en-US" sz="4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55</a:t>
            </a:fld>
            <a:endParaRPr lang="en-US" dirty="0"/>
          </a:p>
        </p:txBody>
      </p:sp>
      <p:pic>
        <p:nvPicPr>
          <p:cNvPr id="5" name="Ảnh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717675"/>
            <a:ext cx="5638800" cy="1330325"/>
          </a:xfrm>
          <a:prstGeom prst="rect">
            <a:avLst/>
          </a:prstGeom>
        </p:spPr>
      </p:pic>
      <p:pic>
        <p:nvPicPr>
          <p:cNvPr id="6" name="Ảnh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150393"/>
            <a:ext cx="4000500" cy="2107407"/>
          </a:xfrm>
          <a:prstGeom prst="rect">
            <a:avLst/>
          </a:prstGeom>
        </p:spPr>
      </p:pic>
      <p:pic>
        <p:nvPicPr>
          <p:cNvPr id="7" name="Ảnh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0" y="3423563"/>
            <a:ext cx="2819400" cy="1917356"/>
          </a:xfrm>
          <a:prstGeom prst="rect">
            <a:avLst/>
          </a:prstGeom>
        </p:spPr>
      </p:pic>
      <p:pic>
        <p:nvPicPr>
          <p:cNvPr id="8" name="Ảnh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041" y="5623321"/>
            <a:ext cx="5145559" cy="72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358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305800" cy="4530725"/>
          </a:xfrm>
        </p:spPr>
        <p:txBody>
          <a:bodyPr/>
          <a:lstStyle/>
          <a:p>
            <a:pPr>
              <a:buNone/>
            </a:pPr>
            <a:r>
              <a:rPr lang="en-US" dirty="0">
                <a:latin typeface="+mj-lt"/>
                <a:sym typeface="Symbol" panose="05050102010706020507" pitchFamily="18" charset="2"/>
              </a:rPr>
              <a:t>Cho n</a:t>
            </a:r>
            <a:r>
              <a:rPr lang="en-US" baseline="-25000" dirty="0">
                <a:latin typeface="+mj-lt"/>
                <a:sym typeface="Symbol" panose="05050102010706020507" pitchFamily="18" charset="2"/>
              </a:rPr>
              <a:t>0</a:t>
            </a:r>
            <a:r>
              <a:rPr lang="en-US" dirty="0">
                <a:latin typeface="+mj-lt"/>
                <a:sym typeface="Symbol" panose="05050102010706020507" pitchFamily="18" charset="2"/>
              </a:rPr>
              <a:t>N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và</a:t>
            </a:r>
            <a:r>
              <a:rPr lang="en-US" dirty="0">
                <a:latin typeface="+mj-lt"/>
                <a:sym typeface="Symbol" panose="05050102010706020507" pitchFamily="18" charset="2"/>
              </a:rPr>
              <a:t> p(n)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là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một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vị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từ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theo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biến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tự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nhiên</a:t>
            </a:r>
            <a:r>
              <a:rPr lang="en-US" dirty="0">
                <a:latin typeface="+mj-lt"/>
                <a:sym typeface="Symbol" panose="05050102010706020507" pitchFamily="18" charset="2"/>
              </a:rPr>
              <a:t> n  n</a:t>
            </a:r>
            <a:r>
              <a:rPr lang="en-US" baseline="-25000" dirty="0">
                <a:latin typeface="+mj-lt"/>
                <a:sym typeface="Symbol" panose="05050102010706020507" pitchFamily="18" charset="2"/>
              </a:rPr>
              <a:t>0</a:t>
            </a:r>
            <a:r>
              <a:rPr lang="en-US" dirty="0">
                <a:latin typeface="+mj-lt"/>
                <a:sym typeface="Symbol" panose="05050102010706020507" pitchFamily="18" charset="2"/>
              </a:rPr>
              <a:t>.</a:t>
            </a:r>
          </a:p>
          <a:p>
            <a:pPr>
              <a:buNone/>
            </a:pPr>
            <a:r>
              <a:rPr lang="en-US" dirty="0" err="1">
                <a:latin typeface="+mj-lt"/>
                <a:sym typeface="Symbol" panose="05050102010706020507" pitchFamily="18" charset="2"/>
              </a:rPr>
              <a:t>Để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chứng</a:t>
            </a:r>
            <a:r>
              <a:rPr lang="en-US" dirty="0">
                <a:latin typeface="+mj-lt"/>
                <a:sym typeface="Symbol" panose="05050102010706020507" pitchFamily="18" charset="2"/>
              </a:rPr>
              <a:t> minh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tính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đúng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đắn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của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mệnh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đề</a:t>
            </a:r>
            <a:r>
              <a:rPr lang="en-US" dirty="0">
                <a:latin typeface="+mj-lt"/>
                <a:sym typeface="Symbol" panose="05050102010706020507" pitchFamily="18" charset="2"/>
              </a:rPr>
              <a:t>:</a:t>
            </a:r>
          </a:p>
          <a:p>
            <a:pPr>
              <a:buNone/>
            </a:pPr>
            <a:r>
              <a:rPr lang="en-US" dirty="0">
                <a:latin typeface="+mj-lt"/>
                <a:sym typeface="Symbol" panose="05050102010706020507" pitchFamily="18" charset="2"/>
              </a:rPr>
              <a:t>				n  n</a:t>
            </a:r>
            <a:r>
              <a:rPr lang="en-US" baseline="-25000" dirty="0">
                <a:latin typeface="+mj-lt"/>
                <a:sym typeface="Symbol" panose="05050102010706020507" pitchFamily="18" charset="2"/>
              </a:rPr>
              <a:t>0</a:t>
            </a:r>
            <a:r>
              <a:rPr lang="en-US" dirty="0">
                <a:latin typeface="+mj-lt"/>
                <a:sym typeface="Symbol" panose="05050102010706020507" pitchFamily="18" charset="2"/>
              </a:rPr>
              <a:t>, p(n)</a:t>
            </a:r>
          </a:p>
          <a:p>
            <a:pPr>
              <a:buNone/>
            </a:pPr>
            <a:r>
              <a:rPr lang="en-US" dirty="0" err="1">
                <a:latin typeface="+mj-lt"/>
                <a:sym typeface="Symbol" panose="05050102010706020507" pitchFamily="18" charset="2"/>
              </a:rPr>
              <a:t>ta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có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thể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dùng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các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dạng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nguyên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lý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quy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nạp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như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sau</a:t>
            </a:r>
            <a:r>
              <a:rPr lang="en-US" dirty="0">
                <a:latin typeface="+mj-lt"/>
                <a:sym typeface="Symbol" panose="05050102010706020507" pitchFamily="18" charset="2"/>
              </a:rPr>
              <a:t>:</a:t>
            </a:r>
          </a:p>
          <a:p>
            <a:pPr>
              <a:buNone/>
            </a:pP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*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Nguyên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lý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quy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nạp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yếu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(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giả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thiết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đúng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với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k)</a:t>
            </a:r>
          </a:p>
          <a:p>
            <a:pPr>
              <a:buNone/>
            </a:pPr>
            <a:r>
              <a:rPr lang="en-US" i="1" dirty="0" err="1">
                <a:latin typeface="+mj-lt"/>
                <a:sym typeface="Symbol" panose="05050102010706020507" pitchFamily="18" charset="2"/>
              </a:rPr>
              <a:t>Mô</a:t>
            </a:r>
            <a:r>
              <a:rPr lang="en-US" i="1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i="1" dirty="0" err="1">
                <a:latin typeface="+mj-lt"/>
                <a:sym typeface="Symbol" panose="05050102010706020507" pitchFamily="18" charset="2"/>
              </a:rPr>
              <a:t>hình</a:t>
            </a:r>
            <a:r>
              <a:rPr lang="en-US" i="1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i="1" dirty="0" err="1">
                <a:latin typeface="+mj-lt"/>
                <a:sym typeface="Symbol" panose="05050102010706020507" pitchFamily="18" charset="2"/>
              </a:rPr>
              <a:t>suy</a:t>
            </a:r>
            <a:r>
              <a:rPr lang="en-US" i="1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i="1" dirty="0" err="1">
                <a:latin typeface="+mj-lt"/>
                <a:sym typeface="Symbol" panose="05050102010706020507" pitchFamily="18" charset="2"/>
              </a:rPr>
              <a:t>diễn</a:t>
            </a:r>
            <a:r>
              <a:rPr lang="en-US" i="1" dirty="0">
                <a:latin typeface="+mj-lt"/>
                <a:sym typeface="Symbol" panose="05050102010706020507" pitchFamily="18" charset="2"/>
              </a:rPr>
              <a:t>:	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vi-VN" dirty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n</a:t>
            </a:r>
            <a:r>
              <a:rPr lang="vi-VN" sz="4800" b="1" dirty="0"/>
              <a:t>ạp</a:t>
            </a:r>
            <a:endParaRPr lang="en-US" sz="4400" dirty="0"/>
          </a:p>
        </p:txBody>
      </p:sp>
      <p:graphicFrame>
        <p:nvGraphicFramePr>
          <p:cNvPr id="184322" name="Object 2"/>
          <p:cNvGraphicFramePr>
            <a:graphicFrameLocks noChangeAspect="1"/>
          </p:cNvGraphicFramePr>
          <p:nvPr/>
        </p:nvGraphicFramePr>
        <p:xfrm>
          <a:off x="3581400" y="4648200"/>
          <a:ext cx="38862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01440" imgH="368280" progId="Equation.3">
                  <p:embed/>
                </p:oleObj>
              </mc:Choice>
              <mc:Fallback>
                <p:oleObj name="Equation" r:id="rId3" imgW="901440" imgH="368280" progId="Equation.3">
                  <p:embed/>
                  <p:pic>
                    <p:nvPicPr>
                      <p:cNvPr id="1843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648200"/>
                        <a:ext cx="38862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86000" y="4800600"/>
            <a:ext cx="1447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sz="2000" dirty="0">
                <a:sym typeface="Symbol"/>
              </a:rPr>
              <a:t>(</a:t>
            </a:r>
            <a:r>
              <a:rPr lang="en-US" sz="2000" dirty="0" err="1">
                <a:sym typeface="Symbol"/>
              </a:rPr>
              <a:t>cơ</a:t>
            </a:r>
            <a:r>
              <a:rPr lang="en-US" sz="2000" dirty="0">
                <a:sym typeface="Symbol"/>
              </a:rPr>
              <a:t> </a:t>
            </a:r>
            <a:r>
              <a:rPr lang="en-US" sz="2000" dirty="0" err="1">
                <a:sym typeface="Symbol"/>
              </a:rPr>
              <a:t>sở</a:t>
            </a:r>
            <a:r>
              <a:rPr lang="en-US" sz="2000" dirty="0">
                <a:sym typeface="Symbol"/>
              </a:rPr>
              <a:t>)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sz="2000" dirty="0">
                <a:sym typeface="Symbol"/>
              </a:rPr>
              <a:t>(GTQN)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305800" cy="4530725"/>
          </a:xfrm>
        </p:spPr>
        <p:txBody>
          <a:bodyPr/>
          <a:lstStyle/>
          <a:p>
            <a:pPr>
              <a:buNone/>
            </a:pP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*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Nguyên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lý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quy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nạp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mạnh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(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giả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thiết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đúng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đến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k)</a:t>
            </a:r>
          </a:p>
          <a:p>
            <a:pPr>
              <a:buNone/>
            </a:pPr>
            <a:r>
              <a:rPr lang="en-US" i="1" dirty="0" err="1">
                <a:latin typeface="+mj-lt"/>
                <a:sym typeface="Symbol" panose="05050102010706020507" pitchFamily="18" charset="2"/>
              </a:rPr>
              <a:t>Mô</a:t>
            </a:r>
            <a:r>
              <a:rPr lang="en-US" i="1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i="1" dirty="0" err="1">
                <a:latin typeface="+mj-lt"/>
                <a:sym typeface="Symbol" panose="05050102010706020507" pitchFamily="18" charset="2"/>
              </a:rPr>
              <a:t>hình</a:t>
            </a:r>
            <a:r>
              <a:rPr lang="en-US" i="1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i="1" dirty="0" err="1">
                <a:latin typeface="+mj-lt"/>
                <a:sym typeface="Symbol" panose="05050102010706020507" pitchFamily="18" charset="2"/>
              </a:rPr>
              <a:t>suy</a:t>
            </a:r>
            <a:r>
              <a:rPr lang="en-US" i="1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i="1" dirty="0" err="1">
                <a:latin typeface="+mj-lt"/>
                <a:sym typeface="Symbol" panose="05050102010706020507" pitchFamily="18" charset="2"/>
              </a:rPr>
              <a:t>diễn</a:t>
            </a:r>
            <a:r>
              <a:rPr lang="en-US" i="1" dirty="0">
                <a:latin typeface="+mj-lt"/>
                <a:sym typeface="Symbol" panose="05050102010706020507" pitchFamily="18" charset="2"/>
              </a:rPr>
              <a:t>:	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sz="2400" dirty="0">
                <a:sym typeface="Symbol"/>
              </a:rPr>
              <a:t>(</a:t>
            </a:r>
            <a:r>
              <a:rPr lang="en-US" sz="2400" dirty="0" err="1">
                <a:sym typeface="Symbol"/>
              </a:rPr>
              <a:t>cơ</a:t>
            </a:r>
            <a:r>
              <a:rPr lang="en-US" sz="2400" dirty="0">
                <a:sym typeface="Symbol"/>
              </a:rPr>
              <a:t> </a:t>
            </a:r>
            <a:r>
              <a:rPr lang="en-US" sz="2400" dirty="0" err="1">
                <a:sym typeface="Symbol"/>
              </a:rPr>
              <a:t>sở</a:t>
            </a:r>
            <a:r>
              <a:rPr lang="en-US" sz="2400" dirty="0">
                <a:sym typeface="Symbol"/>
              </a:rPr>
              <a:t>)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sz="2400" dirty="0">
                <a:sym typeface="Symbol"/>
              </a:rPr>
              <a:t>(GTQN)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vi-VN" dirty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n</a:t>
            </a:r>
            <a:r>
              <a:rPr lang="vi-VN" sz="4800" b="1" dirty="0"/>
              <a:t>ạp</a:t>
            </a:r>
            <a:endParaRPr lang="en-US" sz="4400" dirty="0"/>
          </a:p>
        </p:txBody>
      </p:sp>
      <p:graphicFrame>
        <p:nvGraphicFramePr>
          <p:cNvPr id="181251" name="Object 3"/>
          <p:cNvGraphicFramePr>
            <a:graphicFrameLocks noChangeAspect="1"/>
          </p:cNvGraphicFramePr>
          <p:nvPr/>
        </p:nvGraphicFramePr>
        <p:xfrm>
          <a:off x="1878239" y="3091542"/>
          <a:ext cx="7280275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88760" imgH="368280" progId="Equation.3">
                  <p:embed/>
                </p:oleObj>
              </mc:Choice>
              <mc:Fallback>
                <p:oleObj name="Equation" r:id="rId3" imgW="1688760" imgH="368280" progId="Equation.3">
                  <p:embed/>
                  <p:pic>
                    <p:nvPicPr>
                      <p:cNvPr id="1812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8239" y="3091542"/>
                        <a:ext cx="7280275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2296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olidFill>
                  <a:srgbClr val="FF0000"/>
                </a:solidFill>
                <a:sym typeface="Symbol"/>
              </a:rPr>
              <a:t>Ví dụ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vi-VN" dirty="0">
                <a:solidFill>
                  <a:srgbClr val="FF0000"/>
                </a:solidFill>
                <a:sym typeface="Symbol"/>
              </a:rPr>
              <a:t>: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Chứng minh</a:t>
            </a: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olidFill>
                  <a:srgbClr val="FF0000"/>
                </a:solidFill>
                <a:sym typeface="Symbol"/>
              </a:rPr>
              <a:t>Ví dụ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vi-VN" dirty="0">
                <a:solidFill>
                  <a:srgbClr val="FF0000"/>
                </a:solidFill>
                <a:sym typeface="Symbol"/>
              </a:rPr>
              <a:t>: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Chứng minh</a:t>
            </a: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n</a:t>
            </a:r>
            <a:r>
              <a:rPr lang="vi-VN" sz="4800" b="1" dirty="0"/>
              <a:t>ạp</a:t>
            </a:r>
            <a:endParaRPr lang="en-US" sz="440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220364"/>
              </p:ext>
            </p:extLst>
          </p:nvPr>
        </p:nvGraphicFramePr>
        <p:xfrm>
          <a:off x="3261610" y="2087380"/>
          <a:ext cx="41021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102100" imgH="609600" progId="Equation.DSMT4">
                  <p:embed/>
                </p:oleObj>
              </mc:Choice>
              <mc:Fallback>
                <p:oleObj name="Equation" r:id="rId3" imgW="4102100" imgH="609600" progId="Equation.DSMT4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1610" y="2087380"/>
                        <a:ext cx="41021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18740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87400" name="Object 8"/>
          <p:cNvGraphicFramePr>
            <a:graphicFrameLocks noChangeAspect="1"/>
          </p:cNvGraphicFramePr>
          <p:nvPr/>
        </p:nvGraphicFramePr>
        <p:xfrm>
          <a:off x="3429000" y="4114800"/>
          <a:ext cx="4137102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11300" imgH="393700" progId="Equation.DSMT4">
                  <p:embed/>
                </p:oleObj>
              </mc:Choice>
              <mc:Fallback>
                <p:oleObj name="Equation" r:id="rId5" imgW="1511300" imgH="393700" progId="Equation.DSMT4">
                  <p:embed/>
                  <p:pic>
                    <p:nvPicPr>
                      <p:cNvPr id="1874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114800"/>
                        <a:ext cx="4137102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218180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24000"/>
            <a:ext cx="8153400" cy="4606925"/>
          </a:xfrm>
        </p:spPr>
        <p:txBody>
          <a:bodyPr/>
          <a:lstStyle/>
          <a:p>
            <a:pPr algn="just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vi-VN" dirty="0" err="1">
                <a:sym typeface="Symbol"/>
              </a:rPr>
              <a:t>Chứng</a:t>
            </a:r>
            <a:r>
              <a:rPr lang="vi-VN" dirty="0">
                <a:sym typeface="Symbol"/>
              </a:rPr>
              <a:t> minh 2 </a:t>
            </a:r>
            <a:r>
              <a:rPr lang="vi-VN" dirty="0" err="1">
                <a:sym typeface="Symbol"/>
              </a:rPr>
              <a:t>biểu</a:t>
            </a:r>
            <a:r>
              <a:rPr lang="vi-VN" dirty="0">
                <a:sym typeface="Symbol"/>
              </a:rPr>
              <a:t> </a:t>
            </a:r>
            <a:r>
              <a:rPr lang="vi-VN" dirty="0" err="1">
                <a:sym typeface="Symbol"/>
              </a:rPr>
              <a:t>thức</a:t>
            </a:r>
            <a:r>
              <a:rPr lang="vi-VN" dirty="0">
                <a:sym typeface="Symbol"/>
              </a:rPr>
              <a:t> </a:t>
            </a:r>
            <a:r>
              <a:rPr lang="vi-VN" dirty="0" err="1">
                <a:sym typeface="Symbol"/>
              </a:rPr>
              <a:t>logic</a:t>
            </a:r>
            <a:r>
              <a:rPr lang="vi-VN" dirty="0">
                <a:sym typeface="Symbol"/>
              </a:rPr>
              <a:t> tương đương (bao </a:t>
            </a:r>
            <a:r>
              <a:rPr lang="vi-VN" dirty="0" err="1">
                <a:sym typeface="Symbol"/>
              </a:rPr>
              <a:t>gồm</a:t>
            </a:r>
            <a:r>
              <a:rPr lang="vi-VN" dirty="0">
                <a:sym typeface="Symbol"/>
              </a:rPr>
              <a:t> </a:t>
            </a:r>
            <a:r>
              <a:rPr lang="vi-VN" dirty="0" err="1">
                <a:sym typeface="Symbol"/>
              </a:rPr>
              <a:t>cả</a:t>
            </a:r>
            <a:r>
              <a:rPr lang="vi-VN" dirty="0">
                <a:sym typeface="Symbol"/>
              </a:rPr>
              <a:t> </a:t>
            </a:r>
            <a:r>
              <a:rPr lang="vi-VN" dirty="0" err="1">
                <a:sym typeface="Symbol"/>
              </a:rPr>
              <a:t>chứng</a:t>
            </a:r>
            <a:r>
              <a:rPr lang="vi-VN" dirty="0">
                <a:sym typeface="Symbol"/>
              </a:rPr>
              <a:t> minh </a:t>
            </a:r>
            <a:r>
              <a:rPr lang="vi-VN" dirty="0" err="1">
                <a:sym typeface="Symbol"/>
              </a:rPr>
              <a:t>biểu</a:t>
            </a:r>
            <a:r>
              <a:rPr lang="vi-VN" dirty="0">
                <a:sym typeface="Symbol"/>
              </a:rPr>
              <a:t> </a:t>
            </a:r>
            <a:r>
              <a:rPr lang="vi-VN" dirty="0" err="1">
                <a:sym typeface="Symbol"/>
              </a:rPr>
              <a:t>thức</a:t>
            </a:r>
            <a:r>
              <a:rPr lang="vi-VN" dirty="0">
                <a:sym typeface="Symbol"/>
              </a:rPr>
              <a:t> </a:t>
            </a:r>
            <a:r>
              <a:rPr lang="vi-VN" dirty="0" err="1">
                <a:sym typeface="Symbol"/>
              </a:rPr>
              <a:t>logic</a:t>
            </a:r>
            <a:r>
              <a:rPr lang="vi-VN" dirty="0">
                <a:sym typeface="Symbol"/>
              </a:rPr>
              <a:t> </a:t>
            </a:r>
            <a:r>
              <a:rPr lang="vi-VN" dirty="0" err="1">
                <a:sym typeface="Symbol"/>
              </a:rPr>
              <a:t>là</a:t>
            </a:r>
            <a:r>
              <a:rPr lang="vi-VN" dirty="0">
                <a:sym typeface="Symbol"/>
              </a:rPr>
              <a:t> </a:t>
            </a:r>
            <a:r>
              <a:rPr lang="vi-VN" dirty="0" err="1">
                <a:sym typeface="Symbol"/>
              </a:rPr>
              <a:t>hằng</a:t>
            </a:r>
            <a:r>
              <a:rPr lang="vi-VN" dirty="0">
                <a:sym typeface="Symbol"/>
              </a:rPr>
              <a:t> </a:t>
            </a:r>
            <a:r>
              <a:rPr lang="vi-VN" dirty="0" err="1">
                <a:sym typeface="Symbol"/>
              </a:rPr>
              <a:t>đúng</a:t>
            </a:r>
            <a:r>
              <a:rPr lang="vi-VN" dirty="0">
                <a:sym typeface="Symbol"/>
              </a:rPr>
              <a:t>, </a:t>
            </a:r>
            <a:r>
              <a:rPr lang="vi-VN" dirty="0" err="1">
                <a:sym typeface="Symbol"/>
              </a:rPr>
              <a:t>biểu</a:t>
            </a:r>
            <a:r>
              <a:rPr lang="vi-VN" dirty="0">
                <a:sym typeface="Symbol"/>
              </a:rPr>
              <a:t> </a:t>
            </a:r>
            <a:r>
              <a:rPr lang="vi-VN" dirty="0" err="1">
                <a:sym typeface="Symbol"/>
              </a:rPr>
              <a:t>thức</a:t>
            </a:r>
            <a:r>
              <a:rPr lang="vi-VN" dirty="0">
                <a:sym typeface="Symbol"/>
              </a:rPr>
              <a:t> </a:t>
            </a:r>
            <a:r>
              <a:rPr lang="vi-VN" dirty="0" err="1">
                <a:sym typeface="Symbol"/>
              </a:rPr>
              <a:t>logic</a:t>
            </a:r>
            <a:r>
              <a:rPr lang="vi-VN" dirty="0">
                <a:sym typeface="Symbol"/>
              </a:rPr>
              <a:t> </a:t>
            </a:r>
            <a:r>
              <a:rPr lang="vi-VN" dirty="0" err="1">
                <a:sym typeface="Symbol"/>
              </a:rPr>
              <a:t>là</a:t>
            </a:r>
            <a:r>
              <a:rPr lang="vi-VN" dirty="0">
                <a:sym typeface="Symbol"/>
              </a:rPr>
              <a:t> </a:t>
            </a:r>
            <a:r>
              <a:rPr lang="vi-VN" dirty="0" err="1">
                <a:sym typeface="Symbol"/>
              </a:rPr>
              <a:t>hằng</a:t>
            </a:r>
            <a:r>
              <a:rPr lang="vi-VN" dirty="0">
                <a:sym typeface="Symbol"/>
              </a:rPr>
              <a:t> sai).</a:t>
            </a:r>
          </a:p>
          <a:p>
            <a:pPr algn="just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vi-VN" dirty="0">
                <a:sym typeface="Symbol"/>
              </a:rPr>
              <a:t> </a:t>
            </a:r>
            <a:r>
              <a:rPr lang="vi-VN" dirty="0" err="1">
                <a:sym typeface="Symbol"/>
              </a:rPr>
              <a:t>Dùng</a:t>
            </a:r>
            <a:r>
              <a:rPr lang="vi-VN" dirty="0">
                <a:sym typeface="Symbol"/>
              </a:rPr>
              <a:t> </a:t>
            </a:r>
            <a:r>
              <a:rPr lang="vi-VN" dirty="0" err="1">
                <a:sym typeface="Symbol"/>
              </a:rPr>
              <a:t>các</a:t>
            </a:r>
            <a:r>
              <a:rPr lang="vi-VN" dirty="0">
                <a:sym typeface="Symbol"/>
              </a:rPr>
              <a:t> quy </a:t>
            </a:r>
            <a:r>
              <a:rPr lang="vi-VN" dirty="0" err="1">
                <a:sym typeface="Symbol"/>
              </a:rPr>
              <a:t>tắc</a:t>
            </a:r>
            <a:r>
              <a:rPr lang="vi-VN" dirty="0">
                <a:sym typeface="Symbol"/>
              </a:rPr>
              <a:t> suy </a:t>
            </a:r>
            <a:r>
              <a:rPr lang="vi-VN" dirty="0" err="1">
                <a:sym typeface="Symbol"/>
              </a:rPr>
              <a:t>diễn</a:t>
            </a:r>
            <a:r>
              <a:rPr lang="vi-VN" dirty="0">
                <a:sym typeface="Symbol"/>
              </a:rPr>
              <a:t>, </a:t>
            </a:r>
            <a:r>
              <a:rPr lang="vi-VN" dirty="0" err="1">
                <a:sym typeface="Symbol"/>
              </a:rPr>
              <a:t>luật</a:t>
            </a:r>
            <a:r>
              <a:rPr lang="vi-VN" dirty="0">
                <a:sym typeface="Symbol"/>
              </a:rPr>
              <a:t> </a:t>
            </a:r>
            <a:r>
              <a:rPr lang="vi-VN" dirty="0" err="1">
                <a:sym typeface="Symbol"/>
              </a:rPr>
              <a:t>logic</a:t>
            </a:r>
            <a:r>
              <a:rPr lang="vi-VN" dirty="0">
                <a:sym typeface="Symbol"/>
              </a:rPr>
              <a:t> </a:t>
            </a:r>
            <a:r>
              <a:rPr lang="vi-VN" dirty="0" err="1">
                <a:sym typeface="Symbol"/>
              </a:rPr>
              <a:t>để</a:t>
            </a:r>
            <a:r>
              <a:rPr lang="vi-VN" dirty="0">
                <a:sym typeface="Symbol"/>
              </a:rPr>
              <a:t> </a:t>
            </a:r>
            <a:r>
              <a:rPr lang="vi-VN" dirty="0" err="1">
                <a:sym typeface="Symbol"/>
              </a:rPr>
              <a:t>kiểm</a:t>
            </a:r>
            <a:r>
              <a:rPr lang="vi-VN" dirty="0">
                <a:sym typeface="Symbol"/>
              </a:rPr>
              <a:t> tra </a:t>
            </a:r>
            <a:r>
              <a:rPr lang="vi-VN" dirty="0" err="1">
                <a:sym typeface="Symbol"/>
              </a:rPr>
              <a:t>tính</a:t>
            </a:r>
            <a:r>
              <a:rPr lang="vi-VN" dirty="0">
                <a:sym typeface="Symbol"/>
              </a:rPr>
              <a:t> </a:t>
            </a:r>
            <a:r>
              <a:rPr lang="vi-VN" dirty="0" err="1">
                <a:sym typeface="Symbol"/>
              </a:rPr>
              <a:t>đúng</a:t>
            </a:r>
            <a:r>
              <a:rPr lang="vi-VN" dirty="0">
                <a:sym typeface="Symbol"/>
              </a:rPr>
              <a:t> </a:t>
            </a:r>
            <a:r>
              <a:rPr lang="vi-VN" dirty="0" err="1">
                <a:sym typeface="Symbol"/>
              </a:rPr>
              <a:t>đắn</a:t>
            </a:r>
            <a:r>
              <a:rPr lang="vi-VN" dirty="0">
                <a:sym typeface="Symbol"/>
              </a:rPr>
              <a:t> </a:t>
            </a:r>
            <a:r>
              <a:rPr lang="vi-VN" dirty="0" err="1">
                <a:sym typeface="Symbol"/>
              </a:rPr>
              <a:t>của</a:t>
            </a:r>
            <a:r>
              <a:rPr lang="vi-VN" dirty="0">
                <a:sym typeface="Symbol"/>
              </a:rPr>
              <a:t> suy </a:t>
            </a:r>
            <a:r>
              <a:rPr lang="vi-VN" dirty="0" err="1">
                <a:sym typeface="Symbol"/>
              </a:rPr>
              <a:t>luận</a:t>
            </a:r>
            <a:r>
              <a:rPr lang="vi-VN" dirty="0">
                <a:sym typeface="Symbol"/>
              </a:rPr>
              <a:t>.</a:t>
            </a:r>
          </a:p>
          <a:p>
            <a:pPr algn="just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vi-VN" dirty="0">
                <a:sym typeface="Symbol"/>
              </a:rPr>
              <a:t>Cho </a:t>
            </a:r>
            <a:r>
              <a:rPr lang="vi-VN" dirty="0" err="1">
                <a:sym typeface="Symbol"/>
              </a:rPr>
              <a:t>mệnh</a:t>
            </a:r>
            <a:r>
              <a:rPr lang="vi-VN" dirty="0">
                <a:sym typeface="Symbol"/>
              </a:rPr>
              <a:t> </a:t>
            </a:r>
            <a:r>
              <a:rPr lang="vi-VN" dirty="0" err="1">
                <a:sym typeface="Symbol"/>
              </a:rPr>
              <a:t>đề</a:t>
            </a:r>
            <a:r>
              <a:rPr lang="vi-VN" dirty="0">
                <a:sym typeface="Symbol"/>
              </a:rPr>
              <a:t> </a:t>
            </a:r>
            <a:r>
              <a:rPr lang="vi-VN" dirty="0" err="1">
                <a:sym typeface="Symbol"/>
              </a:rPr>
              <a:t>lượng</a:t>
            </a:r>
            <a:r>
              <a:rPr lang="vi-VN" dirty="0">
                <a:sym typeface="Symbol"/>
              </a:rPr>
              <a:t> </a:t>
            </a:r>
            <a:r>
              <a:rPr lang="vi-VN" dirty="0" err="1">
                <a:sym typeface="Symbol"/>
              </a:rPr>
              <a:t>từ</a:t>
            </a:r>
            <a:r>
              <a:rPr lang="vi-VN" dirty="0">
                <a:sym typeface="Symbol"/>
              </a:rPr>
              <a:t> </a:t>
            </a:r>
            <a:r>
              <a:rPr lang="vi-VN" dirty="0" err="1">
                <a:sym typeface="Symbol"/>
              </a:rPr>
              <a:t>hóa</a:t>
            </a:r>
            <a:r>
              <a:rPr lang="vi-VN" dirty="0">
                <a:sym typeface="Symbol"/>
              </a:rPr>
              <a:t> </a:t>
            </a:r>
            <a:r>
              <a:rPr lang="vi-VN" dirty="0" err="1">
                <a:sym typeface="Symbol"/>
              </a:rPr>
              <a:t>vị</a:t>
            </a:r>
            <a:r>
              <a:rPr lang="vi-VN" dirty="0">
                <a:sym typeface="Symbol"/>
              </a:rPr>
              <a:t> </a:t>
            </a:r>
            <a:r>
              <a:rPr lang="vi-VN" dirty="0" err="1">
                <a:sym typeface="Symbol"/>
              </a:rPr>
              <a:t>từ</a:t>
            </a:r>
            <a:r>
              <a:rPr lang="vi-VN" dirty="0">
                <a:sym typeface="Symbol"/>
              </a:rPr>
              <a:t> A (</a:t>
            </a:r>
            <a:r>
              <a:rPr lang="vi-VN" dirty="0" err="1">
                <a:sym typeface="Symbol"/>
              </a:rPr>
              <a:t>thường</a:t>
            </a:r>
            <a:r>
              <a:rPr lang="vi-VN" dirty="0">
                <a:sym typeface="Symbol"/>
              </a:rPr>
              <a:t> theo 2 </a:t>
            </a:r>
            <a:r>
              <a:rPr lang="vi-VN" dirty="0" err="1">
                <a:sym typeface="Symbol"/>
              </a:rPr>
              <a:t>biến</a:t>
            </a:r>
            <a:r>
              <a:rPr lang="vi-VN" dirty="0">
                <a:sym typeface="Symbol"/>
              </a:rPr>
              <a:t>). </a:t>
            </a:r>
            <a:r>
              <a:rPr lang="vi-VN" dirty="0" err="1">
                <a:sym typeface="Symbol"/>
              </a:rPr>
              <a:t>Lấy</a:t>
            </a:r>
            <a:r>
              <a:rPr lang="vi-VN" dirty="0">
                <a:sym typeface="Symbol"/>
              </a:rPr>
              <a:t> </a:t>
            </a:r>
            <a:r>
              <a:rPr lang="vi-VN" dirty="0" err="1">
                <a:sym typeface="Symbol"/>
              </a:rPr>
              <a:t>phủ</a:t>
            </a:r>
            <a:r>
              <a:rPr lang="vi-VN" dirty="0">
                <a:sym typeface="Symbol"/>
              </a:rPr>
              <a:t> </a:t>
            </a:r>
            <a:r>
              <a:rPr lang="vi-VN" dirty="0" err="1">
                <a:sym typeface="Symbol"/>
              </a:rPr>
              <a:t>định</a:t>
            </a:r>
            <a:r>
              <a:rPr lang="vi-VN" dirty="0">
                <a:sym typeface="Symbol"/>
              </a:rPr>
              <a:t> </a:t>
            </a:r>
            <a:r>
              <a:rPr lang="vi-VN" dirty="0" err="1">
                <a:sym typeface="Symbol"/>
              </a:rPr>
              <a:t>của</a:t>
            </a:r>
            <a:r>
              <a:rPr lang="vi-VN" dirty="0">
                <a:sym typeface="Symbol"/>
              </a:rPr>
              <a:t> A, </a:t>
            </a:r>
            <a:r>
              <a:rPr lang="vi-VN" dirty="0" err="1">
                <a:sym typeface="Symbol"/>
              </a:rPr>
              <a:t>xác</a:t>
            </a:r>
            <a:r>
              <a:rPr lang="vi-VN" dirty="0">
                <a:sym typeface="Symbol"/>
              </a:rPr>
              <a:t> </a:t>
            </a:r>
            <a:r>
              <a:rPr lang="vi-VN" dirty="0" err="1">
                <a:sym typeface="Symbol"/>
              </a:rPr>
              <a:t>định</a:t>
            </a:r>
            <a:r>
              <a:rPr lang="vi-VN" dirty="0">
                <a:sym typeface="Symbol"/>
              </a:rPr>
              <a:t> chân </a:t>
            </a:r>
            <a:r>
              <a:rPr lang="vi-VN" dirty="0" err="1">
                <a:sym typeface="Symbol"/>
              </a:rPr>
              <a:t>trị</a:t>
            </a:r>
            <a:r>
              <a:rPr lang="vi-VN" dirty="0">
                <a:sym typeface="Symbol"/>
              </a:rPr>
              <a:t> </a:t>
            </a:r>
            <a:r>
              <a:rPr lang="vi-VN" dirty="0" err="1">
                <a:sym typeface="Symbol"/>
              </a:rPr>
              <a:t>của</a:t>
            </a:r>
            <a:r>
              <a:rPr lang="vi-VN" dirty="0">
                <a:sym typeface="Symbol"/>
              </a:rPr>
              <a:t> A hay A </a:t>
            </a:r>
            <a:r>
              <a:rPr lang="vi-VN" dirty="0" err="1">
                <a:sym typeface="Symbol"/>
              </a:rPr>
              <a:t>phủ</a:t>
            </a:r>
            <a:r>
              <a:rPr lang="vi-VN" dirty="0">
                <a:sym typeface="Symbol"/>
              </a:rPr>
              <a:t>.</a:t>
            </a:r>
          </a:p>
          <a:p>
            <a:pPr algn="just">
              <a:buClr>
                <a:srgbClr val="FF0000"/>
              </a:buClr>
              <a:buFont typeface="Wingdings" panose="05000000000000000000" pitchFamily="2" charset="2"/>
              <a:buChar char="ü"/>
            </a:pPr>
            <a:endParaRPr lang="vi-VN" dirty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712787"/>
          </a:xfrm>
        </p:spPr>
        <p:txBody>
          <a:bodyPr/>
          <a:lstStyle/>
          <a:p>
            <a:r>
              <a:rPr lang="en-US" sz="4800" b="1" dirty="0" err="1"/>
              <a:t>Nội</a:t>
            </a:r>
            <a:r>
              <a:rPr lang="en-US" sz="4800" b="1" dirty="0"/>
              <a:t> dung </a:t>
            </a:r>
            <a:r>
              <a:rPr lang="en-US" sz="4800" b="1" dirty="0" err="1"/>
              <a:t>chính</a:t>
            </a:r>
            <a:r>
              <a:rPr lang="en-US" sz="4800" b="1" dirty="0"/>
              <a:t> </a:t>
            </a:r>
            <a:r>
              <a:rPr lang="en-US" sz="4800" b="1" dirty="0" err="1"/>
              <a:t>chương</a:t>
            </a:r>
            <a:r>
              <a:rPr lang="en-US" sz="4800" b="1"/>
              <a:t> I</a:t>
            </a:r>
            <a:endParaRPr lang="en-US" sz="4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5011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60</a:t>
            </a:fld>
            <a:endParaRPr lang="en-US"/>
          </a:p>
        </p:txBody>
      </p:sp>
      <p:grpSp>
        <p:nvGrpSpPr>
          <p:cNvPr id="3" name="Nhóm 2"/>
          <p:cNvGrpSpPr/>
          <p:nvPr/>
        </p:nvGrpSpPr>
        <p:grpSpPr>
          <a:xfrm>
            <a:off x="1447800" y="1676400"/>
            <a:ext cx="6654344" cy="4286250"/>
            <a:chOff x="1447800" y="1676400"/>
            <a:chExt cx="6654344" cy="4286250"/>
          </a:xfrm>
        </p:grpSpPr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47800" y="1676400"/>
              <a:ext cx="6654344" cy="4286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" name="Ảnh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47800" y="2642286"/>
              <a:ext cx="295275" cy="304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257834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10" name="Hình chữ nhật 9"/>
          <p:cNvSpPr/>
          <p:nvPr/>
        </p:nvSpPr>
        <p:spPr>
          <a:xfrm>
            <a:off x="1143000" y="228600"/>
            <a:ext cx="16002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 err="1">
                <a:solidFill>
                  <a:schemeClr val="accent2"/>
                </a:solidFill>
              </a:rPr>
              <a:t>Bài</a:t>
            </a:r>
            <a:r>
              <a:rPr lang="en-US" sz="3200" dirty="0">
                <a:solidFill>
                  <a:schemeClr val="accent2"/>
                </a:solidFill>
              </a:rPr>
              <a:t> </a:t>
            </a:r>
            <a:r>
              <a:rPr lang="en-US" sz="3200" dirty="0" err="1">
                <a:solidFill>
                  <a:schemeClr val="accent2"/>
                </a:solidFill>
              </a:rPr>
              <a:t>tập</a:t>
            </a:r>
            <a:endParaRPr lang="vi-VN" sz="3200" dirty="0">
              <a:solidFill>
                <a:schemeClr val="accent2"/>
              </a:solidFill>
            </a:endParaRPr>
          </a:p>
        </p:txBody>
      </p:sp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00200"/>
            <a:ext cx="7362825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4884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62</a:t>
            </a:fld>
            <a:endParaRPr lang="en-US"/>
          </a:p>
        </p:txBody>
      </p:sp>
      <p:pic>
        <p:nvPicPr>
          <p:cNvPr id="8" name="Ảnh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04900"/>
            <a:ext cx="7162800" cy="5143500"/>
          </a:xfrm>
          <a:prstGeom prst="rect">
            <a:avLst/>
          </a:prstGeom>
        </p:spPr>
      </p:pic>
      <p:sp>
        <p:nvSpPr>
          <p:cNvPr id="10" name="Hình chữ nhật 9"/>
          <p:cNvSpPr/>
          <p:nvPr/>
        </p:nvSpPr>
        <p:spPr>
          <a:xfrm>
            <a:off x="1143000" y="228600"/>
            <a:ext cx="16002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 err="1">
                <a:solidFill>
                  <a:schemeClr val="accent2"/>
                </a:solidFill>
              </a:rPr>
              <a:t>Bài</a:t>
            </a:r>
            <a:r>
              <a:rPr lang="en-US" sz="3200" dirty="0">
                <a:solidFill>
                  <a:schemeClr val="accent2"/>
                </a:solidFill>
              </a:rPr>
              <a:t> </a:t>
            </a:r>
            <a:r>
              <a:rPr lang="en-US" sz="3200" dirty="0" err="1">
                <a:solidFill>
                  <a:schemeClr val="accent2"/>
                </a:solidFill>
              </a:rPr>
              <a:t>tập</a:t>
            </a:r>
            <a:endParaRPr lang="vi-VN" sz="32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40628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10" name="Hình chữ nhật 9"/>
          <p:cNvSpPr/>
          <p:nvPr/>
        </p:nvSpPr>
        <p:spPr>
          <a:xfrm>
            <a:off x="1143000" y="228600"/>
            <a:ext cx="16002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 err="1">
                <a:solidFill>
                  <a:schemeClr val="accent2"/>
                </a:solidFill>
              </a:rPr>
              <a:t>Bài</a:t>
            </a:r>
            <a:r>
              <a:rPr lang="en-US" sz="3200" dirty="0">
                <a:solidFill>
                  <a:schemeClr val="accent2"/>
                </a:solidFill>
              </a:rPr>
              <a:t> </a:t>
            </a:r>
            <a:r>
              <a:rPr lang="en-US" sz="3200" dirty="0" err="1">
                <a:solidFill>
                  <a:schemeClr val="accent2"/>
                </a:solidFill>
              </a:rPr>
              <a:t>tập</a:t>
            </a:r>
            <a:endParaRPr lang="vi-VN" sz="3200" dirty="0">
              <a:solidFill>
                <a:schemeClr val="accent2"/>
              </a:solidFill>
            </a:endParaRPr>
          </a:p>
        </p:txBody>
      </p:sp>
      <p:pic>
        <p:nvPicPr>
          <p:cNvPr id="2" name="Ản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05000"/>
            <a:ext cx="767715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571149"/>
      </p:ext>
    </p:extLst>
  </p:cSld>
  <p:clrMapOvr>
    <a:masterClrMapping/>
  </p:clrMapOvr>
</p:sld>
</file>

<file path=ppt/theme/theme1.xml><?xml version="1.0" encoding="utf-8"?>
<a:theme xmlns:a="http://schemas.openxmlformats.org/drawingml/2006/main" name="Layers">
  <a:themeElements>
    <a:clrScheme name="Office Theme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Office Theme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Layers</Template>
  <TotalTime>5716</TotalTime>
  <Words>4463</Words>
  <Application>Microsoft Office PowerPoint</Application>
  <PresentationFormat>On-screen Show (4:3)</PresentationFormat>
  <Paragraphs>604</Paragraphs>
  <Slides>63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0" baseType="lpstr">
      <vt:lpstr>Arial</vt:lpstr>
      <vt:lpstr>Calibri</vt:lpstr>
      <vt:lpstr>Symbol</vt:lpstr>
      <vt:lpstr>Times New Roman</vt:lpstr>
      <vt:lpstr>Wingdings</vt:lpstr>
      <vt:lpstr>Layers</vt:lpstr>
      <vt:lpstr>Equation</vt:lpstr>
      <vt:lpstr>CẤU TRÚC RỜI RẠC</vt:lpstr>
      <vt:lpstr>CHƯƠNG I: CƠ SỞ LOGIC</vt:lpstr>
      <vt:lpstr>Mệnh đề</vt:lpstr>
      <vt:lpstr>Mệnh đề</vt:lpstr>
      <vt:lpstr>Mệnh đề</vt:lpstr>
      <vt:lpstr>Mệnh đề</vt:lpstr>
      <vt:lpstr>Mệnh đề</vt:lpstr>
      <vt:lpstr>Mệnh đề</vt:lpstr>
      <vt:lpstr>Mệnh đề</vt:lpstr>
      <vt:lpstr>Mệnh đề</vt:lpstr>
      <vt:lpstr>Mệnh đề</vt:lpstr>
      <vt:lpstr>Biểu thức logic (Dạng mệnh đề)</vt:lpstr>
      <vt:lpstr>Biểu thức logic</vt:lpstr>
      <vt:lpstr>Biểu thức logic</vt:lpstr>
      <vt:lpstr>Biểu thức logic</vt:lpstr>
      <vt:lpstr>Biểu thức logic</vt:lpstr>
      <vt:lpstr>Biểu thức logic</vt:lpstr>
      <vt:lpstr>Các luật logic</vt:lpstr>
      <vt:lpstr>Các luật logic</vt:lpstr>
      <vt:lpstr>Các luật logic</vt:lpstr>
      <vt:lpstr>Các luật logic</vt:lpstr>
      <vt:lpstr>Các luật logic</vt:lpstr>
      <vt:lpstr>Qui tắc suy diễn</vt:lpstr>
      <vt:lpstr>Qui tắc suy diễn</vt:lpstr>
      <vt:lpstr>Qui tắc suy diễn </vt:lpstr>
      <vt:lpstr>Qui tắc suy diễn </vt:lpstr>
      <vt:lpstr>Qui tắc suy diễn </vt:lpstr>
      <vt:lpstr>Qui tắc suy diễn </vt:lpstr>
      <vt:lpstr>Qui tắc suy diễn</vt:lpstr>
      <vt:lpstr>Qui tắc suy diễn</vt:lpstr>
      <vt:lpstr>Qui tắc suy diễn</vt:lpstr>
      <vt:lpstr>Qui tắc suy diễn</vt:lpstr>
      <vt:lpstr>Qui tắc suy diễn</vt:lpstr>
      <vt:lpstr>Qui tắc suy diễn</vt:lpstr>
      <vt:lpstr>Qui tắc suy diễn</vt:lpstr>
      <vt:lpstr>Qui tắc suy diễn</vt:lpstr>
      <vt:lpstr>Qui tắc suy diễn</vt:lpstr>
      <vt:lpstr>Qui tắc suy diễn</vt:lpstr>
      <vt:lpstr>Qui tắc suy diễn</vt:lpstr>
      <vt:lpstr>Suy luận sau đúng hay không đúng?</vt:lpstr>
      <vt:lpstr>Qui tắc suy diễn</vt:lpstr>
      <vt:lpstr>Qui tắc suy diễn</vt:lpstr>
      <vt:lpstr>Vị từ - Lượng từ</vt:lpstr>
      <vt:lpstr>Vị từ - Lượng từ</vt:lpstr>
      <vt:lpstr>Vị từ - Lượng từ</vt:lpstr>
      <vt:lpstr>PowerPoint Presentation</vt:lpstr>
      <vt:lpstr>Vị từ - Lượng từ</vt:lpstr>
      <vt:lpstr>Vị từ - Lượng từ</vt:lpstr>
      <vt:lpstr>PowerPoint Presentation</vt:lpstr>
      <vt:lpstr>PowerPoint Presentation</vt:lpstr>
      <vt:lpstr>Vị từ - Lượng từ</vt:lpstr>
      <vt:lpstr>Vị từ - Lượng từ</vt:lpstr>
      <vt:lpstr>Vị từ - Lượng từ</vt:lpstr>
      <vt:lpstr>Vị từ - Lượng từ</vt:lpstr>
      <vt:lpstr>Vị từ - Lượng từ</vt:lpstr>
      <vt:lpstr>Qui nạp</vt:lpstr>
      <vt:lpstr>Qui nạp</vt:lpstr>
      <vt:lpstr>Qui nạp</vt:lpstr>
      <vt:lpstr>Nội dung chính chương I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Cấu trúc rời rạc</dc:title>
  <dc:creator>MOP</dc:creator>
  <cp:lastModifiedBy>Le Van</cp:lastModifiedBy>
  <cp:revision>351</cp:revision>
  <cp:lastPrinted>1601-01-01T00:00:00Z</cp:lastPrinted>
  <dcterms:created xsi:type="dcterms:W3CDTF">2011-10-02T12:41:29Z</dcterms:created>
  <dcterms:modified xsi:type="dcterms:W3CDTF">2023-04-27T02:06:39Z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TC102037551033</vt:lpwstr>
  </property>
</Properties>
</file>