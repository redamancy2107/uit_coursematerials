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47"/>
  </p:notesMasterIdLst>
  <p:sldIdLst>
    <p:sldId id="256" r:id="rId2"/>
    <p:sldId id="258" r:id="rId3"/>
    <p:sldId id="260" r:id="rId4"/>
    <p:sldId id="261" r:id="rId5"/>
    <p:sldId id="259" r:id="rId6"/>
    <p:sldId id="262" r:id="rId7"/>
    <p:sldId id="263" r:id="rId8"/>
    <p:sldId id="28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3" r:id="rId26"/>
    <p:sldId id="293" r:id="rId27"/>
    <p:sldId id="302" r:id="rId28"/>
    <p:sldId id="292" r:id="rId29"/>
    <p:sldId id="284" r:id="rId30"/>
    <p:sldId id="294" r:id="rId31"/>
    <p:sldId id="295" r:id="rId32"/>
    <p:sldId id="296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3" r:id="rId43"/>
    <p:sldId id="312" r:id="rId44"/>
    <p:sldId id="314" r:id="rId45"/>
    <p:sldId id="315" r:id="rId4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40" autoAdjust="0"/>
    <p:restoredTop sz="94660"/>
  </p:normalViewPr>
  <p:slideViewPr>
    <p:cSldViewPr>
      <p:cViewPr>
        <p:scale>
          <a:sx n="80" d="100"/>
          <a:sy n="80" d="100"/>
        </p:scale>
        <p:origin x="1164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357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209" y="0"/>
            <a:ext cx="3170357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867" y="4560086"/>
            <a:ext cx="5853468" cy="4320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72"/>
            <a:ext cx="3170357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209" y="9120172"/>
            <a:ext cx="3170357" cy="479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18BF888-C6AD-4E99-BF9C-46A2188C2C22}" type="slidenum">
              <a:rPr lang="en-US" altLang="vi-VN"/>
              <a:pPr>
                <a:defRPr/>
              </a:pPr>
              <a:t>‹#›</a:t>
            </a:fld>
            <a:endParaRPr lang="en-US" altLang="vi-VN"/>
          </a:p>
        </p:txBody>
      </p:sp>
    </p:spTree>
    <p:extLst>
      <p:ext uri="{BB962C8B-B14F-4D97-AF65-F5344CB8AC3E}">
        <p14:creationId xmlns:p14="http://schemas.microsoft.com/office/powerpoint/2010/main" val="13007028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F3FEC5-4ACB-4BC7-B816-18533B52171D}" type="slidenum">
              <a:rPr lang="en-US" altLang="vi-VN" sz="1300" smtClean="0"/>
              <a:pPr>
                <a:spcBef>
                  <a:spcPct val="0"/>
                </a:spcBef>
              </a:pPr>
              <a:t>2</a:t>
            </a:fld>
            <a:endParaRPr lang="en-US" altLang="vi-VN" sz="130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vi-VN" smtClean="0">
                <a:latin typeface="Arial" panose="020B0604020202020204" pitchFamily="34" charset="0"/>
              </a:rPr>
              <a:t>- Đồ thị dùng biểu diễn mối tương quan giữa 2 hay nhiều đối tượng</a:t>
            </a:r>
          </a:p>
        </p:txBody>
      </p:sp>
    </p:spTree>
    <p:extLst>
      <p:ext uri="{BB962C8B-B14F-4D97-AF65-F5344CB8AC3E}">
        <p14:creationId xmlns:p14="http://schemas.microsoft.com/office/powerpoint/2010/main" val="190527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64C9BC-1FC3-41D7-87FA-2CEB94138CDA}" type="slidenum">
              <a:rPr lang="en-US" altLang="vi-VN" sz="1300" smtClean="0"/>
              <a:pPr>
                <a:spcBef>
                  <a:spcPct val="0"/>
                </a:spcBef>
              </a:pPr>
              <a:t>3</a:t>
            </a:fld>
            <a:endParaRPr lang="en-US" altLang="vi-VN" sz="130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vi-VN" smtClean="0">
                <a:latin typeface="Arial" panose="020B0604020202020204" pitchFamily="34" charset="0"/>
              </a:rPr>
              <a:t>- Đồ thị dùng biểu diễn mối tương quan giữa 2 hay nhiều đối tượng</a:t>
            </a:r>
          </a:p>
        </p:txBody>
      </p:sp>
    </p:spTree>
    <p:extLst>
      <p:ext uri="{BB962C8B-B14F-4D97-AF65-F5344CB8AC3E}">
        <p14:creationId xmlns:p14="http://schemas.microsoft.com/office/powerpoint/2010/main" val="268657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E3EC9B-6B69-4D24-949E-19890464B39B}" type="slidenum">
              <a:rPr lang="en-US" altLang="vi-VN" sz="1300" smtClean="0"/>
              <a:pPr>
                <a:spcBef>
                  <a:spcPct val="0"/>
                </a:spcBef>
              </a:pPr>
              <a:t>4</a:t>
            </a:fld>
            <a:endParaRPr lang="en-US" altLang="vi-VN" sz="1300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vi-VN" smtClean="0">
                <a:latin typeface="Arial" panose="020B0604020202020204" pitchFamily="34" charset="0"/>
              </a:rPr>
              <a:t>- Đồ thị dùng biểu diễn mối tương quan giữa 2 hay nhiều đối tượng</a:t>
            </a:r>
          </a:p>
        </p:txBody>
      </p:sp>
    </p:spTree>
    <p:extLst>
      <p:ext uri="{BB962C8B-B14F-4D97-AF65-F5344CB8AC3E}">
        <p14:creationId xmlns:p14="http://schemas.microsoft.com/office/powerpoint/2010/main" val="2313435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7EBB4AB-CE40-4109-B5B6-4FD1852B196C}" type="slidenum">
              <a:rPr lang="en-US" altLang="vi-VN" sz="1300" smtClean="0"/>
              <a:pPr>
                <a:spcBef>
                  <a:spcPct val="0"/>
                </a:spcBef>
              </a:pPr>
              <a:t>12</a:t>
            </a:fld>
            <a:endParaRPr lang="en-US" altLang="vi-VN" sz="1300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vi-VN" smtClean="0">
                <a:latin typeface="Arial" panose="020B0604020202020204" pitchFamily="34" charset="0"/>
              </a:rPr>
              <a:t>- Đồ thị dùng biểu diễn mối tương quan giữa 2 hay nhiều đối tượng</a:t>
            </a:r>
          </a:p>
        </p:txBody>
      </p:sp>
    </p:spTree>
    <p:extLst>
      <p:ext uri="{BB962C8B-B14F-4D97-AF65-F5344CB8AC3E}">
        <p14:creationId xmlns:p14="http://schemas.microsoft.com/office/powerpoint/2010/main" val="3797152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D3C4B2-4066-428C-96D7-4A8DF3FC604E}" type="slidenum">
              <a:rPr lang="en-US" altLang="vi-VN" sz="1300" smtClean="0"/>
              <a:pPr>
                <a:spcBef>
                  <a:spcPct val="0"/>
                </a:spcBef>
              </a:pPr>
              <a:t>13</a:t>
            </a:fld>
            <a:endParaRPr lang="en-US" altLang="vi-VN" sz="130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vi-VN" smtClean="0">
                <a:latin typeface="Arial" panose="020B0604020202020204" pitchFamily="34" charset="0"/>
              </a:rPr>
              <a:t>- Đồ thị dùng biểu diễn mối tương quan giữa 2 hay nhiều đối tượng</a:t>
            </a:r>
          </a:p>
        </p:txBody>
      </p:sp>
    </p:spTree>
    <p:extLst>
      <p:ext uri="{BB962C8B-B14F-4D97-AF65-F5344CB8AC3E}">
        <p14:creationId xmlns:p14="http://schemas.microsoft.com/office/powerpoint/2010/main" val="485198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6A6DC7-99E5-4B81-8B66-ABD79286B337}" type="slidenum">
              <a:rPr lang="en-US" altLang="vi-VN" sz="1300" smtClean="0"/>
              <a:pPr>
                <a:spcBef>
                  <a:spcPct val="0"/>
                </a:spcBef>
              </a:pPr>
              <a:t>14</a:t>
            </a:fld>
            <a:endParaRPr lang="en-US" altLang="vi-VN" sz="130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vi-VN" smtClean="0">
                <a:latin typeface="Arial" panose="020B0604020202020204" pitchFamily="34" charset="0"/>
              </a:rPr>
              <a:t>- Đồ thị dùng biểu diễn mối tương quan giữa 2 hay nhiều đối tượng</a:t>
            </a:r>
          </a:p>
        </p:txBody>
      </p:sp>
    </p:spTree>
    <p:extLst>
      <p:ext uri="{BB962C8B-B14F-4D97-AF65-F5344CB8AC3E}">
        <p14:creationId xmlns:p14="http://schemas.microsoft.com/office/powerpoint/2010/main" val="4290980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C6E6B8-6084-4FA5-9968-9DA0FFD9E964}" type="slidenum">
              <a:rPr lang="en-US" altLang="vi-VN" sz="1300" smtClean="0"/>
              <a:pPr>
                <a:spcBef>
                  <a:spcPct val="0"/>
                </a:spcBef>
              </a:pPr>
              <a:t>15</a:t>
            </a:fld>
            <a:endParaRPr lang="en-US" altLang="vi-VN" sz="1300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vi-VN" smtClean="0">
                <a:latin typeface="Arial" panose="020B0604020202020204" pitchFamily="34" charset="0"/>
              </a:rPr>
              <a:t>- Đồ thị dùng biểu diễn mối tương quan giữa 2 hay nhiều đối tượng</a:t>
            </a:r>
          </a:p>
        </p:txBody>
      </p:sp>
    </p:spTree>
    <p:extLst>
      <p:ext uri="{BB962C8B-B14F-4D97-AF65-F5344CB8AC3E}">
        <p14:creationId xmlns:p14="http://schemas.microsoft.com/office/powerpoint/2010/main" val="545746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67032-AB45-45AF-AEFF-8EC5A24508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746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ADDAA-B6DC-4E8C-AF4B-44E33CA9B5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209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3D662-5D83-40C2-BE25-414F9264E2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FB99E-065C-46AD-899F-2C50B352CD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050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B1363-8469-433F-89D4-5CFDB678DB8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3627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D12E0-E900-44D2-A62B-B7E37784D6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8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1D5EC-9B53-472B-A927-7B02033A41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8813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9BF7B-8FE0-4A0D-8781-5ADEAE31F9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5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2C5D6-9216-4A41-8243-17A5B57D8F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51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7DF7F-6939-4E8F-B907-ABAACA0C6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66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A7CA2E-981F-45AE-980F-4D1C83C0AB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084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478122-B722-4F17-8190-2AC775A90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978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4FC95-D655-4583-BF2B-6ECB87A4B4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578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D36C6-FCE0-46EE-B4EF-B0F1650902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7673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90BDE5CB-42F0-4A42-A5CF-91CF35C2D5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3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3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3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3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4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5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6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6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6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6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6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  <p:sp>
          <p:nvSpPr>
            <p:cNvPr id="106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vi-VN" altLang="vi-VN" smtClean="0"/>
            </a:p>
          </p:txBody>
        </p:sp>
      </p:grpSp>
      <p:sp>
        <p:nvSpPr>
          <p:cNvPr id="1033" name="Line 40"/>
          <p:cNvSpPr>
            <a:spLocks noChangeShapeType="1"/>
          </p:cNvSpPr>
          <p:nvPr userDrawn="1"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vi-VN"/>
          </a:p>
        </p:txBody>
      </p:sp>
      <p:sp>
        <p:nvSpPr>
          <p:cNvPr id="1034" name="Text Box 41"/>
          <p:cNvSpPr txBox="1">
            <a:spLocks noChangeArrowheads="1"/>
          </p:cNvSpPr>
          <p:nvPr userDrawn="1"/>
        </p:nvSpPr>
        <p:spPr bwMode="auto">
          <a:xfrm>
            <a:off x="365125" y="6172200"/>
            <a:ext cx="2644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vi-VN" sz="1400" smtClean="0"/>
              <a:t>Chương 1. Đại cương về đồ thị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oleObject" Target="../embeddings/oleObject6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wmf"/><Relationship Id="rId5" Type="http://schemas.openxmlformats.org/officeDocument/2006/relationships/oleObject" Target="../embeddings/oleObject7.bin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10.wmf"/><Relationship Id="rId9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1.png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32.png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8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5913" y="457200"/>
            <a:ext cx="6923087" cy="2143125"/>
          </a:xfrm>
        </p:spPr>
        <p:txBody>
          <a:bodyPr/>
          <a:lstStyle/>
          <a:p>
            <a:pPr marL="342900" indent="-342900" algn="ctr" eaLnBrk="1" hangingPunct="1"/>
            <a:r>
              <a:rPr lang="en-US" altLang="vi-VN" sz="3600" smtClean="0"/>
              <a:t/>
            </a:r>
            <a:br>
              <a:rPr lang="en-US" altLang="vi-VN" sz="3600" smtClean="0"/>
            </a:br>
            <a:r>
              <a:rPr lang="en-US" altLang="vi-VN" sz="3200" smtClean="0"/>
              <a:t>CHƯƠNG 5: CÁC KHÁI NIỆM CƠ BẢN CỦA LÝ THUYẾT ĐỒ THỊ</a:t>
            </a:r>
            <a:br>
              <a:rPr lang="en-US" altLang="vi-VN" sz="3200" smtClean="0"/>
            </a:br>
            <a:endParaRPr lang="en-US" altLang="vi-VN" sz="320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971800"/>
            <a:ext cx="6564313" cy="3429000"/>
          </a:xfrm>
        </p:spPr>
        <p:txBody>
          <a:bodyPr/>
          <a:lstStyle/>
          <a:p>
            <a:pPr algn="l" eaLnBrk="1" hangingPunct="1"/>
            <a:r>
              <a:rPr lang="en-US" altLang="vi-VN" sz="2400" smtClean="0"/>
              <a:t>PHẦN 1: </a:t>
            </a:r>
          </a:p>
          <a:p>
            <a:pPr algn="l" eaLnBrk="1" hangingPunct="1">
              <a:buFontTx/>
              <a:buChar char="-"/>
            </a:pPr>
            <a:r>
              <a:rPr lang="en-US" altLang="vi-VN" sz="2200" smtClean="0"/>
              <a:t> Các khái niệm cơ bản</a:t>
            </a:r>
          </a:p>
          <a:p>
            <a:pPr algn="l" eaLnBrk="1" hangingPunct="1">
              <a:buFontTx/>
              <a:buChar char="-"/>
            </a:pPr>
            <a:r>
              <a:rPr lang="en-US" altLang="vi-VN" sz="2200" smtClean="0"/>
              <a:t> Biểu diễn đồ thị</a:t>
            </a:r>
          </a:p>
          <a:p>
            <a:pPr algn="l" eaLnBrk="1" hangingPunct="1">
              <a:buFontTx/>
              <a:buChar char="-"/>
            </a:pPr>
            <a:r>
              <a:rPr lang="en-US" altLang="vi-VN" sz="2200" smtClean="0"/>
              <a:t> Một số đồ thị đặc biệt</a:t>
            </a:r>
          </a:p>
          <a:p>
            <a:pPr algn="l" eaLnBrk="1" hangingPunct="1">
              <a:buFontTx/>
              <a:buChar char="-"/>
            </a:pPr>
            <a:r>
              <a:rPr lang="en-US" altLang="vi-VN" sz="2200" smtClean="0"/>
              <a:t> Sự đẳng cấu của các đồ thị</a:t>
            </a:r>
          </a:p>
          <a:p>
            <a:pPr algn="l" eaLnBrk="1" hangingPunct="1">
              <a:buFontTx/>
              <a:buChar char="-"/>
            </a:pPr>
            <a:r>
              <a:rPr lang="en-US" altLang="vi-VN" sz="2200" smtClean="0"/>
              <a:t> Đồ thị có hướng</a:t>
            </a:r>
          </a:p>
          <a:p>
            <a:pPr algn="l" eaLnBrk="1" hangingPunct="1">
              <a:buFontTx/>
              <a:buChar char="-"/>
            </a:pPr>
            <a:r>
              <a:rPr lang="en-US" altLang="vi-VN" sz="2200" smtClean="0"/>
              <a:t> Đường đi và chu trình</a:t>
            </a:r>
          </a:p>
          <a:p>
            <a:pPr algn="l" eaLnBrk="1" hangingPunct="1">
              <a:buFontTx/>
              <a:buChar char="-"/>
            </a:pPr>
            <a:r>
              <a:rPr lang="en-US" altLang="vi-VN" sz="2200" smtClean="0"/>
              <a:t> Sự liên thông</a:t>
            </a:r>
          </a:p>
        </p:txBody>
      </p:sp>
      <p:sp>
        <p:nvSpPr>
          <p:cNvPr id="410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61AA3F-A60C-4399-A949-2FDC8040BF78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0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z="2600" smtClean="0"/>
              <a:t>Đồ thị (Graph)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i="1" smtClean="0"/>
              <a:t>G</a:t>
            </a:r>
            <a:r>
              <a:rPr lang="en-US" altLang="vi-VN" sz="2200" smtClean="0"/>
              <a:t> = 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, 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) với </a:t>
            </a:r>
            <a:r>
              <a:rPr lang="en-US" altLang="vi-VN" sz="2200" i="1" smtClean="0"/>
              <a:t>V</a:t>
            </a:r>
            <a:r>
              <a:rPr lang="en-US" altLang="vi-VN" sz="2200" smtClean="0">
                <a:cs typeface="Arial" panose="020B0604020202020204" pitchFamily="34" charset="0"/>
              </a:rPr>
              <a:t>≠</a:t>
            </a:r>
            <a:r>
              <a:rPr lang="en-US" altLang="vi-VN" sz="2200" smtClean="0">
                <a:cs typeface="Arial" panose="020B0604020202020204" pitchFamily="34" charset="0"/>
                <a:sym typeface="Symbol" panose="05050102010706020507" pitchFamily="18" charset="2"/>
              </a:rPr>
              <a:t>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: tập các đỉnh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: tập các cạnh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>
                <a:cs typeface="Arial" panose="020B0604020202020204" pitchFamily="34" charset="0"/>
                <a:sym typeface="Symbol" panose="05050102010706020507" pitchFamily="18" charset="2"/>
              </a:rPr>
              <a:t>Cạnh </a:t>
            </a:r>
            <a:r>
              <a:rPr lang="en-US" altLang="vi-VN" sz="2200" i="1" smtClean="0"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vi-VN" sz="2200" smtClean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vi-VN" sz="2200" i="1" smtClean="0"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ứng với 2 đỉnh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w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w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 là 2 </a:t>
            </a:r>
            <a:r>
              <a:rPr lang="en-US" altLang="vi-VN" sz="2100" smtClean="0">
                <a:solidFill>
                  <a:schemeClr val="tx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đỉnh kề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 (hay liên kết) với nhau,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 liên thuộc với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 và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w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Ký hiệu: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 =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vw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 (…)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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w 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: e được gọi là </a:t>
            </a:r>
            <a:r>
              <a:rPr lang="en-US" altLang="vi-VN" sz="2100" smtClean="0">
                <a:solidFill>
                  <a:schemeClr val="tx2"/>
                </a:solidFill>
                <a:cs typeface="Arial" panose="020B0604020202020204" pitchFamily="34" charset="0"/>
                <a:sym typeface="Symbol" panose="05050102010706020507" pitchFamily="18" charset="2"/>
              </a:rPr>
              <a:t>vòng</a:t>
            </a:r>
            <a:r>
              <a:rPr lang="en-US" altLang="vi-VN" sz="2100" smtClean="0">
                <a:cs typeface="Arial" panose="020B0604020202020204" pitchFamily="34" charset="0"/>
                <a:sym typeface="Symbol" panose="05050102010706020507" pitchFamily="18" charset="2"/>
              </a:rPr>
              <a:t> (khuyên) tại </a:t>
            </a:r>
            <a:r>
              <a:rPr lang="en-US" altLang="vi-VN" sz="2100" i="1" smtClean="0"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</a:p>
        </p:txBody>
      </p:sp>
      <p:pic>
        <p:nvPicPr>
          <p:cNvPr id="1229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9600" y="2436813"/>
            <a:ext cx="3629025" cy="2401887"/>
          </a:xfrm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4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334000"/>
            <a:ext cx="44672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5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029200"/>
            <a:ext cx="16192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1563F2-4FDF-468C-9B9F-A61D8B57A45D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000" smtClean="0"/>
          </a:p>
        </p:txBody>
      </p:sp>
      <p:sp>
        <p:nvSpPr>
          <p:cNvPr id="5128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dirty="0" err="1" smtClean="0"/>
              <a:t>Đồ</a:t>
            </a:r>
            <a:r>
              <a:rPr lang="en-US" altLang="vi-VN" sz="2600" dirty="0" smtClean="0"/>
              <a:t> </a:t>
            </a:r>
            <a:r>
              <a:rPr lang="en-US" altLang="vi-VN" sz="2600" dirty="0" err="1" smtClean="0"/>
              <a:t>thị</a:t>
            </a:r>
            <a:r>
              <a:rPr lang="en-US" altLang="vi-VN" sz="2600" dirty="0" smtClean="0"/>
              <a:t> (Graph)</a:t>
            </a:r>
          </a:p>
          <a:p>
            <a:pPr lvl="1" eaLnBrk="1" hangingPunct="1"/>
            <a:r>
              <a:rPr lang="en-US" altLang="vi-VN" sz="2200" i="1" dirty="0" err="1" smtClean="0"/>
              <a:t>Cạnh</a:t>
            </a:r>
            <a:r>
              <a:rPr lang="en-US" altLang="vi-VN" sz="2200" i="1" dirty="0" smtClean="0"/>
              <a:t> </a:t>
            </a:r>
            <a:r>
              <a:rPr lang="en-US" altLang="vi-VN" sz="2200" i="1" dirty="0" err="1" smtClean="0"/>
              <a:t>bội</a:t>
            </a:r>
            <a:r>
              <a:rPr lang="en-US" altLang="vi-VN" sz="2200" dirty="0" smtClean="0"/>
              <a:t> (song song)</a:t>
            </a:r>
          </a:p>
          <a:p>
            <a:pPr lvl="2" eaLnBrk="1" hangingPunct="1"/>
            <a:r>
              <a:rPr lang="en-US" altLang="vi-VN" sz="2100" dirty="0" err="1" smtClean="0"/>
              <a:t>Các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cạnh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phân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biệt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cùng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tương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ứng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với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một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cặp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đỉnh</a:t>
            </a:r>
            <a:endParaRPr lang="en-US" altLang="vi-VN" sz="2100" dirty="0" smtClean="0"/>
          </a:p>
          <a:p>
            <a:pPr lvl="1" eaLnBrk="1" hangingPunct="1"/>
            <a:r>
              <a:rPr lang="en-US" altLang="vi-VN" sz="2200" i="1" dirty="0" err="1" smtClean="0"/>
              <a:t>Đơn</a:t>
            </a:r>
            <a:r>
              <a:rPr lang="en-US" altLang="vi-VN" sz="2200" i="1" dirty="0" smtClean="0"/>
              <a:t> </a:t>
            </a:r>
            <a:r>
              <a:rPr lang="en-US" altLang="vi-VN" sz="2200" i="1" dirty="0" err="1" smtClean="0"/>
              <a:t>đồ</a:t>
            </a:r>
            <a:r>
              <a:rPr lang="en-US" altLang="vi-VN" sz="2200" i="1" dirty="0" smtClean="0"/>
              <a:t> </a:t>
            </a:r>
            <a:r>
              <a:rPr lang="en-US" altLang="vi-VN" sz="2200" i="1" dirty="0" err="1" smtClean="0"/>
              <a:t>thị</a:t>
            </a:r>
            <a:endParaRPr lang="en-US" altLang="vi-VN" sz="2200" i="1" dirty="0" smtClean="0"/>
          </a:p>
          <a:p>
            <a:pPr lvl="2" eaLnBrk="1" hangingPunct="1"/>
            <a:r>
              <a:rPr lang="en-US" altLang="vi-VN" sz="2100" dirty="0" err="1" smtClean="0"/>
              <a:t>Đồ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thị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không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có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vòng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và</a:t>
            </a:r>
            <a:r>
              <a:rPr lang="en-US" altLang="vi-VN" sz="2100" dirty="0" smtClean="0"/>
              <a:t> </a:t>
            </a:r>
            <a:r>
              <a:rPr lang="en-US" altLang="vi-VN" sz="2100" dirty="0" err="1" smtClean="0"/>
              <a:t>cạnh</a:t>
            </a:r>
            <a:r>
              <a:rPr lang="en-US" altLang="vi-VN" sz="2100" dirty="0" smtClean="0"/>
              <a:t> song </a:t>
            </a:r>
            <a:r>
              <a:rPr lang="en-US" altLang="vi-VN" sz="2100" dirty="0" err="1" smtClean="0"/>
              <a:t>song</a:t>
            </a:r>
            <a:endParaRPr lang="en-US" altLang="vi-VN" sz="2100" dirty="0" smtClean="0"/>
          </a:p>
          <a:p>
            <a:pPr lvl="1" eaLnBrk="1" hangingPunct="1"/>
            <a:r>
              <a:rPr lang="en-US" altLang="vi-VN" sz="2200" i="1" dirty="0" err="1" smtClean="0">
                <a:cs typeface="Arial" panose="020B0604020202020204" pitchFamily="34" charset="0"/>
                <a:sym typeface="Symbol" panose="05050102010706020507" pitchFamily="18" charset="2"/>
              </a:rPr>
              <a:t>Đa</a:t>
            </a:r>
            <a:r>
              <a:rPr lang="en-US" altLang="vi-VN" sz="2200" i="1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200" i="1" dirty="0" err="1" smtClean="0">
                <a:cs typeface="Arial" panose="020B0604020202020204" pitchFamily="34" charset="0"/>
                <a:sym typeface="Symbol" panose="05050102010706020507" pitchFamily="18" charset="2"/>
              </a:rPr>
              <a:t>đồ</a:t>
            </a:r>
            <a:r>
              <a:rPr lang="en-US" altLang="vi-VN" sz="2200" i="1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200" i="1" dirty="0" err="1" smtClean="0">
                <a:cs typeface="Arial" panose="020B0604020202020204" pitchFamily="34" charset="0"/>
                <a:sym typeface="Symbol" panose="05050102010706020507" pitchFamily="18" charset="2"/>
              </a:rPr>
              <a:t>thị</a:t>
            </a:r>
            <a:endParaRPr lang="en-US" altLang="vi-VN" sz="2200" i="1" dirty="0" smtClean="0"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Các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đồ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thị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không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phải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là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đơn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đồ</a:t>
            </a:r>
            <a:r>
              <a:rPr lang="en-US" altLang="vi-VN" sz="21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thị</a:t>
            </a:r>
            <a:endParaRPr lang="en-US" altLang="vi-VN" sz="2100" dirty="0" smtClean="0"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2253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3155950"/>
            <a:ext cx="4343400" cy="1536700"/>
          </a:xfrm>
          <a:noFill/>
        </p:spPr>
      </p:pic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F104AC-B9B1-4B7E-BD1D-7E731B4D86CA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000" smtClean="0"/>
          </a:p>
        </p:txBody>
      </p:sp>
      <p:sp>
        <p:nvSpPr>
          <p:cNvPr id="7174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92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C4019D-F75D-4885-AF9C-CE802F2E8D05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000" smtClean="0"/>
          </a:p>
        </p:txBody>
      </p:sp>
      <p:sp>
        <p:nvSpPr>
          <p:cNvPr id="9223" name="TextBox 8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369" y="1696303"/>
            <a:ext cx="3495675" cy="1152525"/>
          </a:xfrm>
          <a:prstGeom prst="rect">
            <a:avLst/>
          </a:prstGeom>
        </p:spPr>
      </p:pic>
      <p:pic>
        <p:nvPicPr>
          <p:cNvPr id="15" name="Ảnh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38" y="1563774"/>
            <a:ext cx="3781425" cy="1685925"/>
          </a:xfrm>
          <a:prstGeom prst="rect">
            <a:avLst/>
          </a:prstGeom>
        </p:spPr>
      </p:pic>
      <p:pic>
        <p:nvPicPr>
          <p:cNvPr id="16" name="Ảnh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05" y="3531332"/>
            <a:ext cx="3228975" cy="1085850"/>
          </a:xfrm>
          <a:prstGeom prst="rect">
            <a:avLst/>
          </a:prstGeom>
        </p:spPr>
      </p:pic>
      <p:pic>
        <p:nvPicPr>
          <p:cNvPr id="22" name="Picture 1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0906" y="3638209"/>
            <a:ext cx="4038600" cy="1311275"/>
          </a:xfrm>
        </p:spPr>
      </p:pic>
      <p:pic>
        <p:nvPicPr>
          <p:cNvPr id="23" name="Ảnh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855735"/>
            <a:ext cx="2733675" cy="1104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đồ thị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hình học</a:t>
            </a:r>
          </a:p>
          <a:p>
            <a:pPr lvl="1" eaLnBrk="1" hangingPunct="1"/>
            <a:r>
              <a:rPr lang="en-US" altLang="vi-VN" smtClean="0"/>
              <a:t>Mỗi đỉnh </a:t>
            </a:r>
            <a:r>
              <a:rPr lang="en-US" altLang="vi-VN" smtClean="0">
                <a:sym typeface="Symbol" panose="05050102010706020507" pitchFamily="18" charset="2"/>
              </a:rPr>
              <a:t> </a:t>
            </a:r>
            <a:r>
              <a:rPr lang="en-US" altLang="vi-VN" smtClean="0"/>
              <a:t>một điểm</a:t>
            </a:r>
          </a:p>
          <a:p>
            <a:pPr lvl="1" eaLnBrk="1" hangingPunct="1"/>
            <a:r>
              <a:rPr lang="en-US" altLang="vi-VN" smtClean="0"/>
              <a:t>Mỗi cạnh </a:t>
            </a:r>
            <a:r>
              <a:rPr lang="en-US" altLang="vi-VN" smtClean="0">
                <a:sym typeface="Symbol" panose="05050102010706020507" pitchFamily="18" charset="2"/>
              </a:rPr>
              <a:t></a:t>
            </a:r>
            <a:r>
              <a:rPr lang="en-US" altLang="vi-VN" smtClean="0"/>
              <a:t> một đường (cong hoặc thẳng) nối 2 đỉnh liên thuộc với nó</a:t>
            </a:r>
          </a:p>
          <a:p>
            <a:pPr eaLnBrk="1" hangingPunct="1"/>
            <a:r>
              <a:rPr lang="en-US" altLang="vi-VN" smtClean="0"/>
              <a:t>Biểu diễn bằng ma trận</a:t>
            </a:r>
          </a:p>
          <a:p>
            <a:pPr lvl="1" eaLnBrk="1" hangingPunct="1"/>
            <a:r>
              <a:rPr lang="en-US" altLang="vi-VN" smtClean="0"/>
              <a:t>Thường được dùng để biểu diễn trên máy tính</a:t>
            </a:r>
          </a:p>
          <a:p>
            <a:pPr lvl="1" eaLnBrk="1" hangingPunct="1"/>
            <a:r>
              <a:rPr lang="en-US" altLang="vi-VN" smtClean="0"/>
              <a:t>2 cách biểu diễn thường dùng</a:t>
            </a:r>
          </a:p>
          <a:p>
            <a:pPr lvl="2" eaLnBrk="1" hangingPunct="1"/>
            <a:r>
              <a:rPr lang="en-US" altLang="vi-VN" smtClean="0"/>
              <a:t>Ma trận kề</a:t>
            </a:r>
          </a:p>
          <a:p>
            <a:pPr lvl="2" eaLnBrk="1" hangingPunct="1"/>
            <a:r>
              <a:rPr lang="en-US" altLang="vi-VN" smtClean="0"/>
              <a:t>Ma trận liên thuộc</a:t>
            </a:r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AA128A-0E7F-4E9A-9887-307439F3132A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000" smtClean="0"/>
          </a:p>
        </p:txBody>
      </p:sp>
      <p:sp>
        <p:nvSpPr>
          <p:cNvPr id="11269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đồ thị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bằng ma trận</a:t>
            </a:r>
          </a:p>
          <a:p>
            <a:pPr lvl="1" eaLnBrk="1" hangingPunct="1"/>
            <a:r>
              <a:rPr lang="en-US" altLang="vi-VN" smtClean="0"/>
              <a:t>Ma trận kề</a:t>
            </a:r>
          </a:p>
          <a:p>
            <a:pPr lvl="2" eaLnBrk="1" hangingPunct="1"/>
            <a:r>
              <a:rPr lang="en-US" altLang="vi-VN" smtClean="0"/>
              <a:t>Ma trận vuông cấp </a:t>
            </a:r>
            <a:r>
              <a:rPr lang="en-US" altLang="vi-VN" i="1" smtClean="0"/>
              <a:t>n </a:t>
            </a:r>
            <a:r>
              <a:rPr lang="en-US" altLang="vi-VN" smtClean="0"/>
              <a:t>(số đỉnh của đồ thị)</a:t>
            </a:r>
          </a:p>
          <a:p>
            <a:pPr lvl="2" eaLnBrk="1" hangingPunct="1"/>
            <a:r>
              <a:rPr lang="en-US" altLang="vi-VN" smtClean="0"/>
              <a:t>Các phần tử      được xác định bởi</a:t>
            </a:r>
          </a:p>
          <a:p>
            <a:pPr lvl="3" eaLnBrk="1" hangingPunct="1"/>
            <a:r>
              <a:rPr lang="en-US" altLang="vi-VN" smtClean="0"/>
              <a:t>            : Nếu          là một cạnh của </a:t>
            </a:r>
            <a:r>
              <a:rPr lang="en-US" altLang="vi-VN" i="1" smtClean="0"/>
              <a:t>G</a:t>
            </a:r>
          </a:p>
          <a:p>
            <a:pPr lvl="3" eaLnBrk="1" hangingPunct="1"/>
            <a:r>
              <a:rPr lang="en-US" altLang="vi-VN" smtClean="0"/>
              <a:t>            : Nếu          không là một cạnh của </a:t>
            </a:r>
            <a:r>
              <a:rPr lang="en-US" altLang="vi-VN" i="1" smtClean="0"/>
              <a:t>G</a:t>
            </a:r>
          </a:p>
          <a:p>
            <a:pPr lvl="2" eaLnBrk="1" hangingPunct="1"/>
            <a:r>
              <a:rPr lang="en-US" altLang="vi-VN" smtClean="0"/>
              <a:t>Tính chất</a:t>
            </a:r>
          </a:p>
          <a:p>
            <a:pPr lvl="3" eaLnBrk="1" hangingPunct="1"/>
            <a:r>
              <a:rPr lang="en-US" altLang="vi-VN" smtClean="0"/>
              <a:t>Phụ thuộc vào thứ tự liệt kê của các đỉnh</a:t>
            </a:r>
          </a:p>
          <a:p>
            <a:pPr lvl="3" eaLnBrk="1" hangingPunct="1"/>
            <a:r>
              <a:rPr lang="en-US" altLang="vi-VN" smtClean="0"/>
              <a:t>Ma trận là đối xứng</a:t>
            </a:r>
          </a:p>
          <a:p>
            <a:pPr lvl="3" eaLnBrk="1" hangingPunct="1"/>
            <a:r>
              <a:rPr lang="en-US" altLang="vi-VN" smtClean="0"/>
              <a:t>Một vòng được tính là một cạnh (</a:t>
            </a:r>
            <a:r>
              <a:rPr lang="en-US" altLang="vi-VN" i="1" smtClean="0"/>
              <a:t>a</a:t>
            </a:r>
            <a:r>
              <a:rPr lang="en-US" altLang="vi-VN" i="1" baseline="-25000" smtClean="0"/>
              <a:t>kk</a:t>
            </a:r>
            <a:r>
              <a:rPr lang="en-US" altLang="vi-VN" smtClean="0"/>
              <a:t> = 1)</a:t>
            </a: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63786F-E8C6-4606-B102-2FD76C5CEB27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000" smtClean="0"/>
          </a:p>
        </p:txBody>
      </p:sp>
      <p:sp>
        <p:nvSpPr>
          <p:cNvPr id="12293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graphicFrame>
        <p:nvGraphicFramePr>
          <p:cNvPr id="12295" name="Object 5"/>
          <p:cNvGraphicFramePr>
            <a:graphicFrameLocks noChangeAspect="1"/>
          </p:cNvGraphicFramePr>
          <p:nvPr/>
        </p:nvGraphicFramePr>
        <p:xfrm>
          <a:off x="3184525" y="3128963"/>
          <a:ext cx="4572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3" imgW="177646" imgH="241091" progId="Equation.3">
                  <p:embed/>
                </p:oleObj>
              </mc:Choice>
              <mc:Fallback>
                <p:oleObj name="Equation" r:id="rId3" imgW="177646" imgH="2410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3128963"/>
                        <a:ext cx="4572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7"/>
          <p:cNvGraphicFramePr>
            <a:graphicFrameLocks noChangeAspect="1"/>
          </p:cNvGraphicFramePr>
          <p:nvPr/>
        </p:nvGraphicFramePr>
        <p:xfrm>
          <a:off x="1676400" y="3509963"/>
          <a:ext cx="101282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5" imgW="393529" imgH="241195" progId="Equation.3">
                  <p:embed/>
                </p:oleObj>
              </mc:Choice>
              <mc:Fallback>
                <p:oleObj name="Equation" r:id="rId5" imgW="393529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509963"/>
                        <a:ext cx="1012825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8"/>
          <p:cNvGraphicFramePr>
            <a:graphicFrameLocks noChangeAspect="1"/>
          </p:cNvGraphicFramePr>
          <p:nvPr/>
        </p:nvGraphicFramePr>
        <p:xfrm>
          <a:off x="1676400" y="3883025"/>
          <a:ext cx="10795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7" imgW="418918" imgH="241195" progId="Equation.3">
                  <p:embed/>
                </p:oleObj>
              </mc:Choice>
              <mc:Fallback>
                <p:oleObj name="Equation" r:id="rId7" imgW="418918" imgH="2411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83025"/>
                        <a:ext cx="10795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9"/>
          <p:cNvGraphicFramePr>
            <a:graphicFrameLocks noChangeAspect="1"/>
          </p:cNvGraphicFramePr>
          <p:nvPr/>
        </p:nvGraphicFramePr>
        <p:xfrm>
          <a:off x="3306763" y="3535363"/>
          <a:ext cx="6858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tion" r:id="rId9" imgW="266469" imgH="241091" progId="Equation.3">
                  <p:embed/>
                </p:oleObj>
              </mc:Choice>
              <mc:Fallback>
                <p:oleObj name="Equation" r:id="rId9" imgW="266469" imgH="2410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6763" y="3535363"/>
                        <a:ext cx="6858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0"/>
          <p:cNvGraphicFramePr>
            <a:graphicFrameLocks noChangeAspect="1"/>
          </p:cNvGraphicFramePr>
          <p:nvPr/>
        </p:nvGraphicFramePr>
        <p:xfrm>
          <a:off x="3316288" y="3895725"/>
          <a:ext cx="6858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11" imgW="266469" imgH="241091" progId="Equation.3">
                  <p:embed/>
                </p:oleObj>
              </mc:Choice>
              <mc:Fallback>
                <p:oleObj name="Equation" r:id="rId11" imgW="266469" imgH="24109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3895725"/>
                        <a:ext cx="6858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đồ thị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Biểu diễn bằng ma trận</a:t>
            </a:r>
          </a:p>
          <a:p>
            <a:pPr lvl="1" eaLnBrk="1" hangingPunct="1"/>
            <a:r>
              <a:rPr lang="en-US" altLang="vi-VN" sz="2200" smtClean="0"/>
              <a:t>Ma trận kề</a:t>
            </a:r>
          </a:p>
          <a:p>
            <a:pPr lvl="2" eaLnBrk="1" hangingPunct="1"/>
            <a:r>
              <a:rPr lang="en-US" altLang="vi-VN" sz="2100" smtClean="0"/>
              <a:t>Ví dụ 1</a:t>
            </a:r>
          </a:p>
          <a:p>
            <a:pPr lvl="2" eaLnBrk="1" hangingPunct="1"/>
            <a:endParaRPr lang="en-US" altLang="vi-VN" sz="2100" smtClean="0"/>
          </a:p>
        </p:txBody>
      </p:sp>
      <p:pic>
        <p:nvPicPr>
          <p:cNvPr id="1331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2895600"/>
            <a:ext cx="3581400" cy="2165350"/>
          </a:xfrm>
          <a:noFill/>
        </p:spPr>
      </p:pic>
      <p:pic>
        <p:nvPicPr>
          <p:cNvPr id="3175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24200"/>
            <a:ext cx="2590800" cy="254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65B0E3-A1EC-42C1-8023-818902986A60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000" smtClean="0"/>
          </a:p>
        </p:txBody>
      </p:sp>
      <p:sp>
        <p:nvSpPr>
          <p:cNvPr id="13319" name="TextBox 8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cxnSp>
        <p:nvCxnSpPr>
          <p:cNvPr id="13" name="Straight Connector 12"/>
          <p:cNvCxnSpPr/>
          <p:nvPr/>
        </p:nvCxnSpPr>
        <p:spPr>
          <a:xfrm>
            <a:off x="5257800" y="4038600"/>
            <a:ext cx="1981200" cy="685800"/>
          </a:xfrm>
          <a:prstGeom prst="line">
            <a:avLst/>
          </a:prstGeom>
          <a:ln w="25400">
            <a:solidFill>
              <a:schemeClr val="tx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đồ thị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Biểu diễn bằng ma trận</a:t>
            </a:r>
          </a:p>
          <a:p>
            <a:pPr lvl="1" eaLnBrk="1" hangingPunct="1"/>
            <a:r>
              <a:rPr lang="en-US" altLang="vi-VN" sz="2200" smtClean="0"/>
              <a:t>Ma trận kề</a:t>
            </a:r>
          </a:p>
          <a:p>
            <a:pPr lvl="2" eaLnBrk="1" hangingPunct="1"/>
            <a:r>
              <a:rPr lang="en-US" altLang="vi-VN" sz="2100" smtClean="0"/>
              <a:t>Ví dụ 2</a:t>
            </a:r>
          </a:p>
          <a:p>
            <a:pPr lvl="2" eaLnBrk="1" hangingPunct="1"/>
            <a:endParaRPr lang="en-US" altLang="vi-VN" sz="2100" smtClean="0"/>
          </a:p>
        </p:txBody>
      </p:sp>
      <p:pic>
        <p:nvPicPr>
          <p:cNvPr id="6247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352800"/>
            <a:ext cx="2590800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7BA168-7C0B-4044-9253-4F859B235ACD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000" smtClean="0"/>
          </a:p>
        </p:txBody>
      </p:sp>
      <p:sp>
        <p:nvSpPr>
          <p:cNvPr id="14342" name="TextBox 8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cxnSp>
        <p:nvCxnSpPr>
          <p:cNvPr id="13" name="Straight Connector 12"/>
          <p:cNvCxnSpPr/>
          <p:nvPr/>
        </p:nvCxnSpPr>
        <p:spPr>
          <a:xfrm rot="16200000" flipH="1">
            <a:off x="7697788" y="4421188"/>
            <a:ext cx="74612" cy="74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7236619" y="4036219"/>
            <a:ext cx="990600" cy="1588"/>
          </a:xfrm>
          <a:prstGeom prst="line">
            <a:avLst/>
          </a:prstGeom>
          <a:ln w="25400">
            <a:solidFill>
              <a:schemeClr val="tx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45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2786063"/>
            <a:ext cx="2971800" cy="2276475"/>
          </a:xfrm>
          <a:noFill/>
        </p:spPr>
      </p:pic>
      <p:cxnSp>
        <p:nvCxnSpPr>
          <p:cNvPr id="18" name="Straight Connector 17"/>
          <p:cNvCxnSpPr/>
          <p:nvPr/>
        </p:nvCxnSpPr>
        <p:spPr>
          <a:xfrm>
            <a:off x="6370638" y="4486275"/>
            <a:ext cx="1371600" cy="1588"/>
          </a:xfrm>
          <a:prstGeom prst="line">
            <a:avLst/>
          </a:prstGeom>
          <a:ln w="25400">
            <a:solidFill>
              <a:schemeClr val="tx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đồ thị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bằng ma trận</a:t>
            </a:r>
          </a:p>
          <a:p>
            <a:pPr lvl="1" eaLnBrk="1" hangingPunct="1"/>
            <a:r>
              <a:rPr lang="en-US" altLang="vi-VN" smtClean="0"/>
              <a:t>Ma trận liên thuộc</a:t>
            </a:r>
          </a:p>
          <a:p>
            <a:pPr lvl="2" eaLnBrk="1" hangingPunct="1"/>
            <a:r>
              <a:rPr lang="en-US" altLang="vi-VN" smtClean="0"/>
              <a:t>Ma trận </a:t>
            </a:r>
            <a:r>
              <a:rPr lang="en-US" altLang="vi-VN" i="1" smtClean="0"/>
              <a:t>M</a:t>
            </a:r>
            <a:r>
              <a:rPr lang="en-US" altLang="vi-VN" smtClean="0"/>
              <a:t> = (     )</a:t>
            </a:r>
            <a:r>
              <a:rPr lang="en-US" altLang="vi-VN" i="1" baseline="-25000" smtClean="0"/>
              <a:t>nxm</a:t>
            </a:r>
          </a:p>
          <a:p>
            <a:pPr lvl="2" eaLnBrk="1" hangingPunct="1"/>
            <a:r>
              <a:rPr lang="en-US" altLang="vi-VN" smtClean="0"/>
              <a:t>Các phần tử </a:t>
            </a:r>
            <a:r>
              <a:rPr lang="en-US" altLang="vi-VN" i="1" smtClean="0"/>
              <a:t>    </a:t>
            </a:r>
            <a:r>
              <a:rPr lang="en-US" altLang="vi-VN" smtClean="0"/>
              <a:t> được xác định bởi</a:t>
            </a:r>
          </a:p>
          <a:p>
            <a:pPr lvl="3" eaLnBrk="1" hangingPunct="1"/>
            <a:r>
              <a:rPr lang="en-US" altLang="vi-VN" smtClean="0"/>
              <a:t>             : Nếu cạnh       liên thuộc với </a:t>
            </a:r>
            <a:r>
              <a:rPr lang="en-US" altLang="vi-VN" i="1" smtClean="0"/>
              <a:t>v</a:t>
            </a:r>
            <a:r>
              <a:rPr lang="en-US" altLang="vi-VN" i="1" baseline="-25000" smtClean="0"/>
              <a:t>i</a:t>
            </a:r>
            <a:r>
              <a:rPr lang="en-US" altLang="vi-VN" smtClean="0"/>
              <a:t> của </a:t>
            </a:r>
            <a:r>
              <a:rPr lang="en-US" altLang="vi-VN" i="1" smtClean="0"/>
              <a:t>G</a:t>
            </a:r>
          </a:p>
          <a:p>
            <a:pPr lvl="3" eaLnBrk="1" hangingPunct="1"/>
            <a:r>
              <a:rPr lang="en-US" altLang="vi-VN" smtClean="0"/>
              <a:t>:            : Nếu cạnh       </a:t>
            </a:r>
            <a:r>
              <a:rPr lang="en-US" altLang="vi-VN" i="1" smtClean="0"/>
              <a:t>không</a:t>
            </a:r>
            <a:r>
              <a:rPr lang="en-US" altLang="vi-VN" smtClean="0"/>
              <a:t> liên thuộc với </a:t>
            </a:r>
            <a:r>
              <a:rPr lang="en-US" altLang="vi-VN" i="1" smtClean="0"/>
              <a:t>v</a:t>
            </a:r>
            <a:r>
              <a:rPr lang="en-US" altLang="vi-VN" i="1" baseline="-25000" smtClean="0"/>
              <a:t>i  </a:t>
            </a:r>
            <a:r>
              <a:rPr lang="en-US" altLang="vi-VN" smtClean="0"/>
              <a:t>của </a:t>
            </a:r>
            <a:r>
              <a:rPr lang="en-US" altLang="vi-VN" i="1" smtClean="0"/>
              <a:t>G</a:t>
            </a:r>
          </a:p>
          <a:p>
            <a:pPr lvl="2" eaLnBrk="1" hangingPunct="1"/>
            <a:r>
              <a:rPr lang="en-US" altLang="vi-VN" smtClean="0"/>
              <a:t>Tính chất</a:t>
            </a:r>
          </a:p>
          <a:p>
            <a:pPr lvl="3" eaLnBrk="1" hangingPunct="1"/>
            <a:r>
              <a:rPr lang="en-US" altLang="vi-VN" smtClean="0"/>
              <a:t>Các cột tương ứng với các cạnh bội là giống nhau trong ma trân liên thuộc</a:t>
            </a:r>
          </a:p>
          <a:p>
            <a:pPr lvl="3" eaLnBrk="1" hangingPunct="1"/>
            <a:r>
              <a:rPr lang="en-US" altLang="vi-VN" smtClean="0"/>
              <a:t>Các vòng ứng với một cột có đúng một phần tử bằng 1 ứng với đỉnh nối với vòng đó.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64FE7E-D830-4705-8885-5360B14710B3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000" smtClean="0"/>
          </a:p>
        </p:txBody>
      </p:sp>
      <p:sp>
        <p:nvSpPr>
          <p:cNvPr id="15365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graphicFrame>
        <p:nvGraphicFramePr>
          <p:cNvPr id="15366" name="Object 5"/>
          <p:cNvGraphicFramePr>
            <a:graphicFrameLocks noChangeAspect="1"/>
          </p:cNvGraphicFramePr>
          <p:nvPr/>
        </p:nvGraphicFramePr>
        <p:xfrm>
          <a:off x="3276600" y="2706688"/>
          <a:ext cx="4572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Equation" r:id="rId3" imgW="177646" imgH="241091" progId="Equation.3">
                  <p:embed/>
                </p:oleObj>
              </mc:Choice>
              <mc:Fallback>
                <p:oleObj name="Equation" r:id="rId3" imgW="177646" imgH="24109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06688"/>
                        <a:ext cx="4572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6"/>
          <p:cNvGraphicFramePr>
            <a:graphicFrameLocks noChangeAspect="1"/>
          </p:cNvGraphicFramePr>
          <p:nvPr/>
        </p:nvGraphicFramePr>
        <p:xfrm>
          <a:off x="3179763" y="3114675"/>
          <a:ext cx="4572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Equation" r:id="rId5" imgW="177646" imgH="241091" progId="Equation.3">
                  <p:embed/>
                </p:oleObj>
              </mc:Choice>
              <mc:Fallback>
                <p:oleObj name="Equation" r:id="rId5" imgW="177646" imgH="24109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763" y="3114675"/>
                        <a:ext cx="4572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7"/>
          <p:cNvGraphicFramePr>
            <a:graphicFrameLocks noChangeAspect="1"/>
          </p:cNvGraphicFramePr>
          <p:nvPr/>
        </p:nvGraphicFramePr>
        <p:xfrm>
          <a:off x="1739900" y="3514725"/>
          <a:ext cx="10128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Equation" r:id="rId6" imgW="393529" imgH="241195" progId="Equation.3">
                  <p:embed/>
                </p:oleObj>
              </mc:Choice>
              <mc:Fallback>
                <p:oleObj name="Equation" r:id="rId6" imgW="393529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9900" y="3514725"/>
                        <a:ext cx="1012825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8"/>
          <p:cNvGraphicFramePr>
            <a:graphicFrameLocks noChangeAspect="1"/>
          </p:cNvGraphicFramePr>
          <p:nvPr/>
        </p:nvGraphicFramePr>
        <p:xfrm>
          <a:off x="1676400" y="3873500"/>
          <a:ext cx="10795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" name="Equation" r:id="rId8" imgW="418918" imgH="241195" progId="Equation.3">
                  <p:embed/>
                </p:oleObj>
              </mc:Choice>
              <mc:Fallback>
                <p:oleObj name="Equation" r:id="rId8" imgW="418918" imgH="2411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873500"/>
                        <a:ext cx="10795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9"/>
          <p:cNvGraphicFramePr>
            <a:graphicFrameLocks noChangeAspect="1"/>
          </p:cNvGraphicFramePr>
          <p:nvPr/>
        </p:nvGraphicFramePr>
        <p:xfrm>
          <a:off x="4043363" y="3525838"/>
          <a:ext cx="42545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6" name="Equation" r:id="rId10" imgW="164957" imgH="241091" progId="Equation.3">
                  <p:embed/>
                </p:oleObj>
              </mc:Choice>
              <mc:Fallback>
                <p:oleObj name="Equation" r:id="rId10" imgW="164957" imgH="241091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3525838"/>
                        <a:ext cx="42545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0"/>
          <p:cNvGraphicFramePr>
            <a:graphicFrameLocks noChangeAspect="1"/>
          </p:cNvGraphicFramePr>
          <p:nvPr/>
        </p:nvGraphicFramePr>
        <p:xfrm>
          <a:off x="4035425" y="3889375"/>
          <a:ext cx="4254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7" name="Equation" r:id="rId12" imgW="164957" imgH="241091" progId="Equation.3">
                  <p:embed/>
                </p:oleObj>
              </mc:Choice>
              <mc:Fallback>
                <p:oleObj name="Equation" r:id="rId12" imgW="164957" imgH="24109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5425" y="3889375"/>
                        <a:ext cx="4254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đồ thị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Biểu diễn bằng ma trận</a:t>
            </a:r>
          </a:p>
          <a:p>
            <a:pPr lvl="1" eaLnBrk="1" hangingPunct="1"/>
            <a:r>
              <a:rPr lang="en-US" altLang="vi-VN" sz="2200" smtClean="0"/>
              <a:t>Ma liên thuộc</a:t>
            </a:r>
          </a:p>
          <a:p>
            <a:pPr lvl="2" eaLnBrk="1" hangingPunct="1"/>
            <a:r>
              <a:rPr lang="en-US" altLang="vi-VN" sz="2100" smtClean="0"/>
              <a:t>Ví dụ</a:t>
            </a:r>
          </a:p>
          <a:p>
            <a:pPr lvl="2" eaLnBrk="1" hangingPunct="1"/>
            <a:endParaRPr lang="en-US" altLang="vi-VN" sz="2100" smtClean="0"/>
          </a:p>
        </p:txBody>
      </p:sp>
      <p:pic>
        <p:nvPicPr>
          <p:cNvPr id="16388" name="Picture 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2659063"/>
            <a:ext cx="3886200" cy="2530475"/>
          </a:xfrm>
        </p:spPr>
      </p:pic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51EA7D-564C-4FBA-A720-02CF618BDF7A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000" smtClean="0"/>
          </a:p>
        </p:txBody>
      </p:sp>
      <p:sp>
        <p:nvSpPr>
          <p:cNvPr id="16390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grpSp>
        <p:nvGrpSpPr>
          <p:cNvPr id="16391" name="Group 11"/>
          <p:cNvGrpSpPr>
            <a:grpSpLocks/>
          </p:cNvGrpSpPr>
          <p:nvPr/>
        </p:nvGrpSpPr>
        <p:grpSpPr bwMode="auto">
          <a:xfrm>
            <a:off x="1066800" y="3276600"/>
            <a:ext cx="3363913" cy="2057400"/>
            <a:chOff x="1066800" y="3276600"/>
            <a:chExt cx="3364417" cy="2057400"/>
          </a:xfrm>
        </p:grpSpPr>
        <p:graphicFrame>
          <p:nvGraphicFramePr>
            <p:cNvPr id="16392" name="Object 6"/>
            <p:cNvGraphicFramePr>
              <a:graphicFrameLocks noChangeAspect="1"/>
            </p:cNvGraphicFramePr>
            <p:nvPr/>
          </p:nvGraphicFramePr>
          <p:xfrm>
            <a:off x="1066800" y="3276600"/>
            <a:ext cx="3352800" cy="205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00" name="Equation" r:id="rId4" imgW="2247900" imgH="1371600" progId="Equation.3">
                    <p:embed/>
                  </p:oleObj>
                </mc:Choice>
                <mc:Fallback>
                  <p:oleObj name="Equation" r:id="rId4" imgW="2247900" imgH="13716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00" y="3276600"/>
                          <a:ext cx="3352800" cy="2057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6393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7392" y="3292512"/>
              <a:ext cx="123825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394" name="Picture 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5160" y="3286648"/>
              <a:ext cx="123825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Biểu diễn đồ thị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Biểu diễn bằng bảng (danh sách liền kề)</a:t>
            </a:r>
          </a:p>
          <a:p>
            <a:pPr lvl="1" eaLnBrk="1" hangingPunct="1"/>
            <a:r>
              <a:rPr lang="en-US" altLang="vi-VN" sz="2200" smtClean="0"/>
              <a:t>Lưu trữ các đỉnh liền kề với một đỉnh</a:t>
            </a:r>
          </a:p>
          <a:p>
            <a:pPr lvl="1" eaLnBrk="1" hangingPunct="1"/>
            <a:r>
              <a:rPr lang="en-US" altLang="vi-VN" sz="2200" smtClean="0"/>
              <a:t>Ví dụ</a:t>
            </a:r>
          </a:p>
          <a:p>
            <a:pPr lvl="1" eaLnBrk="1" hangingPunct="1"/>
            <a:endParaRPr lang="en-US" altLang="vi-VN" sz="2200" smtClean="0"/>
          </a:p>
          <a:p>
            <a:pPr lvl="2" eaLnBrk="1" hangingPunct="1"/>
            <a:endParaRPr lang="en-US" altLang="vi-VN" sz="2100" smtClean="0"/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29000"/>
            <a:ext cx="23622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6913" name="Group 49"/>
          <p:cNvGraphicFramePr>
            <a:graphicFrameLocks noGrp="1"/>
          </p:cNvGraphicFramePr>
          <p:nvPr>
            <p:ph sz="half" idx="2"/>
          </p:nvPr>
        </p:nvGraphicFramePr>
        <p:xfrm>
          <a:off x="5346700" y="2863850"/>
          <a:ext cx="2882900" cy="2928938"/>
        </p:xfrm>
        <a:graphic>
          <a:graphicData uri="http://schemas.openxmlformats.org/drawingml/2006/table">
            <a:tbl>
              <a:tblPr/>
              <a:tblGrid>
                <a:gridCol w="863600"/>
                <a:gridCol w="2019300"/>
              </a:tblGrid>
              <a:tr h="490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Đỉnh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Đỉnh liền kề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b, c,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a, c, d,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c, 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a, c,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3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0B6C74-9260-4C8F-9949-804F00B69D5B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000" smtClean="0"/>
          </a:p>
        </p:txBody>
      </p:sp>
      <p:sp>
        <p:nvSpPr>
          <p:cNvPr id="17437" name="TextBox 8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z="2600" smtClean="0"/>
              <a:t>Bậc của đỉnh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/>
              <a:t>Đỉnh của đồ thị G có bậc là </a:t>
            </a:r>
            <a:r>
              <a:rPr lang="en-US" altLang="vi-VN" sz="2200" i="1" smtClean="0"/>
              <a:t>n</a:t>
            </a:r>
            <a:r>
              <a:rPr lang="en-US" altLang="vi-VN" sz="2200" smtClean="0"/>
              <a:t> nếu nó kề với </a:t>
            </a:r>
            <a:r>
              <a:rPr lang="en-US" altLang="vi-VN" sz="2200" i="1" smtClean="0"/>
              <a:t>n</a:t>
            </a:r>
            <a:r>
              <a:rPr lang="en-US" altLang="vi-VN" sz="2200" smtClean="0"/>
              <a:t> đỉnh khác.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/>
              <a:t>Ký hiệu: </a:t>
            </a:r>
            <a:r>
              <a:rPr lang="en-US" altLang="vi-VN" sz="2200" i="1" smtClean="0"/>
              <a:t>deg</a:t>
            </a:r>
            <a:r>
              <a:rPr lang="en-US" altLang="vi-VN" sz="2200" smtClean="0"/>
              <a:t>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) hay </a:t>
            </a:r>
            <a:r>
              <a:rPr lang="en-US" altLang="vi-VN" sz="2200" i="1" smtClean="0"/>
              <a:t>d</a:t>
            </a:r>
            <a:r>
              <a:rPr lang="en-US" altLang="vi-VN" sz="2200" smtClean="0"/>
              <a:t>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/>
              <a:t>Mỗi vòng được kể là 2 cạnh tới một đỉnh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/>
              <a:t>Đỉnh cô lập </a:t>
            </a:r>
            <a:r>
              <a:rPr lang="en-US" altLang="vi-VN" sz="2200" smtClean="0">
                <a:sym typeface="Symbol" panose="05050102010706020507" pitchFamily="18" charset="2"/>
              </a:rPr>
              <a:t> </a:t>
            </a:r>
            <a:r>
              <a:rPr lang="en-US" altLang="vi-VN" sz="2200" i="1" smtClean="0">
                <a:sym typeface="Symbol" panose="05050102010706020507" pitchFamily="18" charset="2"/>
              </a:rPr>
              <a:t>deg</a:t>
            </a:r>
            <a:r>
              <a:rPr lang="en-US" altLang="vi-VN" sz="2200" smtClean="0">
                <a:sym typeface="Symbol" panose="05050102010706020507" pitchFamily="18" charset="2"/>
              </a:rPr>
              <a:t>(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)=0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>
                <a:sym typeface="Symbol" panose="05050102010706020507" pitchFamily="18" charset="2"/>
              </a:rPr>
              <a:t>Đỉnh treo  </a:t>
            </a:r>
            <a:r>
              <a:rPr lang="en-US" altLang="vi-VN" sz="2200" i="1" smtClean="0">
                <a:sym typeface="Symbol" panose="05050102010706020507" pitchFamily="18" charset="2"/>
              </a:rPr>
              <a:t>deg</a:t>
            </a:r>
            <a:r>
              <a:rPr lang="en-US" altLang="vi-VN" sz="2200" smtClean="0">
                <a:sym typeface="Symbol" panose="05050102010706020507" pitchFamily="18" charset="2"/>
              </a:rPr>
              <a:t>(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)=1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>
                <a:sym typeface="Symbol" panose="05050102010706020507" pitchFamily="18" charset="2"/>
              </a:rPr>
              <a:t>Cạnh treo có đầu mút là một đỉnh treo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>
                <a:sym typeface="Symbol" panose="05050102010706020507" pitchFamily="18" charset="2"/>
              </a:rPr>
              <a:t>Đồ thị rỗng: </a:t>
            </a:r>
            <a:r>
              <a:rPr lang="en-US" altLang="vi-VN" sz="2200" i="1" smtClean="0">
                <a:sym typeface="Symbol" panose="05050102010706020507" pitchFamily="18" charset="2"/>
              </a:rPr>
              <a:t>deg</a:t>
            </a:r>
            <a:r>
              <a:rPr lang="en-US" altLang="vi-VN" sz="2200" smtClean="0">
                <a:sym typeface="Symbol" panose="05050102010706020507" pitchFamily="18" charset="2"/>
              </a:rPr>
              <a:t>(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)=0 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</a:p>
        </p:txBody>
      </p:sp>
      <p:pic>
        <p:nvPicPr>
          <p:cNvPr id="37896" name="Picture 8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2514600"/>
            <a:ext cx="3124200" cy="2111375"/>
          </a:xfrm>
          <a:noFill/>
        </p:spPr>
      </p:pic>
      <p:pic>
        <p:nvPicPr>
          <p:cNvPr id="37897" name="Picture 9"/>
          <p:cNvPicPr>
            <a:picLocks noChangeAspect="1" noChangeArrowheads="1"/>
          </p:cNvPicPr>
          <p:nvPr/>
        </p:nvPicPr>
        <p:blipFill>
          <a:blip r:embed="rId4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876800"/>
            <a:ext cx="4572000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FE04D8-D37A-41B0-8093-68A4B0FB3515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000" smtClean="0"/>
          </a:p>
        </p:txBody>
      </p:sp>
      <p:sp>
        <p:nvSpPr>
          <p:cNvPr id="18439" name="TextBox 8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Bậc của đỉnh</a:t>
            </a:r>
          </a:p>
          <a:p>
            <a:pPr lvl="1" eaLnBrk="1" hangingPunct="1"/>
            <a:r>
              <a:rPr lang="en-US" altLang="vi-VN" smtClean="0"/>
              <a:t>Định lý 1.1</a:t>
            </a:r>
          </a:p>
          <a:p>
            <a:pPr lvl="2" eaLnBrk="1" hangingPunct="1"/>
            <a:r>
              <a:rPr lang="en-US" altLang="vi-VN" i="1" smtClean="0">
                <a:sym typeface="Symbol" panose="05050102010706020507" pitchFamily="18" charset="2"/>
              </a:rPr>
              <a:t>Trong mọi đồ thị G = (V, E), tổng số bậc của các đỉnh của G bằng 2 lần số cạnh của nó</a:t>
            </a:r>
          </a:p>
          <a:p>
            <a:pPr lvl="2" eaLnBrk="1" hangingPunct="1"/>
            <a:endParaRPr lang="en-US" altLang="vi-VN" i="1" smtClean="0">
              <a:sym typeface="Symbol" panose="05050102010706020507" pitchFamily="18" charset="2"/>
            </a:endParaRPr>
          </a:p>
          <a:p>
            <a:pPr lvl="2" eaLnBrk="1" hangingPunct="1"/>
            <a:r>
              <a:rPr lang="en-US" altLang="vi-VN" i="1" smtClean="0">
                <a:sym typeface="Symbol" panose="05050102010706020507" pitchFamily="18" charset="2"/>
              </a:rPr>
              <a:t>Hệ quả</a:t>
            </a:r>
          </a:p>
          <a:p>
            <a:pPr lvl="3" eaLnBrk="1" hangingPunct="1"/>
            <a:r>
              <a:rPr lang="en-US" altLang="vi-VN" i="1" smtClean="0">
                <a:sym typeface="Symbol" panose="05050102010706020507" pitchFamily="18" charset="2"/>
              </a:rPr>
              <a:t>Trong mọi đồ thị G = (V, E) ta có</a:t>
            </a:r>
          </a:p>
          <a:p>
            <a:pPr lvl="4" eaLnBrk="1" hangingPunct="1"/>
            <a:r>
              <a:rPr lang="en-US" altLang="vi-VN" i="1" smtClean="0">
                <a:sym typeface="Symbol" panose="05050102010706020507" pitchFamily="18" charset="2"/>
              </a:rPr>
              <a:t>Số đỉnh bậc lẻ là một số chẵn</a:t>
            </a:r>
          </a:p>
          <a:p>
            <a:pPr lvl="4" eaLnBrk="1" hangingPunct="1"/>
            <a:r>
              <a:rPr lang="en-US" altLang="vi-VN" i="1" smtClean="0">
                <a:sym typeface="Symbol" panose="05050102010706020507" pitchFamily="18" charset="2"/>
              </a:rPr>
              <a:t>Tổng bậc của đỉnh bậc lẻ là một số chẵn</a:t>
            </a:r>
          </a:p>
        </p:txBody>
      </p:sp>
      <p:pic>
        <p:nvPicPr>
          <p:cNvPr id="39943" name="Picture 7"/>
          <p:cNvPicPr>
            <a:picLocks noChangeAspect="1" noChangeArrowheads="1"/>
          </p:cNvPicPr>
          <p:nvPr/>
        </p:nvPicPr>
        <p:blipFill>
          <a:blip r:embed="rId3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182" b="9435"/>
          <a:stretch>
            <a:fillRect/>
          </a:stretch>
        </p:blipFill>
        <p:spPr bwMode="auto">
          <a:xfrm>
            <a:off x="3581400" y="3505200"/>
            <a:ext cx="1905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C8B06A-B14E-472D-9413-AF7013EA222B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000" smtClean="0"/>
          </a:p>
        </p:txBody>
      </p:sp>
      <p:sp>
        <p:nvSpPr>
          <p:cNvPr id="20486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Bậc của đỉnh</a:t>
            </a:r>
          </a:p>
          <a:p>
            <a:pPr lvl="1" eaLnBrk="1" hangingPunct="1"/>
            <a:r>
              <a:rPr lang="en-US" altLang="vi-VN" smtClean="0"/>
              <a:t>Định lý 1.2</a:t>
            </a:r>
          </a:p>
          <a:p>
            <a:pPr lvl="2" eaLnBrk="1" hangingPunct="1"/>
            <a:r>
              <a:rPr lang="en-US" altLang="vi-VN" i="1" smtClean="0">
                <a:sym typeface="Symbol" panose="05050102010706020507" pitchFamily="18" charset="2"/>
              </a:rPr>
              <a:t>Trong mọi đơn đồ thị G = (V, E), nếu số đỉnh nhiều hơn 1 thì tồn tại ít nhất hai đỉnh cùng bậc.</a:t>
            </a:r>
          </a:p>
          <a:p>
            <a:pPr lvl="1" eaLnBrk="1" hangingPunct="1"/>
            <a:endParaRPr lang="en-US" altLang="vi-VN" smtClean="0"/>
          </a:p>
          <a:p>
            <a:pPr lvl="1" eaLnBrk="1" hangingPunct="1"/>
            <a:r>
              <a:rPr lang="en-US" altLang="vi-VN" smtClean="0"/>
              <a:t>Định lý 1.3</a:t>
            </a:r>
          </a:p>
          <a:p>
            <a:pPr lvl="2" eaLnBrk="1" hangingPunct="1"/>
            <a:r>
              <a:rPr lang="en-US" altLang="vi-VN" i="1" smtClean="0">
                <a:sym typeface="Symbol" panose="05050102010706020507" pitchFamily="18" charset="2"/>
              </a:rPr>
              <a:t>Trong mọi đơn đồ thị G = (V, E), nếu số đỉnh nhiều hơn 2 và </a:t>
            </a:r>
            <a:r>
              <a:rPr lang="en-US" altLang="vi-VN" i="1" smtClean="0">
                <a:solidFill>
                  <a:schemeClr val="tx2"/>
                </a:solidFill>
                <a:sym typeface="Symbol" panose="05050102010706020507" pitchFamily="18" charset="2"/>
              </a:rPr>
              <a:t>có đúng</a:t>
            </a:r>
            <a:r>
              <a:rPr lang="en-US" altLang="vi-VN" i="1" smtClean="0">
                <a:sym typeface="Symbol" panose="05050102010706020507" pitchFamily="18" charset="2"/>
              </a:rPr>
              <a:t> hai đỉnh cùng bậc thì hai đỉnh này không đồng thời có bậc bằng 0 hoặc n-1.</a:t>
            </a:r>
          </a:p>
        </p:txBody>
      </p:sp>
      <p:sp>
        <p:nvSpPr>
          <p:cNvPr id="2253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5C988D-7400-4EF7-95E4-D6815DF6B181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000" smtClean="0"/>
          </a:p>
        </p:txBody>
      </p:sp>
      <p:sp>
        <p:nvSpPr>
          <p:cNvPr id="22533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/>
            <a:r>
              <a:rPr lang="en-US" altLang="vi-VN" smtClean="0"/>
              <a:t>Chứng minh và giải toán bằng phương pháp đồ thị</a:t>
            </a:r>
          </a:p>
          <a:p>
            <a:pPr marL="839788" lvl="1" indent="-495300" eaLnBrk="1" hangingPunct="1">
              <a:buFont typeface="Wingdings" panose="05000000000000000000" pitchFamily="2" charset="2"/>
              <a:buAutoNum type="arabicPeriod"/>
            </a:pPr>
            <a:r>
              <a:rPr lang="en-US" altLang="vi-VN" i="1" smtClean="0">
                <a:sym typeface="Symbol" panose="05050102010706020507" pitchFamily="18" charset="2"/>
              </a:rPr>
              <a:t>Xây dựng đồ thị mô tả đầy đủ thông tin của bài toán</a:t>
            </a:r>
          </a:p>
          <a:p>
            <a:pPr marL="1131888" lvl="2" indent="-438150" eaLnBrk="1" hangingPunct="1"/>
            <a:r>
              <a:rPr lang="en-US" altLang="vi-VN" i="1" smtClean="0">
                <a:sym typeface="Symbol" panose="05050102010706020507" pitchFamily="18" charset="2"/>
              </a:rPr>
              <a:t>Mỗi đỉnh vV  một </a:t>
            </a:r>
            <a:r>
              <a:rPr lang="en-US" altLang="vi-VN" b="1" i="1" smtClean="0">
                <a:sym typeface="Symbol" panose="05050102010706020507" pitchFamily="18" charset="2"/>
              </a:rPr>
              <a:t>đối tượng </a:t>
            </a:r>
            <a:r>
              <a:rPr lang="en-US" altLang="vi-VN" i="1" smtClean="0">
                <a:sym typeface="Symbol" panose="05050102010706020507" pitchFamily="18" charset="2"/>
              </a:rPr>
              <a:t>trong bài toán</a:t>
            </a:r>
          </a:p>
          <a:p>
            <a:pPr marL="1131888" lvl="2" indent="-438150" eaLnBrk="1" hangingPunct="1"/>
            <a:r>
              <a:rPr lang="en-US" altLang="vi-VN" i="1" smtClean="0">
                <a:sym typeface="Symbol" panose="05050102010706020507" pitchFamily="18" charset="2"/>
              </a:rPr>
              <a:t>Mỗi cạnh eE  </a:t>
            </a:r>
            <a:r>
              <a:rPr lang="en-US" altLang="vi-VN" b="1" i="1" smtClean="0">
                <a:sym typeface="Symbol" panose="05050102010706020507" pitchFamily="18" charset="2"/>
              </a:rPr>
              <a:t>mối quan hệ </a:t>
            </a:r>
            <a:r>
              <a:rPr lang="en-US" altLang="vi-VN" i="1" smtClean="0">
                <a:sym typeface="Symbol" panose="05050102010706020507" pitchFamily="18" charset="2"/>
              </a:rPr>
              <a:t>giữa hai đối tượng</a:t>
            </a:r>
          </a:p>
          <a:p>
            <a:pPr marL="1131888" lvl="2" indent="-438150" eaLnBrk="1" hangingPunct="1"/>
            <a:r>
              <a:rPr lang="en-US" altLang="vi-VN" i="1" smtClean="0">
                <a:sym typeface="Symbol" panose="05050102010706020507" pitchFamily="18" charset="2"/>
              </a:rPr>
              <a:t>Vẽ đồ thị mô tả bài toán</a:t>
            </a:r>
          </a:p>
          <a:p>
            <a:pPr marL="839788" lvl="1" indent="-495300" eaLnBrk="1" hangingPunct="1">
              <a:buFont typeface="Wingdings" panose="05000000000000000000" pitchFamily="2" charset="2"/>
              <a:buAutoNum type="arabicPeriod"/>
            </a:pPr>
            <a:r>
              <a:rPr lang="en-US" altLang="vi-VN" i="1" smtClean="0">
                <a:sym typeface="Symbol" panose="05050102010706020507" pitchFamily="18" charset="2"/>
              </a:rPr>
              <a:t>Sử dụng các định nghĩa, tính chất, định lý, … suy ra điều cần phải chứng minh</a:t>
            </a:r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9C8621-5E24-4DB1-9F95-D2C2028783CF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000" smtClean="0"/>
          </a:p>
        </p:txBody>
      </p:sp>
      <p:sp>
        <p:nvSpPr>
          <p:cNvPr id="24581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/>
            <a:r>
              <a:rPr lang="en-US" altLang="vi-VN" smtClean="0"/>
              <a:t>Một số bài toán ví dụ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Chứng minh rằng trong một cuộc họp tùy ý có ít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nhất 2 đại biểu tham gia trở lên, luôn có ít nhất hai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đại biểu mà họ có số người quen bằng nhau trong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các đại biểu đến dự họp.</a:t>
            </a:r>
          </a:p>
          <a:p>
            <a:pPr marL="1131888" lvl="2" indent="-438150" eaLnBrk="1" hangingPunct="1"/>
            <a:endParaRPr lang="en-US" altLang="vi-VN" smtClean="0"/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0E366A-B1F0-4567-96F8-13A0C3CACB84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000" smtClean="0"/>
          </a:p>
        </p:txBody>
      </p:sp>
      <p:sp>
        <p:nvSpPr>
          <p:cNvPr id="26629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Các khái niệm cơ bản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 eaLnBrk="1" hangingPunct="1"/>
            <a:r>
              <a:rPr lang="en-US" altLang="vi-VN" smtClean="0"/>
              <a:t>Một số bài toán ví dụ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Chứng minh rằng số người mà mỗi người đã có một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số lẻ lần bắt tay nhau trên trái đất là một con số</a:t>
            </a:r>
          </a:p>
          <a:p>
            <a:pPr marL="839788" lvl="1" indent="-495300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chẵn.</a:t>
            </a:r>
          </a:p>
          <a:p>
            <a:pPr marL="1131888" lvl="2" indent="-438150" eaLnBrk="1" hangingPunct="1"/>
            <a:endParaRPr lang="en-US" altLang="vi-VN" smtClean="0"/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70A29F-249A-4F7B-BBC9-103E0019A8D9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000" smtClean="0"/>
          </a:p>
        </p:txBody>
      </p:sp>
      <p:sp>
        <p:nvSpPr>
          <p:cNvPr id="27653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đồ thị đặc biệt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Đồ thị đầy đủ </a:t>
            </a:r>
            <a:r>
              <a:rPr lang="en-US" altLang="vi-VN" sz="2600" i="1" smtClean="0"/>
              <a:t>K</a:t>
            </a:r>
            <a:r>
              <a:rPr lang="en-US" altLang="vi-VN" sz="2600" baseline="-25000" smtClean="0"/>
              <a:t>n</a:t>
            </a:r>
          </a:p>
          <a:p>
            <a:pPr lvl="1" eaLnBrk="1" hangingPunct="1"/>
            <a:r>
              <a:rPr lang="en-US" altLang="vi-VN" sz="2200" smtClean="0"/>
              <a:t>Đơn đồ thị</a:t>
            </a:r>
          </a:p>
          <a:p>
            <a:pPr lvl="1" eaLnBrk="1" hangingPunct="1"/>
            <a:r>
              <a:rPr lang="en-US" altLang="vi-VN" sz="2200" smtClean="0"/>
              <a:t>Số đỉnh: 	|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</a:t>
            </a:r>
          </a:p>
          <a:p>
            <a:pPr lvl="1" eaLnBrk="1" hangingPunct="1"/>
            <a:r>
              <a:rPr lang="en-US" altLang="vi-VN" sz="2200" i="1" smtClean="0"/>
              <a:t>Bậc: deg</a:t>
            </a:r>
            <a:r>
              <a:rPr lang="en-US" altLang="vi-VN" sz="2200" smtClean="0"/>
              <a:t>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) = </a:t>
            </a:r>
            <a:r>
              <a:rPr lang="en-US" altLang="vi-VN" sz="2200" i="1" smtClean="0"/>
              <a:t>n</a:t>
            </a:r>
            <a:r>
              <a:rPr lang="en-US" altLang="vi-VN" sz="2200" smtClean="0"/>
              <a:t> – 1, </a:t>
            </a:r>
            <a:r>
              <a:rPr lang="en-US" altLang="vi-VN" sz="2200" smtClean="0">
                <a:sym typeface="Symbol" panose="05050102010706020507" pitchFamily="18" charset="2"/>
              </a:rPr>
              <a:t>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 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</a:p>
          <a:p>
            <a:pPr lvl="1" eaLnBrk="1" hangingPunct="1"/>
            <a:r>
              <a:rPr lang="en-US" altLang="vi-VN" sz="2200" smtClean="0">
                <a:sym typeface="Symbol" panose="05050102010706020507" pitchFamily="18" charset="2"/>
              </a:rPr>
              <a:t>Số cạnh:	 </a:t>
            </a:r>
            <a:r>
              <a:rPr lang="en-US" altLang="vi-VN" sz="2200" smtClean="0"/>
              <a:t>|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n(n - 1) / 2</a:t>
            </a:r>
          </a:p>
        </p:txBody>
      </p:sp>
      <p:pic>
        <p:nvPicPr>
          <p:cNvPr id="28676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4408488"/>
            <a:ext cx="7467600" cy="1314450"/>
          </a:xfrm>
          <a:noFill/>
        </p:spPr>
      </p:pic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5047CC-CE10-4592-8A05-5A8E75385952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000" smtClean="0"/>
          </a:p>
        </p:txBody>
      </p:sp>
      <p:sp>
        <p:nvSpPr>
          <p:cNvPr id="28678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đồ thị đặc biệt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Đồ thị vòng </a:t>
            </a:r>
            <a:r>
              <a:rPr lang="en-US" altLang="vi-VN" sz="2600" i="1" smtClean="0"/>
              <a:t>C</a:t>
            </a:r>
            <a:r>
              <a:rPr lang="en-US" altLang="vi-VN" sz="2600" baseline="-25000" smtClean="0"/>
              <a:t>n</a:t>
            </a:r>
          </a:p>
          <a:p>
            <a:pPr lvl="1" eaLnBrk="1" hangingPunct="1"/>
            <a:r>
              <a:rPr lang="en-US" altLang="vi-VN" sz="2200" smtClean="0"/>
              <a:t>Đơn đồ thị</a:t>
            </a:r>
          </a:p>
          <a:p>
            <a:pPr lvl="1" eaLnBrk="1" hangingPunct="1"/>
            <a:r>
              <a:rPr lang="en-US" altLang="vi-VN" sz="2200" smtClean="0"/>
              <a:t>Số đỉnh: 	|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 </a:t>
            </a:r>
            <a:r>
              <a:rPr lang="en-US" altLang="vi-VN" sz="2200" i="1" smtClean="0">
                <a:sym typeface="Symbol" panose="05050102010706020507" pitchFamily="18" charset="2"/>
              </a:rPr>
              <a:t> 3</a:t>
            </a:r>
          </a:p>
          <a:p>
            <a:pPr lvl="1" eaLnBrk="1" hangingPunct="1"/>
            <a:r>
              <a:rPr lang="en-US" altLang="vi-VN" sz="2200" i="1" smtClean="0"/>
              <a:t>Bậc: deg</a:t>
            </a:r>
            <a:r>
              <a:rPr lang="en-US" altLang="vi-VN" sz="2200" smtClean="0"/>
              <a:t>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) = </a:t>
            </a:r>
            <a:r>
              <a:rPr lang="en-US" altLang="vi-VN" sz="2200" i="1" smtClean="0"/>
              <a:t>2, </a:t>
            </a:r>
            <a:r>
              <a:rPr lang="en-US" altLang="vi-VN" sz="2200" smtClean="0">
                <a:sym typeface="Symbol" panose="05050102010706020507" pitchFamily="18" charset="2"/>
              </a:rPr>
              <a:t>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 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</a:p>
          <a:p>
            <a:pPr lvl="1" eaLnBrk="1" hangingPunct="1"/>
            <a:r>
              <a:rPr lang="en-US" altLang="vi-VN" sz="2200" smtClean="0">
                <a:sym typeface="Symbol" panose="05050102010706020507" pitchFamily="18" charset="2"/>
              </a:rPr>
              <a:t>Số cạnh:	 </a:t>
            </a:r>
            <a:r>
              <a:rPr lang="en-US" altLang="vi-VN" sz="2200" smtClean="0"/>
              <a:t>|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</a:t>
            </a:r>
          </a:p>
        </p:txBody>
      </p:sp>
      <p:pic>
        <p:nvPicPr>
          <p:cNvPr id="29700" name="Picture 7" descr="hinh1_1_4_0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85950" y="4379913"/>
            <a:ext cx="5372100" cy="1371600"/>
          </a:xfrm>
          <a:noFill/>
        </p:spPr>
      </p:pic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565399-AB55-4FBA-A0CC-8985BC50B652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000" smtClean="0"/>
          </a:p>
        </p:txBody>
      </p:sp>
      <p:sp>
        <p:nvSpPr>
          <p:cNvPr id="29702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đồ thị đặc biệt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52600"/>
            <a:ext cx="8229600" cy="2547938"/>
          </a:xfrm>
        </p:spPr>
        <p:txBody>
          <a:bodyPr/>
          <a:lstStyle/>
          <a:p>
            <a:pPr eaLnBrk="1" hangingPunct="1"/>
            <a:r>
              <a:rPr lang="en-US" altLang="vi-VN" sz="2600" smtClean="0"/>
              <a:t>Đồ thị hình bánh xe </a:t>
            </a:r>
            <a:r>
              <a:rPr lang="en-US" altLang="vi-VN" sz="2600" i="1" smtClean="0"/>
              <a:t>W</a:t>
            </a:r>
            <a:r>
              <a:rPr lang="en-US" altLang="vi-VN" sz="2600" baseline="-25000" smtClean="0"/>
              <a:t>n</a:t>
            </a:r>
          </a:p>
          <a:p>
            <a:pPr lvl="1" eaLnBrk="1" hangingPunct="1"/>
            <a:r>
              <a:rPr lang="en-US" altLang="vi-VN" sz="2200" smtClean="0"/>
              <a:t>Nối các đỉnh của </a:t>
            </a:r>
            <a:r>
              <a:rPr lang="en-US" altLang="vi-VN" sz="2200" i="1" smtClean="0"/>
              <a:t>C</a:t>
            </a:r>
            <a:r>
              <a:rPr lang="en-US" altLang="vi-VN" sz="2200" baseline="-25000" smtClean="0"/>
              <a:t>n</a:t>
            </a:r>
            <a:r>
              <a:rPr lang="en-US" altLang="vi-VN" sz="2200" smtClean="0"/>
              <a:t> với một đỉnh mới </a:t>
            </a:r>
            <a:r>
              <a:rPr lang="en-US" altLang="vi-VN" sz="2200" i="1" smtClean="0"/>
              <a:t>u</a:t>
            </a:r>
            <a:r>
              <a:rPr lang="en-US" altLang="vi-VN" sz="2200" smtClean="0"/>
              <a:t> ta được </a:t>
            </a:r>
            <a:r>
              <a:rPr lang="en-US" altLang="vi-VN" sz="2200" i="1" smtClean="0"/>
              <a:t>W</a:t>
            </a:r>
            <a:r>
              <a:rPr lang="en-US" altLang="vi-VN" sz="2200" baseline="-25000" smtClean="0"/>
              <a:t>n</a:t>
            </a:r>
          </a:p>
          <a:p>
            <a:pPr lvl="1" eaLnBrk="1" hangingPunct="1"/>
            <a:r>
              <a:rPr lang="en-US" altLang="vi-VN" sz="2200" smtClean="0"/>
              <a:t>Số đỉnh: 	|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 + 1,   n</a:t>
            </a:r>
            <a:r>
              <a:rPr lang="en-US" altLang="vi-VN" sz="2200" i="1" smtClean="0">
                <a:sym typeface="Symbol" panose="05050102010706020507" pitchFamily="18" charset="2"/>
              </a:rPr>
              <a:t> 3</a:t>
            </a:r>
          </a:p>
          <a:p>
            <a:pPr lvl="1" eaLnBrk="1" hangingPunct="1"/>
            <a:r>
              <a:rPr lang="en-US" altLang="vi-VN" sz="2200" i="1" smtClean="0"/>
              <a:t>Bậc: deg</a:t>
            </a:r>
            <a:r>
              <a:rPr lang="en-US" altLang="vi-VN" sz="2200" smtClean="0"/>
              <a:t>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) = </a:t>
            </a:r>
            <a:r>
              <a:rPr lang="en-US" altLang="vi-VN" sz="2200" i="1" smtClean="0"/>
              <a:t>3,</a:t>
            </a:r>
            <a:r>
              <a:rPr lang="en-US" altLang="vi-VN" sz="2200" smtClean="0"/>
              <a:t> </a:t>
            </a:r>
            <a:r>
              <a:rPr lang="en-US" altLang="vi-VN" sz="2200" smtClean="0">
                <a:sym typeface="Symbol" panose="05050102010706020507" pitchFamily="18" charset="2"/>
              </a:rPr>
              <a:t>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 </a:t>
            </a:r>
            <a:r>
              <a:rPr lang="en-US" altLang="vi-VN" sz="2200" i="1" smtClean="0">
                <a:sym typeface="Symbol" panose="05050102010706020507" pitchFamily="18" charset="2"/>
              </a:rPr>
              <a:t>V \ {u};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vi-VN" sz="2200" i="1" smtClean="0">
                <a:sym typeface="Symbol" panose="05050102010706020507" pitchFamily="18" charset="2"/>
              </a:rPr>
              <a:t>            deg(u) = n</a:t>
            </a:r>
          </a:p>
          <a:p>
            <a:pPr lvl="1" eaLnBrk="1" hangingPunct="1"/>
            <a:r>
              <a:rPr lang="en-US" altLang="vi-VN" sz="2200" smtClean="0">
                <a:sym typeface="Symbol" panose="05050102010706020507" pitchFamily="18" charset="2"/>
              </a:rPr>
              <a:t>Số cạnh:	 </a:t>
            </a:r>
            <a:r>
              <a:rPr lang="en-US" altLang="vi-VN" sz="2200" smtClean="0"/>
              <a:t>|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| = 2</a:t>
            </a:r>
            <a:r>
              <a:rPr lang="en-US" altLang="vi-VN" sz="2200" i="1" smtClean="0"/>
              <a:t>n</a:t>
            </a:r>
          </a:p>
        </p:txBody>
      </p:sp>
      <p:pic>
        <p:nvPicPr>
          <p:cNvPr id="30724" name="Picture 8" descr="hinh1_1_4_0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28813" y="4437063"/>
            <a:ext cx="5286375" cy="1257300"/>
          </a:xfrm>
          <a:noFill/>
        </p:spPr>
      </p:pic>
      <p:sp>
        <p:nvSpPr>
          <p:cNvPr id="307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23CDBA-287A-43F0-B54C-4510F9350111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000" smtClean="0"/>
          </a:p>
        </p:txBody>
      </p:sp>
      <p:sp>
        <p:nvSpPr>
          <p:cNvPr id="30726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đồ thị đặc biệt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Đồ thị đều bậc k (Đồ thị k-đều)</a:t>
            </a:r>
            <a:endParaRPr lang="en-US" altLang="vi-VN" sz="2600" baseline="-25000" smtClean="0"/>
          </a:p>
          <a:p>
            <a:pPr lvl="1" eaLnBrk="1" hangingPunct="1"/>
            <a:r>
              <a:rPr lang="en-US" altLang="vi-VN" sz="2200" smtClean="0"/>
              <a:t>Mọi đỉnh đều có cùng bậc k</a:t>
            </a:r>
            <a:endParaRPr lang="en-US" altLang="vi-VN" sz="2200" baseline="-25000" smtClean="0"/>
          </a:p>
          <a:p>
            <a:pPr lvl="1" eaLnBrk="1" hangingPunct="1"/>
            <a:r>
              <a:rPr lang="en-US" altLang="vi-VN" sz="2200" smtClean="0"/>
              <a:t>Số đỉnh: 	|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</a:t>
            </a:r>
            <a:endParaRPr lang="en-US" altLang="vi-VN" sz="2200" i="1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vi-VN" sz="2200" i="1" smtClean="0"/>
              <a:t>Bậc: deg</a:t>
            </a:r>
            <a:r>
              <a:rPr lang="en-US" altLang="vi-VN" sz="2200" smtClean="0"/>
              <a:t>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) = </a:t>
            </a:r>
            <a:r>
              <a:rPr lang="en-US" altLang="vi-VN" sz="2200" i="1" smtClean="0"/>
              <a:t>k,</a:t>
            </a:r>
            <a:r>
              <a:rPr lang="en-US" altLang="vi-VN" sz="2200" smtClean="0"/>
              <a:t> </a:t>
            </a:r>
            <a:r>
              <a:rPr lang="en-US" altLang="vi-VN" sz="2200" smtClean="0">
                <a:sym typeface="Symbol" panose="05050102010706020507" pitchFamily="18" charset="2"/>
              </a:rPr>
              <a:t>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 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</a:p>
          <a:p>
            <a:pPr lvl="1" eaLnBrk="1" hangingPunct="1"/>
            <a:r>
              <a:rPr lang="en-US" altLang="vi-VN" sz="2200" smtClean="0">
                <a:sym typeface="Symbol" panose="05050102010706020507" pitchFamily="18" charset="2"/>
              </a:rPr>
              <a:t>Số cạnh:	 </a:t>
            </a:r>
            <a:r>
              <a:rPr lang="en-US" altLang="vi-VN" sz="2200" smtClean="0"/>
              <a:t>|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n.k/2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vi-VN" sz="2200" i="1" smtClean="0"/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230DD0-8E02-4EAA-A41D-DA538990526C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000" smtClean="0"/>
          </a:p>
        </p:txBody>
      </p:sp>
      <p:sp>
        <p:nvSpPr>
          <p:cNvPr id="31749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828800"/>
            <a:ext cx="2324100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33400" y="3962400"/>
            <a:ext cx="8229600" cy="212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2600" kern="0" dirty="0" err="1">
                <a:latin typeface="+mn-lt"/>
              </a:rPr>
              <a:t>Ví</a:t>
            </a:r>
            <a:r>
              <a:rPr lang="en-US" sz="2600" kern="0" dirty="0">
                <a:latin typeface="+mn-lt"/>
              </a:rPr>
              <a:t> </a:t>
            </a:r>
            <a:r>
              <a:rPr lang="en-US" sz="2600" kern="0" dirty="0" err="1">
                <a:latin typeface="+mn-lt"/>
              </a:rPr>
              <a:t>dụ</a:t>
            </a:r>
            <a:r>
              <a:rPr lang="en-US" sz="2600" kern="0" dirty="0">
                <a:latin typeface="+mn-lt"/>
              </a:rPr>
              <a:t>: </a:t>
            </a:r>
            <a:endParaRPr lang="en-US" sz="2600" kern="0" baseline="-25000" dirty="0">
              <a:latin typeface="+mn-lt"/>
            </a:endParaRPr>
          </a:p>
          <a:p>
            <a:pPr marL="692150" lvl="1" indent="-347663" ea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/>
            </a:pPr>
            <a:r>
              <a:rPr lang="en-US" sz="2200" i="1" dirty="0" err="1">
                <a:latin typeface="Arial" charset="0"/>
              </a:rPr>
              <a:t>C</a:t>
            </a:r>
            <a:r>
              <a:rPr lang="en-US" sz="2200" baseline="-25000" dirty="0" err="1">
                <a:latin typeface="Arial" charset="0"/>
              </a:rPr>
              <a:t>n</a:t>
            </a:r>
            <a:r>
              <a:rPr lang="en-US" sz="2200" dirty="0">
                <a:latin typeface="Arial" charset="0"/>
              </a:rPr>
              <a:t> </a:t>
            </a:r>
            <a:r>
              <a:rPr lang="en-US" sz="2200" kern="0" dirty="0" err="1">
                <a:latin typeface="+mn-lt"/>
              </a:rPr>
              <a:t>là</a:t>
            </a:r>
            <a:r>
              <a:rPr lang="en-US" sz="2200" kern="0" dirty="0">
                <a:latin typeface="+mn-lt"/>
              </a:rPr>
              <a:t> </a:t>
            </a:r>
            <a:r>
              <a:rPr lang="en-US" sz="2200" kern="0" dirty="0" err="1">
                <a:latin typeface="+mn-lt"/>
              </a:rPr>
              <a:t>đồ</a:t>
            </a:r>
            <a:r>
              <a:rPr lang="en-US" sz="2200" kern="0" dirty="0">
                <a:latin typeface="+mn-lt"/>
              </a:rPr>
              <a:t> </a:t>
            </a:r>
            <a:r>
              <a:rPr lang="en-US" sz="2200" kern="0" dirty="0" err="1">
                <a:latin typeface="+mn-lt"/>
              </a:rPr>
              <a:t>thị</a:t>
            </a:r>
            <a:r>
              <a:rPr lang="en-US" sz="2200" kern="0" dirty="0">
                <a:latin typeface="+mn-lt"/>
              </a:rPr>
              <a:t> </a:t>
            </a:r>
            <a:r>
              <a:rPr lang="en-US" sz="2200" kern="0" dirty="0" err="1">
                <a:latin typeface="+mn-lt"/>
              </a:rPr>
              <a:t>đều</a:t>
            </a:r>
            <a:r>
              <a:rPr lang="en-US" sz="2200" kern="0" dirty="0">
                <a:latin typeface="+mn-lt"/>
              </a:rPr>
              <a:t> </a:t>
            </a:r>
            <a:r>
              <a:rPr lang="en-US" sz="2200" kern="0" dirty="0" err="1">
                <a:latin typeface="+mn-lt"/>
              </a:rPr>
              <a:t>bậc</a:t>
            </a:r>
            <a:r>
              <a:rPr lang="en-US" sz="2200" kern="0" dirty="0">
                <a:latin typeface="+mn-lt"/>
              </a:rPr>
              <a:t> 2</a:t>
            </a:r>
            <a:endParaRPr lang="en-US" sz="2200" kern="0" baseline="-25000" dirty="0">
              <a:latin typeface="+mn-lt"/>
            </a:endParaRPr>
          </a:p>
          <a:p>
            <a:pPr marL="692150" lvl="1" indent="-347663" ea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/>
            </a:pPr>
            <a:r>
              <a:rPr lang="en-US" sz="2200" i="1" dirty="0" err="1">
                <a:latin typeface="Arial" charset="0"/>
              </a:rPr>
              <a:t>K</a:t>
            </a:r>
            <a:r>
              <a:rPr lang="en-US" sz="2200" baseline="-25000" dirty="0" err="1">
                <a:latin typeface="Arial" charset="0"/>
              </a:rPr>
              <a:t>n</a:t>
            </a:r>
            <a:r>
              <a:rPr lang="en-US" sz="2200" dirty="0">
                <a:latin typeface="Arial" charset="0"/>
              </a:rPr>
              <a:t> </a:t>
            </a:r>
            <a:r>
              <a:rPr lang="en-US" sz="2200" kern="0" dirty="0" err="1">
                <a:latin typeface="Arial" charset="0"/>
              </a:rPr>
              <a:t>là</a:t>
            </a:r>
            <a:r>
              <a:rPr lang="en-US" sz="2200" kern="0" dirty="0">
                <a:latin typeface="Arial" charset="0"/>
              </a:rPr>
              <a:t> </a:t>
            </a:r>
            <a:r>
              <a:rPr lang="en-US" sz="2200" kern="0" dirty="0" err="1">
                <a:latin typeface="Arial" charset="0"/>
              </a:rPr>
              <a:t>đồ</a:t>
            </a:r>
            <a:r>
              <a:rPr lang="en-US" sz="2200" kern="0" dirty="0">
                <a:latin typeface="Arial" charset="0"/>
              </a:rPr>
              <a:t> </a:t>
            </a:r>
            <a:r>
              <a:rPr lang="en-US" sz="2200" kern="0" dirty="0" err="1">
                <a:latin typeface="Arial" charset="0"/>
              </a:rPr>
              <a:t>thị</a:t>
            </a:r>
            <a:r>
              <a:rPr lang="en-US" sz="2200" kern="0" dirty="0">
                <a:latin typeface="Arial" charset="0"/>
              </a:rPr>
              <a:t> </a:t>
            </a:r>
            <a:r>
              <a:rPr lang="en-US" sz="2200" kern="0" dirty="0" err="1">
                <a:latin typeface="Arial" charset="0"/>
              </a:rPr>
              <a:t>đều</a:t>
            </a:r>
            <a:r>
              <a:rPr lang="en-US" sz="2200" kern="0" dirty="0">
                <a:latin typeface="Arial" charset="0"/>
              </a:rPr>
              <a:t> </a:t>
            </a:r>
            <a:r>
              <a:rPr lang="en-US" sz="2200" kern="0" dirty="0" err="1">
                <a:latin typeface="Arial" charset="0"/>
              </a:rPr>
              <a:t>bậc</a:t>
            </a:r>
            <a:r>
              <a:rPr lang="en-US" sz="2200" kern="0" dirty="0">
                <a:latin typeface="Arial" charset="0"/>
              </a:rPr>
              <a:t> (n-1)</a:t>
            </a:r>
            <a:endParaRPr lang="en-US" sz="2200" kern="0" baseline="-25000" dirty="0">
              <a:latin typeface="Arial" charset="0"/>
            </a:endParaRPr>
          </a:p>
          <a:p>
            <a:pPr marL="692150" lvl="1" indent="-347663" eaLnBrk="1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None/>
              <a:defRPr/>
            </a:pPr>
            <a:r>
              <a:rPr lang="en-US" sz="2200" i="1" kern="0" dirty="0">
                <a:latin typeface="+mn-lt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đồ thị đặc biệt</a:t>
            </a:r>
          </a:p>
        </p:txBody>
      </p:sp>
      <p:pic>
        <p:nvPicPr>
          <p:cNvPr id="32771" name="Picture 8" descr="hinh1_1_4_0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lum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05100" y="4724400"/>
            <a:ext cx="4619625" cy="1457325"/>
          </a:xfrm>
          <a:noFill/>
        </p:spPr>
      </p:pic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6656743-4744-41A1-B635-2FBEC637D3C9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000" smtClean="0"/>
          </a:p>
        </p:txBody>
      </p:sp>
      <p:sp>
        <p:nvSpPr>
          <p:cNvPr id="32773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3233737"/>
          </a:xfrm>
        </p:spPr>
        <p:txBody>
          <a:bodyPr/>
          <a:lstStyle/>
          <a:p>
            <a:pPr eaLnBrk="1" hangingPunct="1"/>
            <a:r>
              <a:rPr lang="en-US" altLang="vi-VN" sz="2600" smtClean="0"/>
              <a:t>Các khối </a:t>
            </a:r>
            <a:r>
              <a:rPr lang="en-US" altLang="vi-VN" sz="2600" i="1" smtClean="0"/>
              <a:t>n</a:t>
            </a:r>
            <a:r>
              <a:rPr lang="en-US" altLang="vi-VN" sz="2600" smtClean="0"/>
              <a:t>-lập phương </a:t>
            </a:r>
            <a:r>
              <a:rPr lang="en-US" altLang="vi-VN" sz="2600" i="1" smtClean="0"/>
              <a:t>Q</a:t>
            </a:r>
            <a:r>
              <a:rPr lang="en-US" altLang="vi-VN" sz="2600" baseline="-25000" smtClean="0"/>
              <a:t>n</a:t>
            </a:r>
          </a:p>
          <a:p>
            <a:pPr lvl="1" eaLnBrk="1" hangingPunct="1"/>
            <a:r>
              <a:rPr lang="en-US" altLang="vi-VN" sz="2200" smtClean="0"/>
              <a:t>Có      đỉnh, mỗi đỉnh được biểu diễn bằng một dãy số nhị phân với độ dài n.</a:t>
            </a:r>
          </a:p>
          <a:p>
            <a:pPr lvl="1" eaLnBrk="1" hangingPunct="1"/>
            <a:r>
              <a:rPr lang="en-US" altLang="vi-VN" sz="2200" smtClean="0"/>
              <a:t>Hai đỉnh là liền kề nếu và chỉ nếu các dãy nhị phân biểu diễn chúng chỉ khác nhau đúng 1 bit.</a:t>
            </a:r>
            <a:endParaRPr lang="en-US" altLang="vi-VN" sz="2200" baseline="-25000" smtClean="0"/>
          </a:p>
          <a:p>
            <a:pPr lvl="1" eaLnBrk="1" hangingPunct="1"/>
            <a:r>
              <a:rPr lang="en-US" altLang="vi-VN" sz="2200" smtClean="0"/>
              <a:t>Số đỉnh: 	|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| =</a:t>
            </a:r>
            <a:endParaRPr lang="en-US" altLang="vi-VN" sz="2200" i="1" smtClean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vi-VN" sz="2200" i="1" smtClean="0"/>
              <a:t>Bậc: deg</a:t>
            </a:r>
            <a:r>
              <a:rPr lang="en-US" altLang="vi-VN" sz="2200" smtClean="0"/>
              <a:t>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) = </a:t>
            </a:r>
            <a:r>
              <a:rPr lang="en-US" altLang="vi-VN" sz="2200" i="1" smtClean="0"/>
              <a:t>n,</a:t>
            </a:r>
            <a:r>
              <a:rPr lang="en-US" altLang="vi-VN" sz="2200" smtClean="0"/>
              <a:t> </a:t>
            </a:r>
            <a:r>
              <a:rPr lang="en-US" altLang="vi-VN" sz="2200" smtClean="0">
                <a:sym typeface="Symbol" panose="05050102010706020507" pitchFamily="18" charset="2"/>
              </a:rPr>
              <a:t>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 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</a:p>
          <a:p>
            <a:pPr lvl="1" eaLnBrk="1" hangingPunct="1"/>
            <a:r>
              <a:rPr lang="en-US" altLang="vi-VN" sz="2200" smtClean="0">
                <a:sym typeface="Symbol" panose="05050102010706020507" pitchFamily="18" charset="2"/>
              </a:rPr>
              <a:t>Số cạnh:	 </a:t>
            </a:r>
            <a:r>
              <a:rPr lang="en-US" altLang="vi-VN" sz="2200" smtClean="0"/>
              <a:t>|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n. </a:t>
            </a:r>
          </a:p>
        </p:txBody>
      </p:sp>
      <p:graphicFrame>
        <p:nvGraphicFramePr>
          <p:cNvPr id="32775" name="Object 9"/>
          <p:cNvGraphicFramePr>
            <a:graphicFrameLocks noChangeAspect="1"/>
          </p:cNvGraphicFramePr>
          <p:nvPr/>
        </p:nvGraphicFramePr>
        <p:xfrm>
          <a:off x="1612900" y="2133600"/>
          <a:ext cx="4587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3" name="Equation" r:id="rId4" imgW="177646" imgH="190335" progId="Equation.3">
                  <p:embed/>
                </p:oleObj>
              </mc:Choice>
              <mc:Fallback>
                <p:oleObj name="Equation" r:id="rId4" imgW="177646" imgH="1903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2133600"/>
                        <a:ext cx="4587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6" name="Object 9"/>
          <p:cNvGraphicFramePr>
            <a:graphicFrameLocks noChangeAspect="1"/>
          </p:cNvGraphicFramePr>
          <p:nvPr/>
        </p:nvGraphicFramePr>
        <p:xfrm>
          <a:off x="3009900" y="3632200"/>
          <a:ext cx="4587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4" name="Equation" r:id="rId6" imgW="177646" imgH="190335" progId="Equation.3">
                  <p:embed/>
                </p:oleObj>
              </mc:Choice>
              <mc:Fallback>
                <p:oleObj name="Equation" r:id="rId6" imgW="177646" imgH="1903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3632200"/>
                        <a:ext cx="4587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7" name="Object 9"/>
          <p:cNvGraphicFramePr>
            <a:graphicFrameLocks noChangeAspect="1"/>
          </p:cNvGraphicFramePr>
          <p:nvPr/>
        </p:nvGraphicFramePr>
        <p:xfrm>
          <a:off x="3251200" y="4432300"/>
          <a:ext cx="6889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" name="Equation" r:id="rId7" imgW="266469" imgH="190335" progId="Equation.3">
                  <p:embed/>
                </p:oleObj>
              </mc:Choice>
              <mc:Fallback>
                <p:oleObj name="Equation" r:id="rId7" imgW="266469" imgH="1903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4432300"/>
                        <a:ext cx="6889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đồ thị đặc biệt</a:t>
            </a:r>
          </a:p>
        </p:txBody>
      </p:sp>
      <p:pic>
        <p:nvPicPr>
          <p:cNvPr id="33795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2650" y="4203700"/>
            <a:ext cx="4838700" cy="1724025"/>
          </a:xfrm>
        </p:spPr>
      </p:pic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9508EC-34D0-473D-81E8-DB8614F42282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000" smtClean="0"/>
          </a:p>
        </p:txBody>
      </p:sp>
      <p:sp>
        <p:nvSpPr>
          <p:cNvPr id="33797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28788"/>
            <a:ext cx="8229600" cy="2128837"/>
          </a:xfrm>
        </p:spPr>
        <p:txBody>
          <a:bodyPr/>
          <a:lstStyle/>
          <a:p>
            <a:pPr eaLnBrk="1" hangingPunct="1"/>
            <a:r>
              <a:rPr lang="en-US" altLang="vi-VN" sz="2600" smtClean="0"/>
              <a:t>Đồ thị bù</a:t>
            </a:r>
          </a:p>
          <a:p>
            <a:pPr lvl="1" eaLnBrk="1" hangingPunct="1"/>
            <a:r>
              <a:rPr lang="en-US" altLang="vi-VN" sz="2200" smtClean="0"/>
              <a:t>Hai đơn đồ thị G và G’ được gọi là bù nhau </a:t>
            </a:r>
          </a:p>
          <a:p>
            <a:pPr lvl="2" eaLnBrk="1" hangingPunct="1"/>
            <a:r>
              <a:rPr lang="en-US" altLang="vi-VN" sz="2100" smtClean="0"/>
              <a:t>chúng có chung các đỉnh</a:t>
            </a:r>
          </a:p>
          <a:p>
            <a:pPr lvl="2" eaLnBrk="1" hangingPunct="1"/>
            <a:r>
              <a:rPr lang="en-US" altLang="vi-VN" sz="2100" smtClean="0"/>
              <a:t>Cạnh nào thuộc G thì không thuộc G’ và ngược lại</a:t>
            </a:r>
          </a:p>
          <a:p>
            <a:pPr lvl="1" eaLnBrk="1" hangingPunct="1"/>
            <a:r>
              <a:rPr lang="en-US" altLang="vi-VN" sz="2200" smtClean="0"/>
              <a:t>Ký hiệu: G’ = </a:t>
            </a:r>
          </a:p>
        </p:txBody>
      </p:sp>
      <p:graphicFrame>
        <p:nvGraphicFramePr>
          <p:cNvPr id="33799" name="Object 9"/>
          <p:cNvGraphicFramePr>
            <a:graphicFrameLocks noChangeAspect="1"/>
          </p:cNvGraphicFramePr>
          <p:nvPr/>
        </p:nvGraphicFramePr>
        <p:xfrm>
          <a:off x="2911475" y="3316288"/>
          <a:ext cx="4254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5" name="Equation" r:id="rId4" imgW="164885" imgH="215619" progId="Equation.3">
                  <p:embed/>
                </p:oleObj>
              </mc:Choice>
              <mc:Fallback>
                <p:oleObj name="Equation" r:id="rId4" imgW="164885" imgH="21561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1475" y="3316288"/>
                        <a:ext cx="4254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đồ thị đặc biệt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z="2600" smtClean="0"/>
              <a:t>Đồ thị lưỡng phân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/>
              <a:t>Một đồ thị G được gọi là đồ thị lưỡng phân nếu tập các đỉnh của G có thể phân thành 2 tập hợp không rỗng, rời nhau sao cho mỗi cạnh của G nối một đỉnh thuộc tập này đến một đỉnh thuộc tập kia.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200" smtClean="0"/>
              <a:t>Ký hiệu: </a:t>
            </a:r>
            <a:r>
              <a:rPr lang="en-US" altLang="vi-VN" sz="2200" i="1" smtClean="0"/>
              <a:t>K</a:t>
            </a:r>
            <a:r>
              <a:rPr lang="en-US" altLang="vi-VN" sz="2200" baseline="-25000" smtClean="0"/>
              <a:t>m,n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3B630E-6935-402A-B6AD-A4EB20001430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000" smtClean="0"/>
          </a:p>
        </p:txBody>
      </p:sp>
      <p:sp>
        <p:nvSpPr>
          <p:cNvPr id="34821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pic>
        <p:nvPicPr>
          <p:cNvPr id="34822" name="Picture 6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43088" y="4394200"/>
            <a:ext cx="5457825" cy="1343025"/>
          </a:xfrm>
        </p:spPr>
      </p:pic>
      <p:graphicFrame>
        <p:nvGraphicFramePr>
          <p:cNvPr id="34823" name="Object 9"/>
          <p:cNvGraphicFramePr>
            <a:graphicFrameLocks noChangeAspect="1"/>
          </p:cNvGraphicFramePr>
          <p:nvPr/>
        </p:nvGraphicFramePr>
        <p:xfrm>
          <a:off x="2003425" y="5715000"/>
          <a:ext cx="4349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Equation" r:id="rId4" imgW="279279" imgH="241195" progId="Equation.3">
                  <p:embed/>
                </p:oleObj>
              </mc:Choice>
              <mc:Fallback>
                <p:oleObj name="Equation" r:id="rId4" imgW="279279" imgH="2411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425" y="5715000"/>
                        <a:ext cx="4349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Sự đẳng cấu giữa các đồ thị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Định nghĩa</a:t>
            </a:r>
          </a:p>
          <a:p>
            <a:pPr lvl="1" eaLnBrk="1" hangingPunct="1"/>
            <a:r>
              <a:rPr lang="en-US" altLang="vi-VN" i="1" smtClean="0"/>
              <a:t>G</a:t>
            </a:r>
            <a:r>
              <a:rPr lang="en-US" altLang="vi-VN" smtClean="0"/>
              <a:t>(</a:t>
            </a:r>
            <a:r>
              <a:rPr lang="en-US" altLang="vi-VN" i="1" smtClean="0"/>
              <a:t>V</a:t>
            </a:r>
            <a:r>
              <a:rPr lang="en-US" altLang="vi-VN" smtClean="0"/>
              <a:t>, </a:t>
            </a:r>
            <a:r>
              <a:rPr lang="en-US" altLang="vi-VN" i="1" smtClean="0"/>
              <a:t>E</a:t>
            </a:r>
            <a:r>
              <a:rPr lang="en-US" altLang="vi-VN" smtClean="0"/>
              <a:t>) </a:t>
            </a:r>
            <a:r>
              <a:rPr lang="en-US" altLang="vi-VN" i="1" smtClean="0"/>
              <a:t>đẳng cầu</a:t>
            </a:r>
            <a:r>
              <a:rPr lang="en-US" altLang="vi-VN" smtClean="0"/>
              <a:t> với </a:t>
            </a:r>
            <a:r>
              <a:rPr lang="en-US" altLang="vi-VN" i="1" smtClean="0"/>
              <a:t>G’(V’, E’)</a:t>
            </a:r>
            <a:r>
              <a:rPr lang="en-US" altLang="vi-VN" smtClean="0"/>
              <a:t>, (</a:t>
            </a:r>
            <a:r>
              <a:rPr lang="en-US" altLang="vi-VN" i="1" smtClean="0"/>
              <a:t>G</a:t>
            </a:r>
            <a:r>
              <a:rPr lang="en-US" altLang="vi-VN" smtClean="0">
                <a:sym typeface="Symbol" panose="05050102010706020507" pitchFamily="18" charset="2"/>
              </a:rPr>
              <a:t></a:t>
            </a:r>
            <a:r>
              <a:rPr lang="en-US" altLang="vi-VN" i="1" smtClean="0"/>
              <a:t>G’</a:t>
            </a:r>
            <a:r>
              <a:rPr lang="en-US" altLang="vi-VN" smtClean="0"/>
              <a:t>) nếu</a:t>
            </a:r>
          </a:p>
          <a:p>
            <a:pPr lvl="2" eaLnBrk="1" hangingPunct="1"/>
            <a:r>
              <a:rPr lang="en-US" altLang="vi-VN" smtClean="0"/>
              <a:t>Tồn tại song ánh </a:t>
            </a:r>
            <a:r>
              <a:rPr lang="en-US" altLang="vi-VN" i="1" smtClean="0"/>
              <a:t>f: V </a:t>
            </a:r>
            <a:r>
              <a:rPr lang="en-US" altLang="vi-VN" smtClean="0">
                <a:sym typeface="Wingdings" panose="05000000000000000000" pitchFamily="2" charset="2"/>
              </a:rPr>
              <a:t></a:t>
            </a:r>
            <a:r>
              <a:rPr lang="en-US" altLang="vi-VN" i="1" smtClean="0">
                <a:sym typeface="Wingdings" panose="05000000000000000000" pitchFamily="2" charset="2"/>
              </a:rPr>
              <a:t> V’</a:t>
            </a:r>
          </a:p>
          <a:p>
            <a:pPr lvl="2" eaLnBrk="1" hangingPunct="1"/>
            <a:r>
              <a:rPr lang="en-US" altLang="vi-VN" smtClean="0">
                <a:sym typeface="Symbol" panose="05050102010706020507" pitchFamily="18" charset="2"/>
              </a:rPr>
              <a:t>Bảo toàn quan hệ liền kề:</a:t>
            </a:r>
          </a:p>
          <a:p>
            <a:pPr lvl="2" algn="ctr" eaLnBrk="1" hangingPunct="1">
              <a:buFont typeface="Wingdings" panose="05000000000000000000" pitchFamily="2" charset="2"/>
              <a:buNone/>
            </a:pPr>
            <a:r>
              <a:rPr lang="en-US" altLang="vi-VN" smtClean="0">
                <a:sym typeface="Symbol" panose="05050102010706020507" pitchFamily="18" charset="2"/>
              </a:rPr>
              <a:t>u,</a:t>
            </a:r>
            <a:r>
              <a:rPr lang="en-US" altLang="vi-VN" i="1" smtClean="0">
                <a:sym typeface="Symbol" panose="05050102010706020507" pitchFamily="18" charset="2"/>
              </a:rPr>
              <a:t>v</a:t>
            </a:r>
            <a:r>
              <a:rPr lang="en-US" altLang="vi-VN" smtClean="0">
                <a:sym typeface="Symbol" panose="05050102010706020507" pitchFamily="18" charset="2"/>
              </a:rPr>
              <a:t> </a:t>
            </a:r>
            <a:r>
              <a:rPr lang="en-US" altLang="vi-VN" i="1" smtClean="0">
                <a:sym typeface="Symbol" panose="05050102010706020507" pitchFamily="18" charset="2"/>
              </a:rPr>
              <a:t>V, </a:t>
            </a:r>
            <a:r>
              <a:rPr lang="en-US" altLang="vi-VN" i="1" smtClean="0">
                <a:sym typeface="Wingdings" panose="05000000000000000000" pitchFamily="2" charset="2"/>
              </a:rPr>
              <a:t>uv</a:t>
            </a:r>
            <a:r>
              <a:rPr lang="en-US" altLang="vi-VN" smtClean="0">
                <a:sym typeface="Wingdings" panose="05000000000000000000" pitchFamily="2" charset="2"/>
              </a:rPr>
              <a:t> </a:t>
            </a:r>
            <a:r>
              <a:rPr lang="en-US" altLang="vi-VN" smtClean="0">
                <a:sym typeface="Symbol" panose="05050102010706020507" pitchFamily="18" charset="2"/>
              </a:rPr>
              <a:t></a:t>
            </a:r>
            <a:r>
              <a:rPr lang="en-US" altLang="vi-VN" i="1" smtClean="0">
                <a:sym typeface="Symbol" panose="05050102010706020507" pitchFamily="18" charset="2"/>
              </a:rPr>
              <a:t>E</a:t>
            </a:r>
            <a:r>
              <a:rPr lang="en-US" altLang="vi-VN" smtClean="0">
                <a:sym typeface="Symbol" panose="05050102010706020507" pitchFamily="18" charset="2"/>
              </a:rPr>
              <a:t>  </a:t>
            </a:r>
            <a:r>
              <a:rPr lang="en-US" altLang="vi-VN" i="1" smtClean="0">
                <a:sym typeface="Symbol" panose="05050102010706020507" pitchFamily="18" charset="2"/>
              </a:rPr>
              <a:t>f(</a:t>
            </a:r>
            <a:r>
              <a:rPr lang="en-US" altLang="vi-VN" i="1" smtClean="0">
                <a:sym typeface="Wingdings" panose="05000000000000000000" pitchFamily="2" charset="2"/>
              </a:rPr>
              <a:t>u)f(v</a:t>
            </a:r>
            <a:r>
              <a:rPr lang="en-US" altLang="vi-VN" smtClean="0">
                <a:sym typeface="Wingdings" panose="05000000000000000000" pitchFamily="2" charset="2"/>
              </a:rPr>
              <a:t>) </a:t>
            </a:r>
            <a:r>
              <a:rPr lang="en-US" altLang="vi-VN" smtClean="0">
                <a:sym typeface="Symbol" panose="05050102010706020507" pitchFamily="18" charset="2"/>
              </a:rPr>
              <a:t></a:t>
            </a:r>
            <a:r>
              <a:rPr lang="en-US" altLang="vi-VN" i="1" smtClean="0">
                <a:sym typeface="Symbol" panose="05050102010706020507" pitchFamily="18" charset="2"/>
              </a:rPr>
              <a:t>E’  </a:t>
            </a:r>
          </a:p>
          <a:p>
            <a:pPr lvl="1" eaLnBrk="1" hangingPunct="1"/>
            <a:r>
              <a:rPr lang="en-US" altLang="vi-VN" smtClean="0"/>
              <a:t>G đẳng cấu với G’ thì</a:t>
            </a:r>
          </a:p>
          <a:p>
            <a:pPr lvl="2" eaLnBrk="1" hangingPunct="1"/>
            <a:r>
              <a:rPr lang="en-US" altLang="vi-VN" smtClean="0"/>
              <a:t>|V| = |V’|</a:t>
            </a:r>
          </a:p>
          <a:p>
            <a:pPr lvl="2" eaLnBrk="1" hangingPunct="1"/>
            <a:r>
              <a:rPr lang="en-US" altLang="vi-VN" smtClean="0"/>
              <a:t>|E| = |E’|</a:t>
            </a:r>
          </a:p>
          <a:p>
            <a:pPr lvl="2" eaLnBrk="1" hangingPunct="1"/>
            <a:r>
              <a:rPr lang="en-US" altLang="vi-VN" smtClean="0"/>
              <a:t>deg(</a:t>
            </a:r>
            <a:r>
              <a:rPr lang="en-US" altLang="vi-VN" i="1" smtClean="0"/>
              <a:t>v</a:t>
            </a:r>
            <a:r>
              <a:rPr lang="en-US" altLang="vi-VN" smtClean="0"/>
              <a:t>) = deg(</a:t>
            </a:r>
            <a:r>
              <a:rPr lang="en-US" altLang="vi-VN" i="1" smtClean="0"/>
              <a:t>f</a:t>
            </a:r>
            <a:r>
              <a:rPr lang="en-US" altLang="vi-VN" smtClean="0"/>
              <a:t>(</a:t>
            </a:r>
            <a:r>
              <a:rPr lang="en-US" altLang="vi-VN" i="1" smtClean="0"/>
              <a:t>v</a:t>
            </a:r>
            <a:r>
              <a:rPr lang="en-US" altLang="vi-VN" smtClean="0"/>
              <a:t>)),  </a:t>
            </a:r>
            <a:r>
              <a:rPr lang="en-US" altLang="vi-VN" smtClean="0">
                <a:sym typeface="Symbol" panose="05050102010706020507" pitchFamily="18" charset="2"/>
              </a:rPr>
              <a:t> </a:t>
            </a:r>
            <a:r>
              <a:rPr lang="en-US" altLang="vi-VN" i="1" smtClean="0">
                <a:sym typeface="Symbol" panose="05050102010706020507" pitchFamily="18" charset="2"/>
              </a:rPr>
              <a:t>v</a:t>
            </a:r>
            <a:r>
              <a:rPr lang="en-US" altLang="vi-VN" smtClean="0">
                <a:sym typeface="Symbol" panose="05050102010706020507" pitchFamily="18" charset="2"/>
              </a:rPr>
              <a:t> </a:t>
            </a:r>
            <a:r>
              <a:rPr lang="en-US" altLang="vi-VN" i="1" smtClean="0">
                <a:sym typeface="Symbol" panose="05050102010706020507" pitchFamily="18" charset="2"/>
              </a:rPr>
              <a:t>V</a:t>
            </a:r>
          </a:p>
        </p:txBody>
      </p:sp>
      <p:sp>
        <p:nvSpPr>
          <p:cNvPr id="3584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816B88-F679-4172-86AF-549E3A4B36C7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000" smtClean="0"/>
          </a:p>
        </p:txBody>
      </p:sp>
      <p:sp>
        <p:nvSpPr>
          <p:cNvPr id="35845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Sự đẳng cấu giữa các đồ thị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1663"/>
          </a:xfrm>
        </p:spPr>
        <p:txBody>
          <a:bodyPr/>
          <a:lstStyle/>
          <a:p>
            <a:pPr eaLnBrk="1" hangingPunct="1"/>
            <a:r>
              <a:rPr lang="en-US" altLang="vi-VN" dirty="0" err="1" smtClean="0"/>
              <a:t>Định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nghĩa</a:t>
            </a:r>
            <a:endParaRPr lang="en-US" altLang="vi-VN" dirty="0" smtClean="0"/>
          </a:p>
          <a:p>
            <a:pPr lvl="1" eaLnBrk="1" hangingPunct="1"/>
            <a:r>
              <a:rPr lang="en-US" altLang="vi-VN" dirty="0" err="1" smtClean="0"/>
              <a:t>Chứng</a:t>
            </a:r>
            <a:r>
              <a:rPr lang="en-US" altLang="vi-VN" dirty="0" smtClean="0"/>
              <a:t> minh 2 </a:t>
            </a:r>
            <a:r>
              <a:rPr lang="en-US" altLang="vi-VN" dirty="0" err="1" smtClean="0"/>
              <a:t>đồ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thị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đẳng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cấu</a:t>
            </a:r>
            <a:endParaRPr lang="en-US" altLang="vi-VN" dirty="0" smtClean="0"/>
          </a:p>
          <a:p>
            <a:pPr lvl="2" eaLnBrk="1" hangingPunct="1"/>
            <a:r>
              <a:rPr lang="en-US" altLang="vi-VN" dirty="0" err="1" smtClean="0"/>
              <a:t>Điều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kiện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cần</a:t>
            </a:r>
            <a:r>
              <a:rPr lang="en-US" altLang="vi-VN" dirty="0" smtClean="0"/>
              <a:t> </a:t>
            </a:r>
          </a:p>
          <a:p>
            <a:pPr lvl="3" eaLnBrk="1" hangingPunct="1"/>
            <a:r>
              <a:rPr lang="en-US" altLang="vi-VN" dirty="0" err="1" smtClean="0"/>
              <a:t>Xét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số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cạnh</a:t>
            </a:r>
            <a:r>
              <a:rPr lang="en-US" altLang="vi-VN" dirty="0" smtClean="0"/>
              <a:t>, </a:t>
            </a:r>
            <a:r>
              <a:rPr lang="en-US" altLang="vi-VN" dirty="0" err="1" smtClean="0"/>
              <a:t>số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đỉnh</a:t>
            </a:r>
            <a:r>
              <a:rPr lang="en-US" altLang="vi-VN" dirty="0" smtClean="0"/>
              <a:t>, </a:t>
            </a:r>
            <a:r>
              <a:rPr lang="en-US" altLang="vi-VN" dirty="0" err="1" smtClean="0"/>
              <a:t>bậc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của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đỉnh</a:t>
            </a:r>
            <a:endParaRPr lang="en-US" altLang="vi-VN" dirty="0" smtClean="0"/>
          </a:p>
          <a:p>
            <a:pPr lvl="2" eaLnBrk="1" hangingPunct="1"/>
            <a:r>
              <a:rPr lang="en-US" altLang="vi-VN" dirty="0" err="1" smtClean="0"/>
              <a:t>Điều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kiện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đủ</a:t>
            </a:r>
            <a:r>
              <a:rPr lang="en-US" altLang="vi-VN" dirty="0" smtClean="0"/>
              <a:t> </a:t>
            </a:r>
          </a:p>
          <a:p>
            <a:pPr lvl="3" eaLnBrk="1" hangingPunct="1"/>
            <a:r>
              <a:rPr lang="en-US" altLang="vi-VN" dirty="0" err="1" smtClean="0"/>
              <a:t>Xây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dựng</a:t>
            </a:r>
            <a:r>
              <a:rPr lang="en-US" altLang="vi-VN" dirty="0" smtClean="0"/>
              <a:t> song </a:t>
            </a:r>
            <a:r>
              <a:rPr lang="en-US" altLang="vi-VN" dirty="0" err="1" smtClean="0"/>
              <a:t>ánh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bảo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toàn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quan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hệ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liền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kề</a:t>
            </a:r>
            <a:endParaRPr lang="en-US" altLang="vi-VN" dirty="0" smtClean="0"/>
          </a:p>
          <a:p>
            <a:pPr lvl="1" eaLnBrk="1" hangingPunct="1"/>
            <a:r>
              <a:rPr lang="en-US" altLang="vi-VN" sz="2400" dirty="0" err="1" smtClean="0"/>
              <a:t>Ví</a:t>
            </a:r>
            <a:r>
              <a:rPr lang="en-US" altLang="vi-VN" sz="2400" dirty="0" smtClean="0"/>
              <a:t> </a:t>
            </a:r>
            <a:r>
              <a:rPr lang="en-US" altLang="vi-VN" sz="2400" dirty="0" err="1" smtClean="0"/>
              <a:t>dụ</a:t>
            </a:r>
            <a:r>
              <a:rPr lang="en-US" altLang="vi-VN" sz="2400" dirty="0" smtClean="0"/>
              <a:t> 1:</a:t>
            </a:r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896" y="4607610"/>
            <a:ext cx="2895600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CEE90A-E6A4-4C29-AA0D-CE6595C7339F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000" smtClean="0"/>
          </a:p>
        </p:txBody>
      </p:sp>
      <p:sp>
        <p:nvSpPr>
          <p:cNvPr id="36870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pic>
        <p:nvPicPr>
          <p:cNvPr id="2" name="Ản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614" y="4191447"/>
            <a:ext cx="1037273" cy="322707"/>
          </a:xfrm>
          <a:prstGeom prst="rect">
            <a:avLst/>
          </a:prstGeom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436" y="4495911"/>
            <a:ext cx="1383030" cy="251460"/>
          </a:xfrm>
          <a:prstGeom prst="rect">
            <a:avLst/>
          </a:prstGeom>
        </p:spPr>
      </p:pic>
      <p:pic>
        <p:nvPicPr>
          <p:cNvPr id="4" name="Ản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2928" y="4752523"/>
            <a:ext cx="1330643" cy="282893"/>
          </a:xfrm>
          <a:prstGeom prst="rect">
            <a:avLst/>
          </a:prstGeom>
        </p:spPr>
      </p:pic>
      <p:pic>
        <p:nvPicPr>
          <p:cNvPr id="5" name="Ảnh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4359" y="5104625"/>
            <a:ext cx="1267778" cy="261938"/>
          </a:xfrm>
          <a:prstGeom prst="rect">
            <a:avLst/>
          </a:prstGeom>
        </p:spPr>
      </p:pic>
      <p:pic>
        <p:nvPicPr>
          <p:cNvPr id="6" name="Ảnh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2928" y="5428633"/>
            <a:ext cx="1330643" cy="240983"/>
          </a:xfrm>
          <a:prstGeom prst="rect">
            <a:avLst/>
          </a:prstGeom>
        </p:spPr>
      </p:pic>
      <p:pic>
        <p:nvPicPr>
          <p:cNvPr id="7" name="Ảnh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850" y="5648978"/>
            <a:ext cx="4552950" cy="257175"/>
          </a:xfrm>
          <a:prstGeom prst="rect">
            <a:avLst/>
          </a:prstGeom>
        </p:spPr>
      </p:pic>
      <p:pic>
        <p:nvPicPr>
          <p:cNvPr id="8" name="Ảnh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86496" y="5921718"/>
            <a:ext cx="828675" cy="228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7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 decel="1000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Sự đẳng cấu giữa các đồ thị</a:t>
            </a:r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Định nghĩa</a:t>
            </a:r>
          </a:p>
          <a:p>
            <a:pPr lvl="1" eaLnBrk="1" hangingPunct="1"/>
            <a:r>
              <a:rPr lang="en-US" altLang="vi-VN" sz="2200" smtClean="0"/>
              <a:t>Chứng minh 2 đồ thị đẳng cấu</a:t>
            </a:r>
          </a:p>
          <a:p>
            <a:pPr lvl="2" eaLnBrk="1" hangingPunct="1"/>
            <a:r>
              <a:rPr lang="en-US" altLang="vi-VN" sz="2100" smtClean="0"/>
              <a:t>Ví dụ 2</a:t>
            </a:r>
          </a:p>
        </p:txBody>
      </p:sp>
      <p:pic>
        <p:nvPicPr>
          <p:cNvPr id="119815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3756025"/>
            <a:ext cx="5629275" cy="1898650"/>
          </a:xfrm>
        </p:spPr>
      </p:pic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634939-D05B-489D-8FB8-4D794F474AA5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000" smtClean="0"/>
          </a:p>
        </p:txBody>
      </p:sp>
      <p:sp>
        <p:nvSpPr>
          <p:cNvPr id="37894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98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119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Sự đẳng cấu giữa các đồ thị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Đồ thị tự bù</a:t>
            </a:r>
          </a:p>
          <a:p>
            <a:pPr lvl="1" eaLnBrk="1" hangingPunct="1"/>
            <a:r>
              <a:rPr lang="en-US" altLang="vi-VN" smtClean="0"/>
              <a:t>Định nghĩa</a:t>
            </a:r>
          </a:p>
          <a:p>
            <a:pPr lvl="2" eaLnBrk="1" hangingPunct="1"/>
            <a:r>
              <a:rPr lang="en-US" altLang="vi-VN" smtClean="0"/>
              <a:t>Đồ thị G tự bù nếu G đẳng cấu với phần bù của nó</a:t>
            </a:r>
          </a:p>
          <a:p>
            <a:pPr lvl="2" eaLnBrk="1" hangingPunct="1"/>
            <a:r>
              <a:rPr lang="en-US" altLang="vi-VN" smtClean="0"/>
              <a:t>Ví dụ</a:t>
            </a:r>
          </a:p>
          <a:p>
            <a:pPr lvl="1" eaLnBrk="1" hangingPunct="1"/>
            <a:endParaRPr lang="en-US" altLang="vi-VN" smtClean="0"/>
          </a:p>
          <a:p>
            <a:pPr lvl="1" eaLnBrk="1" hangingPunct="1"/>
            <a:endParaRPr lang="en-US" altLang="vi-VN" smtClean="0"/>
          </a:p>
          <a:p>
            <a:pPr lvl="1" eaLnBrk="1" hangingPunct="1"/>
            <a:r>
              <a:rPr lang="en-US" altLang="vi-VN" smtClean="0"/>
              <a:t>Định lý 1.4</a:t>
            </a:r>
          </a:p>
          <a:p>
            <a:pPr lvl="2" eaLnBrk="1" hangingPunct="1"/>
            <a:r>
              <a:rPr lang="en-US" altLang="vi-VN" smtClean="0"/>
              <a:t>Hai đồ thị có ma trận liền kề (theo một thứ tự nào đó của các đỉnh) bằng nhau thì đẳng cấu với nhau</a:t>
            </a:r>
          </a:p>
        </p:txBody>
      </p:sp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2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3252788"/>
            <a:ext cx="3343275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DA4D34-6845-4CA7-835A-3FBE889A9A12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000" smtClean="0"/>
          </a:p>
        </p:txBody>
      </p:sp>
      <p:sp>
        <p:nvSpPr>
          <p:cNvPr id="38918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Đồ thị có hướng</a:t>
            </a:r>
          </a:p>
        </p:txBody>
      </p:sp>
      <p:sp>
        <p:nvSpPr>
          <p:cNvPr id="3994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36D3DB-DA32-4CA7-A1EB-8225AD6C04CD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000" smtClean="0"/>
          </a:p>
        </p:txBody>
      </p:sp>
      <p:sp>
        <p:nvSpPr>
          <p:cNvPr id="39941" name="TextBox 8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pic>
        <p:nvPicPr>
          <p:cNvPr id="3" name="Ảnh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77" y="1761702"/>
            <a:ext cx="8164487" cy="4044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Đồ thị có hướng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dirty="0" err="1" smtClean="0"/>
              <a:t>Bậc</a:t>
            </a:r>
            <a:r>
              <a:rPr lang="en-US" altLang="vi-VN" sz="2600" dirty="0" smtClean="0"/>
              <a:t> </a:t>
            </a:r>
            <a:r>
              <a:rPr lang="en-US" altLang="vi-VN" sz="2600" dirty="0" err="1" smtClean="0"/>
              <a:t>của</a:t>
            </a:r>
            <a:r>
              <a:rPr lang="en-US" altLang="vi-VN" sz="2600" dirty="0" smtClean="0"/>
              <a:t> </a:t>
            </a:r>
            <a:r>
              <a:rPr lang="en-US" altLang="vi-VN" sz="2600" dirty="0" err="1" smtClean="0"/>
              <a:t>đỉnh</a:t>
            </a:r>
            <a:endParaRPr lang="en-US" altLang="vi-VN" sz="2600" dirty="0" smtClean="0"/>
          </a:p>
          <a:p>
            <a:pPr lvl="1" eaLnBrk="1" hangingPunct="1"/>
            <a:r>
              <a:rPr lang="en-US" altLang="vi-VN" sz="2200" dirty="0" err="1" smtClean="0"/>
              <a:t>Bậc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vào</a:t>
            </a:r>
            <a:endParaRPr lang="en-US" altLang="vi-VN" sz="2200" dirty="0" smtClean="0"/>
          </a:p>
          <a:p>
            <a:pPr lvl="2" eaLnBrk="1" hangingPunct="1"/>
            <a:r>
              <a:rPr lang="en-US" altLang="vi-VN" sz="2100" i="1" dirty="0" err="1" smtClean="0"/>
              <a:t>deg</a:t>
            </a:r>
            <a:r>
              <a:rPr lang="en-US" altLang="vi-VN" sz="2100" i="1" dirty="0" smtClean="0"/>
              <a:t> </a:t>
            </a:r>
            <a:r>
              <a:rPr lang="en-US" altLang="vi-VN" sz="2100" baseline="30000" dirty="0" smtClean="0"/>
              <a:t>- </a:t>
            </a:r>
            <a:r>
              <a:rPr lang="en-US" altLang="vi-VN" sz="2100" dirty="0" smtClean="0"/>
              <a:t>(v) = | { u | (u, v) </a:t>
            </a:r>
            <a:r>
              <a:rPr lang="en-US" altLang="vi-VN" sz="2100" dirty="0" smtClean="0">
                <a:sym typeface="Symbol" panose="05050102010706020507" pitchFamily="18" charset="2"/>
              </a:rPr>
              <a:t> E } | =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số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cạnh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có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đỉnh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cuối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là</a:t>
            </a:r>
            <a:r>
              <a:rPr lang="en-US" altLang="vi-VN" sz="2100" dirty="0" smtClean="0">
                <a:sym typeface="Symbol" panose="05050102010706020507" pitchFamily="18" charset="2"/>
              </a:rPr>
              <a:t> v</a:t>
            </a:r>
          </a:p>
          <a:p>
            <a:pPr lvl="1" eaLnBrk="1" hangingPunct="1"/>
            <a:r>
              <a:rPr lang="en-US" altLang="vi-VN" sz="2200" dirty="0" err="1" smtClean="0"/>
              <a:t>Bậc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ra</a:t>
            </a:r>
            <a:endParaRPr lang="en-US" altLang="vi-VN" sz="2200" dirty="0" smtClean="0"/>
          </a:p>
          <a:p>
            <a:pPr lvl="2" eaLnBrk="1" hangingPunct="1"/>
            <a:r>
              <a:rPr lang="en-US" altLang="vi-VN" sz="2100" i="1" dirty="0" err="1" smtClean="0"/>
              <a:t>deg</a:t>
            </a:r>
            <a:r>
              <a:rPr lang="en-US" altLang="vi-VN" sz="2100" i="1" dirty="0" smtClean="0"/>
              <a:t> </a:t>
            </a:r>
            <a:r>
              <a:rPr lang="en-US" altLang="vi-VN" sz="2100" i="1" baseline="30000" dirty="0" smtClean="0"/>
              <a:t>+</a:t>
            </a:r>
            <a:r>
              <a:rPr lang="en-US" altLang="vi-VN" sz="2100" baseline="30000" dirty="0" smtClean="0"/>
              <a:t> </a:t>
            </a:r>
            <a:r>
              <a:rPr lang="en-US" altLang="vi-VN" sz="2100" dirty="0" smtClean="0"/>
              <a:t>(v) = | { u | (v, u) </a:t>
            </a:r>
            <a:r>
              <a:rPr lang="en-US" altLang="vi-VN" sz="2100" dirty="0" smtClean="0">
                <a:sym typeface="Symbol" panose="05050102010706020507" pitchFamily="18" charset="2"/>
              </a:rPr>
              <a:t> E } | =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số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cạnh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có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đỉnh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đầu</a:t>
            </a:r>
            <a:r>
              <a:rPr lang="en-US" altLang="vi-VN" sz="2100" dirty="0" smtClean="0">
                <a:sym typeface="Symbol" panose="05050102010706020507" pitchFamily="18" charset="2"/>
              </a:rPr>
              <a:t> </a:t>
            </a:r>
            <a:r>
              <a:rPr lang="en-US" altLang="vi-VN" sz="2100" dirty="0" err="1" smtClean="0">
                <a:sym typeface="Symbol" panose="05050102010706020507" pitchFamily="18" charset="2"/>
              </a:rPr>
              <a:t>là</a:t>
            </a:r>
            <a:r>
              <a:rPr lang="en-US" altLang="vi-VN" sz="2100" dirty="0" smtClean="0">
                <a:sym typeface="Symbol" panose="05050102010706020507" pitchFamily="18" charset="2"/>
              </a:rPr>
              <a:t> v</a:t>
            </a:r>
            <a:endParaRPr lang="en-US" altLang="vi-VN" sz="2100" dirty="0" smtClean="0"/>
          </a:p>
        </p:txBody>
      </p:sp>
      <p:sp>
        <p:nvSpPr>
          <p:cNvPr id="409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0EAF19-D3E2-49ED-91D2-1E0AA63276D7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000" smtClean="0"/>
          </a:p>
        </p:txBody>
      </p:sp>
      <p:sp>
        <p:nvSpPr>
          <p:cNvPr id="40966" name="TextBox 7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53340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92150" indent="-3476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/>
            <a:r>
              <a:rPr lang="en-US" altLang="vi-VN" sz="2200" dirty="0" err="1"/>
              <a:t>Chú</a:t>
            </a:r>
            <a:r>
              <a:rPr lang="en-US" altLang="vi-VN" sz="2200" dirty="0"/>
              <a:t> ý: </a:t>
            </a:r>
            <a:r>
              <a:rPr lang="en-US" altLang="vi-VN" sz="2200" dirty="0" err="1"/>
              <a:t>Một</a:t>
            </a:r>
            <a:r>
              <a:rPr lang="en-US" altLang="vi-VN" sz="2200" dirty="0"/>
              <a:t> </a:t>
            </a:r>
            <a:r>
              <a:rPr lang="en-US" altLang="vi-VN" sz="2200" dirty="0" err="1"/>
              <a:t>khuyên</a:t>
            </a:r>
            <a:r>
              <a:rPr lang="en-US" altLang="vi-VN" sz="2200" dirty="0"/>
              <a:t> (</a:t>
            </a:r>
            <a:r>
              <a:rPr lang="en-US" altLang="vi-VN" sz="2200" dirty="0" err="1"/>
              <a:t>vòng</a:t>
            </a:r>
            <a:r>
              <a:rPr lang="en-US" altLang="vi-VN" sz="2200" dirty="0"/>
              <a:t>) </a:t>
            </a:r>
            <a:r>
              <a:rPr lang="en-US" altLang="vi-VN" sz="2200" dirty="0" err="1"/>
              <a:t>tại</a:t>
            </a:r>
            <a:r>
              <a:rPr lang="en-US" altLang="vi-VN" sz="2200" dirty="0"/>
              <a:t> </a:t>
            </a:r>
            <a:r>
              <a:rPr lang="en-US" altLang="vi-VN" sz="2200" dirty="0" err="1"/>
              <a:t>một</a:t>
            </a:r>
            <a:r>
              <a:rPr lang="en-US" altLang="vi-VN" sz="2200" dirty="0"/>
              <a:t> </a:t>
            </a:r>
            <a:r>
              <a:rPr lang="en-US" altLang="vi-VN" sz="2200" dirty="0" err="1"/>
              <a:t>đỉnh</a:t>
            </a:r>
            <a:r>
              <a:rPr lang="en-US" altLang="vi-VN" sz="2200" dirty="0"/>
              <a:t> </a:t>
            </a:r>
            <a:r>
              <a:rPr lang="en-US" altLang="vi-VN" sz="2200" dirty="0" err="1"/>
              <a:t>sẽ</a:t>
            </a:r>
            <a:r>
              <a:rPr lang="en-US" altLang="vi-VN" sz="2200" dirty="0"/>
              <a:t> </a:t>
            </a:r>
            <a:r>
              <a:rPr lang="en-US" altLang="vi-VN" sz="2200" dirty="0" err="1"/>
              <a:t>góp</a:t>
            </a:r>
            <a:r>
              <a:rPr lang="en-US" altLang="vi-VN" sz="2200" dirty="0"/>
              <a:t> </a:t>
            </a:r>
            <a:r>
              <a:rPr lang="en-US" altLang="vi-VN" sz="2200" dirty="0" err="1"/>
              <a:t>thêm</a:t>
            </a:r>
            <a:r>
              <a:rPr lang="en-US" altLang="vi-VN" sz="2200" dirty="0"/>
              <a:t> </a:t>
            </a:r>
            <a:r>
              <a:rPr lang="en-US" altLang="vi-VN" sz="2200" dirty="0" err="1"/>
              <a:t>một</a:t>
            </a:r>
            <a:r>
              <a:rPr lang="en-US" altLang="vi-VN" sz="2200" dirty="0"/>
              <a:t> </a:t>
            </a:r>
            <a:r>
              <a:rPr lang="en-US" altLang="vi-VN" sz="2200" dirty="0" err="1"/>
              <a:t>đơn</a:t>
            </a:r>
            <a:r>
              <a:rPr lang="en-US" altLang="vi-VN" sz="2200" dirty="0"/>
              <a:t> </a:t>
            </a:r>
            <a:r>
              <a:rPr lang="en-US" altLang="vi-VN" sz="2200" dirty="0" err="1"/>
              <a:t>vị</a:t>
            </a:r>
            <a:r>
              <a:rPr lang="en-US" altLang="vi-VN" sz="2200" dirty="0"/>
              <a:t> </a:t>
            </a:r>
            <a:r>
              <a:rPr lang="en-US" altLang="vi-VN" sz="2200" dirty="0" err="1"/>
              <a:t>vào</a:t>
            </a:r>
            <a:r>
              <a:rPr lang="en-US" altLang="vi-VN" sz="2200" dirty="0"/>
              <a:t> </a:t>
            </a:r>
            <a:r>
              <a:rPr lang="en-US" altLang="vi-VN" sz="2200" dirty="0" err="1"/>
              <a:t>bậc</a:t>
            </a:r>
            <a:r>
              <a:rPr lang="en-US" altLang="vi-VN" sz="2200" dirty="0"/>
              <a:t> </a:t>
            </a:r>
            <a:r>
              <a:rPr lang="en-US" altLang="vi-VN" sz="2200" dirty="0" err="1"/>
              <a:t>vào</a:t>
            </a:r>
            <a:r>
              <a:rPr lang="en-US" altLang="vi-VN" sz="2200" dirty="0"/>
              <a:t> </a:t>
            </a:r>
            <a:r>
              <a:rPr lang="en-US" altLang="vi-VN" sz="2200" dirty="0" err="1"/>
              <a:t>và</a:t>
            </a:r>
            <a:r>
              <a:rPr lang="en-US" altLang="vi-VN" sz="2200" dirty="0"/>
              <a:t> </a:t>
            </a:r>
            <a:r>
              <a:rPr lang="en-US" altLang="vi-VN" sz="2200" dirty="0" err="1"/>
              <a:t>bậc</a:t>
            </a:r>
            <a:r>
              <a:rPr lang="en-US" altLang="vi-VN" sz="2200" dirty="0"/>
              <a:t> </a:t>
            </a:r>
            <a:r>
              <a:rPr lang="en-US" altLang="vi-VN" sz="2200" dirty="0" err="1"/>
              <a:t>ra</a:t>
            </a:r>
            <a:r>
              <a:rPr lang="en-US" altLang="vi-VN" sz="2200" dirty="0"/>
              <a:t> </a:t>
            </a:r>
            <a:r>
              <a:rPr lang="en-US" altLang="vi-VN" sz="2200" dirty="0" err="1"/>
              <a:t>của</a:t>
            </a:r>
            <a:r>
              <a:rPr lang="en-US" altLang="vi-VN" sz="2200" dirty="0"/>
              <a:t> </a:t>
            </a:r>
            <a:r>
              <a:rPr lang="en-US" altLang="vi-VN" sz="2200" dirty="0" err="1"/>
              <a:t>đỉnh</a:t>
            </a:r>
            <a:r>
              <a:rPr lang="en-US" altLang="vi-VN" sz="2200" dirty="0"/>
              <a:t> </a:t>
            </a:r>
            <a:r>
              <a:rPr lang="en-US" altLang="vi-VN" sz="2200" dirty="0" err="1"/>
              <a:t>này</a:t>
            </a:r>
            <a:r>
              <a:rPr lang="en-US" altLang="vi-VN" sz="2200" dirty="0"/>
              <a:t>.</a:t>
            </a:r>
          </a:p>
        </p:txBody>
      </p:sp>
      <p:pic>
        <p:nvPicPr>
          <p:cNvPr id="19" name="Ảnh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197" y="3781425"/>
            <a:ext cx="3971925" cy="1619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Đồ thị có hướng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Bậc của đỉnh</a:t>
            </a:r>
          </a:p>
          <a:p>
            <a:pPr lvl="1" eaLnBrk="1" hangingPunct="1"/>
            <a:r>
              <a:rPr lang="en-US" altLang="vi-VN" smtClean="0"/>
              <a:t>Định lý 1.5</a:t>
            </a:r>
          </a:p>
          <a:p>
            <a:pPr lvl="2" eaLnBrk="1" hangingPunct="1"/>
            <a:r>
              <a:rPr lang="en-US" altLang="vi-VN" smtClean="0"/>
              <a:t>Tổng bậc vào của các đỉnh bằng tổng bậc ra và bằng số cạnh của đồ thị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vi-VN" smtClean="0"/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vi-VN" smtClean="0"/>
          </a:p>
          <a:p>
            <a:pPr lvl="1" eaLnBrk="1" hangingPunct="1"/>
            <a:r>
              <a:rPr lang="en-US" altLang="vi-VN" smtClean="0"/>
              <a:t>Đồ thị cân bằng</a:t>
            </a:r>
          </a:p>
        </p:txBody>
      </p:sp>
      <p:graphicFrame>
        <p:nvGraphicFramePr>
          <p:cNvPr id="77828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743200" y="3505200"/>
          <a:ext cx="40386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Equation" r:id="rId3" imgW="1841500" imgH="431800" progId="Equation.3">
                  <p:embed/>
                </p:oleObj>
              </mc:Choice>
              <mc:Fallback>
                <p:oleObj name="Equation" r:id="rId3" imgW="18415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05200"/>
                        <a:ext cx="40386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835275" y="5081588"/>
          <a:ext cx="3794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name="Equation" r:id="rId5" imgW="1612900" imgH="228600" progId="Equation.3">
                  <p:embed/>
                </p:oleObj>
              </mc:Choice>
              <mc:Fallback>
                <p:oleObj name="Equation" r:id="rId5" imgW="16129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5081588"/>
                        <a:ext cx="37941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B97E1D-D427-4509-99A0-83307930F2DE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000" smtClean="0"/>
          </a:p>
        </p:txBody>
      </p:sp>
      <p:sp>
        <p:nvSpPr>
          <p:cNvPr id="41991" name="TextBox 8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Đồ thị có hướng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Bậc của đỉnh</a:t>
            </a:r>
          </a:p>
          <a:p>
            <a:pPr lvl="1" eaLnBrk="1" hangingPunct="1"/>
            <a:r>
              <a:rPr lang="en-US" altLang="vi-VN" smtClean="0"/>
              <a:t>Ví dụ</a:t>
            </a:r>
          </a:p>
          <a:p>
            <a:pPr lvl="2" eaLnBrk="1" hangingPunct="1"/>
            <a:r>
              <a:rPr lang="en-US" altLang="vi-VN" smtClean="0"/>
              <a:t>Có một nhóm gồm 9 đội bóng bàn thi đấu vòng tròn một lượt.</a:t>
            </a:r>
          </a:p>
          <a:p>
            <a:pPr lvl="2" eaLnBrk="1" hangingPunct="1"/>
            <a:r>
              <a:rPr lang="en-US" altLang="vi-VN" smtClean="0"/>
              <a:t>Hỏi sau khi có kết quả thi đấu của tất cả các đội có thể có trường hợp </a:t>
            </a:r>
            <a:r>
              <a:rPr lang="en-US" altLang="vi-VN" i="1" smtClean="0"/>
              <a:t>bất kỳ đội nào trong 09 đội này cũng đều thắng đúng 05 đội khác trong nhóm được không?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vi-VN" i="1" smtClean="0"/>
              <a:t>    </a:t>
            </a:r>
            <a:r>
              <a:rPr lang="en-US" altLang="vi-VN" smtClean="0"/>
              <a:t> (Lưu ý trong thi bóng bàn không có trận hòa)</a:t>
            </a:r>
          </a:p>
        </p:txBody>
      </p:sp>
      <p:sp>
        <p:nvSpPr>
          <p:cNvPr id="430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1D65AC-EF2E-47DF-9B63-99A68D409E5C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000" smtClean="0"/>
          </a:p>
        </p:txBody>
      </p:sp>
      <p:sp>
        <p:nvSpPr>
          <p:cNvPr id="43013" name="TextBox 6"/>
          <p:cNvSpPr txBox="1">
            <a:spLocks noChangeArrowheads="1"/>
          </p:cNvSpPr>
          <p:nvPr/>
        </p:nvSpPr>
        <p:spPr bwMode="auto">
          <a:xfrm>
            <a:off x="457200" y="6199188"/>
            <a:ext cx="3200400" cy="3698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9CC25B-BD83-46D4-A2DE-7C248D1F4672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000" smtClean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Đường đi và chu trình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25479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vi-VN" sz="2200" smtClean="0"/>
              <a:t>Đường đi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vi-VN" sz="2000" smtClean="0"/>
              <a:t>Định nghĩa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vi-VN" sz="1900" smtClean="0"/>
              <a:t>Đường đi có độ dài n từ 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0 </a:t>
            </a:r>
            <a:r>
              <a:rPr lang="en-US" altLang="vi-VN" sz="1900" smtClean="0">
                <a:solidFill>
                  <a:schemeClr val="tx2"/>
                </a:solidFill>
              </a:rPr>
              <a:t> </a:t>
            </a:r>
            <a:r>
              <a:rPr lang="en-US" altLang="vi-VN" sz="1900" smtClean="0"/>
              <a:t>đến 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n </a:t>
            </a:r>
            <a:r>
              <a:rPr lang="en-US" altLang="vi-VN" sz="1900" smtClean="0">
                <a:solidFill>
                  <a:schemeClr val="tx2"/>
                </a:solidFill>
              </a:rPr>
              <a:t> </a:t>
            </a:r>
            <a:r>
              <a:rPr lang="en-US" altLang="vi-VN" sz="1900" smtClean="0"/>
              <a:t>với n là một số nguyên dương là một dãy các cạnh liên tiếp 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0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1</a:t>
            </a:r>
            <a:r>
              <a:rPr lang="en-US" altLang="vi-VN" sz="1900" smtClean="0">
                <a:solidFill>
                  <a:schemeClr val="tx2"/>
                </a:solidFill>
              </a:rPr>
              <a:t>, 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1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2</a:t>
            </a:r>
            <a:r>
              <a:rPr lang="en-US" altLang="vi-VN" sz="1900" smtClean="0">
                <a:solidFill>
                  <a:schemeClr val="tx2"/>
                </a:solidFill>
              </a:rPr>
              <a:t>, …, 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n-1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n</a:t>
            </a:r>
            <a:endParaRPr lang="en-US" altLang="vi-VN" sz="1900" smtClean="0"/>
          </a:p>
          <a:p>
            <a:pPr lvl="2" eaLnBrk="1" hangingPunct="1"/>
            <a:r>
              <a:rPr lang="en-US" altLang="vi-VN" sz="1900" smtClean="0"/>
              <a:t>v</a:t>
            </a:r>
            <a:r>
              <a:rPr lang="en-US" altLang="vi-VN" sz="1900" baseline="-25000" smtClean="0"/>
              <a:t>0</a:t>
            </a:r>
            <a:r>
              <a:rPr lang="en-US" altLang="vi-VN" sz="1900" smtClean="0"/>
              <a:t>: đỉnh đầu; v</a:t>
            </a:r>
            <a:r>
              <a:rPr lang="en-US" altLang="vi-VN" sz="1900" baseline="-25000" smtClean="0"/>
              <a:t>n</a:t>
            </a:r>
            <a:r>
              <a:rPr lang="en-US" altLang="vi-VN" sz="1900" smtClean="0"/>
              <a:t>: đỉnh cuối</a:t>
            </a:r>
          </a:p>
          <a:p>
            <a:pPr lvl="2" eaLnBrk="1" hangingPunct="1">
              <a:lnSpc>
                <a:spcPct val="80000"/>
              </a:lnSpc>
            </a:pPr>
            <a:endParaRPr lang="en-US" altLang="vi-VN" sz="1600" i="1" baseline="-25000" smtClean="0">
              <a:solidFill>
                <a:schemeClr val="tx2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altLang="vi-VN" sz="1900" smtClean="0"/>
              <a:t>Ký hiệu: 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0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1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2</a:t>
            </a:r>
            <a:r>
              <a:rPr lang="en-US" altLang="vi-VN" sz="1900" smtClean="0">
                <a:solidFill>
                  <a:schemeClr val="tx2"/>
                </a:solidFill>
              </a:rPr>
              <a:t> … 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n-1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n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vi-VN" sz="1900" smtClean="0"/>
              <a:t>                   đường đi 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0 </a:t>
            </a:r>
            <a:r>
              <a:rPr lang="en-US" altLang="vi-VN" sz="1900" smtClean="0">
                <a:solidFill>
                  <a:schemeClr val="tx2"/>
                </a:solidFill>
              </a:rPr>
              <a:t> </a:t>
            </a:r>
            <a:r>
              <a:rPr lang="en-US" altLang="vi-VN" sz="1900" smtClean="0"/>
              <a:t>- </a:t>
            </a:r>
            <a:r>
              <a:rPr lang="en-US" altLang="vi-VN" sz="1900" smtClean="0">
                <a:solidFill>
                  <a:schemeClr val="tx2"/>
                </a:solidFill>
              </a:rPr>
              <a:t>v</a:t>
            </a:r>
            <a:r>
              <a:rPr lang="en-US" altLang="vi-VN" sz="1900" baseline="-25000" smtClean="0">
                <a:solidFill>
                  <a:schemeClr val="tx2"/>
                </a:solidFill>
              </a:rPr>
              <a:t>n </a:t>
            </a:r>
            <a:endParaRPr lang="en-US" altLang="vi-VN" sz="1900" smtClean="0"/>
          </a:p>
        </p:txBody>
      </p:sp>
      <p:pic>
        <p:nvPicPr>
          <p:cNvPr id="66565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5388" y="4146550"/>
            <a:ext cx="6751637" cy="1838325"/>
          </a:xfrm>
        </p:spPr>
      </p:pic>
      <p:sp>
        <p:nvSpPr>
          <p:cNvPr id="44038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C84587-D2AD-4DB0-8C54-217EFEAC3312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000" smtClean="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vi-VN" smtClean="0"/>
              <a:t>Đường đi và chu trình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Đường đi</a:t>
            </a:r>
          </a:p>
          <a:p>
            <a:pPr lvl="1" eaLnBrk="1" hangingPunct="1"/>
            <a:r>
              <a:rPr lang="en-US" altLang="vi-VN" smtClean="0"/>
              <a:t>Định nghĩa</a:t>
            </a:r>
          </a:p>
          <a:p>
            <a:pPr lvl="2" eaLnBrk="1" hangingPunct="1"/>
            <a:r>
              <a:rPr lang="en-US" altLang="vi-VN" smtClean="0"/>
              <a:t>Đường đi đơn giản (đường đi đơn)</a:t>
            </a:r>
          </a:p>
          <a:p>
            <a:pPr lvl="3" eaLnBrk="1" hangingPunct="1"/>
            <a:r>
              <a:rPr lang="en-US" altLang="vi-VN" smtClean="0"/>
              <a:t>Đường đi không qua cạnh nào quá một lần</a:t>
            </a:r>
          </a:p>
          <a:p>
            <a:pPr lvl="2" eaLnBrk="1" hangingPunct="1"/>
            <a:r>
              <a:rPr lang="en-US" altLang="vi-VN" smtClean="0"/>
              <a:t>Đường đi sơ cấp</a:t>
            </a:r>
          </a:p>
          <a:p>
            <a:pPr lvl="3" eaLnBrk="1" hangingPunct="1"/>
            <a:r>
              <a:rPr lang="en-US" altLang="vi-VN" smtClean="0"/>
              <a:t>Đường đi không qua đỉnh nào quá một lần</a:t>
            </a:r>
          </a:p>
          <a:p>
            <a:pPr lvl="2" eaLnBrk="1" hangingPunct="1"/>
            <a:r>
              <a:rPr lang="en-US" altLang="vi-VN" smtClean="0"/>
              <a:t>Đường đi sơ cấp </a:t>
            </a:r>
            <a:r>
              <a:rPr lang="en-US" altLang="vi-VN" smtClean="0">
                <a:sym typeface="Symbol" panose="05050102010706020507" pitchFamily="18" charset="2"/>
              </a:rPr>
              <a:t> </a:t>
            </a:r>
            <a:r>
              <a:rPr lang="en-US" altLang="vi-VN" smtClean="0"/>
              <a:t>Đường đi đơn giản</a:t>
            </a:r>
          </a:p>
        </p:txBody>
      </p:sp>
      <p:pic>
        <p:nvPicPr>
          <p:cNvPr id="92167" name="Picture 7" descr="hinh1_1_3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786313"/>
            <a:ext cx="528637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70DB5B-5968-4D93-88E4-7DB4A1A09EB6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000" smtClean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Đường đi và chu trình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mtClean="0"/>
              <a:t>Chu trình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mtClean="0"/>
              <a:t>Định nghĩa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mtClean="0"/>
              <a:t>Chu trình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mtClean="0"/>
              <a:t>đường đi khép kín (</a:t>
            </a:r>
            <a:r>
              <a:rPr lang="en-US" altLang="vi-VN" i="1" smtClean="0">
                <a:solidFill>
                  <a:schemeClr val="tx2"/>
                </a:solidFill>
              </a:rPr>
              <a:t>v</a:t>
            </a:r>
            <a:r>
              <a:rPr lang="en-US" altLang="vi-VN" i="1" baseline="-25000" smtClean="0">
                <a:solidFill>
                  <a:schemeClr val="tx2"/>
                </a:solidFill>
              </a:rPr>
              <a:t>0</a:t>
            </a:r>
            <a:r>
              <a:rPr lang="en-US" altLang="vi-VN" i="1" smtClean="0">
                <a:solidFill>
                  <a:schemeClr val="tx2"/>
                </a:solidFill>
              </a:rPr>
              <a:t>v</a:t>
            </a:r>
            <a:r>
              <a:rPr lang="en-US" altLang="vi-VN" i="1" baseline="-25000" smtClean="0">
                <a:solidFill>
                  <a:schemeClr val="tx2"/>
                </a:solidFill>
              </a:rPr>
              <a:t>1</a:t>
            </a:r>
            <a:r>
              <a:rPr lang="en-US" altLang="vi-VN" i="1" smtClean="0">
                <a:solidFill>
                  <a:schemeClr val="tx2"/>
                </a:solidFill>
              </a:rPr>
              <a:t>v</a:t>
            </a:r>
            <a:r>
              <a:rPr lang="en-US" altLang="vi-VN" i="1" baseline="-25000" smtClean="0">
                <a:solidFill>
                  <a:schemeClr val="tx2"/>
                </a:solidFill>
              </a:rPr>
              <a:t>2</a:t>
            </a:r>
            <a:r>
              <a:rPr lang="en-US" altLang="vi-VN" i="1" smtClean="0">
                <a:solidFill>
                  <a:schemeClr val="tx2"/>
                </a:solidFill>
              </a:rPr>
              <a:t> … v</a:t>
            </a:r>
            <a:r>
              <a:rPr lang="en-US" altLang="vi-VN" i="1" baseline="-25000" smtClean="0">
                <a:solidFill>
                  <a:schemeClr val="tx2"/>
                </a:solidFill>
              </a:rPr>
              <a:t>n-1</a:t>
            </a:r>
            <a:r>
              <a:rPr lang="en-US" altLang="vi-VN" i="1" smtClean="0">
                <a:solidFill>
                  <a:schemeClr val="tx2"/>
                </a:solidFill>
              </a:rPr>
              <a:t>v</a:t>
            </a:r>
            <a:r>
              <a:rPr lang="en-US" altLang="vi-VN" i="1" baseline="-25000" smtClean="0">
                <a:solidFill>
                  <a:schemeClr val="tx2"/>
                </a:solidFill>
              </a:rPr>
              <a:t>n</a:t>
            </a:r>
            <a:r>
              <a:rPr lang="en-US" altLang="vi-VN" i="1" smtClean="0">
                <a:solidFill>
                  <a:schemeClr val="tx2"/>
                </a:solidFill>
              </a:rPr>
              <a:t>v</a:t>
            </a:r>
            <a:r>
              <a:rPr lang="en-US" altLang="vi-VN" i="1" baseline="-25000" smtClean="0">
                <a:solidFill>
                  <a:schemeClr val="tx2"/>
                </a:solidFill>
              </a:rPr>
              <a:t>0</a:t>
            </a:r>
            <a:r>
              <a:rPr lang="en-US" altLang="vi-VN" smtClean="0"/>
              <a:t>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mtClean="0"/>
              <a:t>độ dài ít nhất là 3</a:t>
            </a:r>
          </a:p>
          <a:p>
            <a:pPr lvl="2" eaLnBrk="1" hangingPunct="1">
              <a:lnSpc>
                <a:spcPct val="90000"/>
              </a:lnSpc>
            </a:pPr>
            <a:endParaRPr lang="en-US" altLang="vi-VN" smtClean="0"/>
          </a:p>
          <a:p>
            <a:pPr lvl="2" eaLnBrk="1" hangingPunct="1">
              <a:lnSpc>
                <a:spcPct val="90000"/>
              </a:lnSpc>
            </a:pPr>
            <a:endParaRPr lang="en-US" altLang="vi-VN" smtClean="0"/>
          </a:p>
          <a:p>
            <a:pPr lvl="2" eaLnBrk="1" hangingPunct="1">
              <a:lnSpc>
                <a:spcPct val="90000"/>
              </a:lnSpc>
            </a:pPr>
            <a:r>
              <a:rPr lang="en-US" altLang="vi-VN" smtClean="0"/>
              <a:t>Chu trình đơn giản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mtClean="0"/>
              <a:t>Chu trình không đi qua cạnh nào quá 1 lần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mtClean="0"/>
              <a:t>Chu trình sơ cấp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mtClean="0"/>
              <a:t>Chu trình không đi qua đỉnh nào quá 1 lần (trừ đỉnh đầu,     đỉnh cuối)</a:t>
            </a:r>
          </a:p>
        </p:txBody>
      </p:sp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488" y="3394075"/>
            <a:ext cx="322897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8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1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7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0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3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95D7A4-B9F5-4F07-9F98-61E95760F058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000" smtClean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Đường đi và chu trình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Chu trình</a:t>
            </a:r>
          </a:p>
          <a:p>
            <a:pPr lvl="1" eaLnBrk="1" hangingPunct="1"/>
            <a:r>
              <a:rPr lang="en-US" altLang="vi-VN" sz="2200" smtClean="0"/>
              <a:t>Định lý 1.6</a:t>
            </a:r>
          </a:p>
          <a:p>
            <a:pPr lvl="2" eaLnBrk="1" hangingPunct="1"/>
            <a:r>
              <a:rPr lang="en-US" altLang="vi-VN" sz="2100" smtClean="0"/>
              <a:t>G = (V, E) là một đồ thị vô hướng</a:t>
            </a:r>
          </a:p>
          <a:p>
            <a:pPr lvl="3" eaLnBrk="1" hangingPunct="1"/>
            <a:r>
              <a:rPr lang="en-US" altLang="vi-VN" sz="1800" smtClean="0"/>
              <a:t>Số đỉnh lớn hơn hoặc bằng 3</a:t>
            </a:r>
          </a:p>
          <a:p>
            <a:pPr lvl="3" eaLnBrk="1" hangingPunct="1"/>
            <a:r>
              <a:rPr lang="en-US" altLang="vi-VN" sz="1800" smtClean="0"/>
              <a:t>Bậc của mọi đỉnh đều lớn hơn hoặc bằng 2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vi-VN" sz="2100" smtClean="0"/>
              <a:t>thì trong G luôn tồn tại một chu trình sơ cấp</a:t>
            </a:r>
          </a:p>
          <a:p>
            <a:pPr lvl="1" eaLnBrk="1" hangingPunct="1"/>
            <a:r>
              <a:rPr lang="en-US" altLang="vi-VN" sz="2200" smtClean="0"/>
              <a:t>Định lý 1.7</a:t>
            </a:r>
          </a:p>
          <a:p>
            <a:pPr lvl="2" eaLnBrk="1" hangingPunct="1"/>
            <a:r>
              <a:rPr lang="en-US" altLang="vi-VN" sz="2100" smtClean="0"/>
              <a:t>G = (V, E) là một đồ thị vô hướng</a:t>
            </a:r>
          </a:p>
          <a:p>
            <a:pPr lvl="3" eaLnBrk="1" hangingPunct="1"/>
            <a:r>
              <a:rPr lang="en-US" altLang="vi-VN" sz="1800" smtClean="0"/>
              <a:t>Số đỉnh lớn hơn hoặc bằng 4</a:t>
            </a:r>
          </a:p>
          <a:p>
            <a:pPr lvl="3" eaLnBrk="1" hangingPunct="1"/>
            <a:r>
              <a:rPr lang="en-US" altLang="vi-VN" sz="1800" smtClean="0"/>
              <a:t>Bậc của mọi đỉnh đều lớn hơn hoặc bằng 3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vi-VN" sz="2100" smtClean="0"/>
              <a:t>thì trong G luôn tồn tại một chu trình sơ cấp có độ dài chẵn</a:t>
            </a:r>
          </a:p>
        </p:txBody>
      </p:sp>
      <p:sp>
        <p:nvSpPr>
          <p:cNvPr id="47109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2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8E9BB4-14FB-42B5-A077-62C2CAA69195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00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Tính liên thông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4343400" cy="39195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z="2200" smtClean="0"/>
              <a:t>Tính liên thông trong đồ thị vô hướng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000" smtClean="0"/>
              <a:t>Định nghĩa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1900" smtClean="0"/>
              <a:t>Hai đỉnh v, u trong đồ thị G được gọi là liên thông nếu tồn tại một đường đi nối chúng với nhau.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900" smtClean="0"/>
          </a:p>
          <a:p>
            <a:pPr lvl="2" eaLnBrk="1" hangingPunct="1">
              <a:lnSpc>
                <a:spcPct val="90000"/>
              </a:lnSpc>
            </a:pPr>
            <a:r>
              <a:rPr lang="en-US" altLang="vi-VN" sz="1900" smtClean="0"/>
              <a:t>Đồ thị G gọi là liên thông nếu hai đỉnh phân biệt bất kỳ trong đồ thị đều liên thông. Ngược lại thì ta gọi là đồ thị không liên thông.</a:t>
            </a:r>
          </a:p>
        </p:txBody>
      </p:sp>
      <p:pic>
        <p:nvPicPr>
          <p:cNvPr id="69640" name="Picture 8" descr="hinh1_1_3_0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05400" y="2819400"/>
            <a:ext cx="3581400" cy="2057400"/>
          </a:xfrm>
          <a:noFill/>
        </p:spPr>
      </p:pic>
      <p:sp>
        <p:nvSpPr>
          <p:cNvPr id="48134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ADB410-5018-4626-AC53-0AF1CC315F0F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000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Tính liên thông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077200" cy="23955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z="2200" dirty="0" err="1" smtClean="0"/>
              <a:t>Tính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liên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thông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trong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đồ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thị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vô</a:t>
            </a:r>
            <a:r>
              <a:rPr lang="en-US" altLang="vi-VN" sz="2200" dirty="0" smtClean="0"/>
              <a:t> </a:t>
            </a:r>
            <a:r>
              <a:rPr lang="en-US" altLang="vi-VN" sz="2200" dirty="0" err="1" smtClean="0"/>
              <a:t>hướng</a:t>
            </a:r>
            <a:endParaRPr lang="en-US" altLang="vi-VN" sz="2200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vi-VN" sz="2000" dirty="0" err="1" smtClean="0"/>
              <a:t>Định</a:t>
            </a:r>
            <a:r>
              <a:rPr lang="en-US" altLang="vi-VN" sz="2000" dirty="0" smtClean="0"/>
              <a:t> </a:t>
            </a:r>
            <a:r>
              <a:rPr lang="en-US" altLang="vi-VN" sz="2000" dirty="0" err="1" smtClean="0"/>
              <a:t>nghĩa</a:t>
            </a:r>
            <a:endParaRPr lang="en-US" altLang="vi-VN" sz="2000" dirty="0" smtClean="0"/>
          </a:p>
          <a:p>
            <a:pPr lvl="2" eaLnBrk="1" hangingPunct="1">
              <a:lnSpc>
                <a:spcPct val="90000"/>
              </a:lnSpc>
            </a:pPr>
            <a:r>
              <a:rPr lang="en-US" altLang="vi-VN" sz="1900" dirty="0" smtClean="0"/>
              <a:t>Cho G = (V,E), v</a:t>
            </a:r>
            <a:r>
              <a:rPr lang="en-US" altLang="vi-VN" sz="1900" dirty="0" smtClean="0">
                <a:sym typeface="Symbol" panose="05050102010706020507" pitchFamily="18" charset="2"/>
              </a:rPr>
              <a:t>  V .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z="1800" dirty="0" smtClean="0"/>
              <a:t>V’ </a:t>
            </a:r>
            <a:r>
              <a:rPr lang="en-US" altLang="vi-VN" sz="1800" dirty="0" err="1" smtClean="0"/>
              <a:t>là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tập</a:t>
            </a:r>
            <a:r>
              <a:rPr lang="en-US" altLang="vi-VN" sz="1800" dirty="0" smtClean="0"/>
              <a:t> con </a:t>
            </a:r>
            <a:r>
              <a:rPr lang="en-US" altLang="vi-VN" sz="1800" dirty="0" err="1" smtClean="0"/>
              <a:t>của</a:t>
            </a:r>
            <a:r>
              <a:rPr lang="en-US" altLang="vi-VN" sz="1800" dirty="0" smtClean="0"/>
              <a:t> V </a:t>
            </a:r>
            <a:r>
              <a:rPr lang="en-US" altLang="vi-VN" sz="1800" dirty="0" err="1" smtClean="0"/>
              <a:t>gồm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đỉnh</a:t>
            </a:r>
            <a:r>
              <a:rPr lang="en-US" altLang="vi-VN" sz="1800" dirty="0" smtClean="0"/>
              <a:t> v </a:t>
            </a:r>
            <a:r>
              <a:rPr lang="en-US" altLang="vi-VN" sz="1800" dirty="0" err="1" smtClean="0"/>
              <a:t>và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tất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cả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các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đỉnh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liên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thông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với</a:t>
            </a:r>
            <a:r>
              <a:rPr lang="en-US" altLang="vi-VN" sz="1800" dirty="0" smtClean="0"/>
              <a:t> v </a:t>
            </a:r>
            <a:r>
              <a:rPr lang="en-US" altLang="vi-VN" sz="1800" dirty="0" err="1" smtClean="0"/>
              <a:t>trong</a:t>
            </a:r>
            <a:r>
              <a:rPr lang="en-US" altLang="vi-VN" sz="1800" dirty="0" smtClean="0"/>
              <a:t> G. 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z="1800" dirty="0" smtClean="0"/>
              <a:t>E’ </a:t>
            </a:r>
            <a:r>
              <a:rPr lang="en-US" altLang="vi-VN" sz="1800" dirty="0" err="1" smtClean="0"/>
              <a:t>là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tập</a:t>
            </a:r>
            <a:r>
              <a:rPr lang="en-US" altLang="vi-VN" sz="1800" dirty="0" smtClean="0"/>
              <a:t> con </a:t>
            </a:r>
            <a:r>
              <a:rPr lang="en-US" altLang="vi-VN" sz="1800" dirty="0" err="1" smtClean="0"/>
              <a:t>của</a:t>
            </a:r>
            <a:r>
              <a:rPr lang="en-US" altLang="vi-VN" sz="1800" dirty="0" smtClean="0"/>
              <a:t> E </a:t>
            </a:r>
            <a:r>
              <a:rPr lang="en-US" altLang="vi-VN" sz="1800" dirty="0" err="1" smtClean="0"/>
              <a:t>gồm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tất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cả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các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cạnh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nối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các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đỉnh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thuộc</a:t>
            </a:r>
            <a:r>
              <a:rPr lang="en-US" altLang="vi-VN" sz="1800" dirty="0" smtClean="0"/>
              <a:t> V’.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vi-VN" sz="1800" dirty="0" err="1" smtClean="0"/>
              <a:t>Khi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đó</a:t>
            </a:r>
            <a:r>
              <a:rPr lang="en-US" altLang="vi-VN" sz="1800" dirty="0" smtClean="0"/>
              <a:t> G’ = (V’, E’) </a:t>
            </a:r>
            <a:r>
              <a:rPr lang="en-US" altLang="vi-VN" sz="1800" dirty="0" err="1" smtClean="0"/>
              <a:t>gọi</a:t>
            </a:r>
            <a:r>
              <a:rPr lang="en-US" altLang="vi-VN" sz="1800" dirty="0" smtClean="0"/>
              <a:t> </a:t>
            </a:r>
            <a:r>
              <a:rPr lang="en-US" altLang="vi-VN" sz="1800" dirty="0" err="1" smtClean="0"/>
              <a:t>là</a:t>
            </a:r>
            <a:r>
              <a:rPr lang="en-US" altLang="vi-VN" sz="1800" dirty="0" smtClean="0"/>
              <a:t> </a:t>
            </a:r>
            <a:r>
              <a:rPr lang="en-US" altLang="vi-VN" sz="1800" b="1" dirty="0" err="1" smtClean="0"/>
              <a:t>thành</a:t>
            </a:r>
            <a:r>
              <a:rPr lang="en-US" altLang="vi-VN" sz="1800" b="1" dirty="0" smtClean="0"/>
              <a:t> </a:t>
            </a:r>
            <a:r>
              <a:rPr lang="en-US" altLang="vi-VN" sz="1800" b="1" dirty="0" err="1" smtClean="0"/>
              <a:t>phần</a:t>
            </a:r>
            <a:r>
              <a:rPr lang="en-US" altLang="vi-VN" sz="1800" b="1" dirty="0" smtClean="0"/>
              <a:t> </a:t>
            </a:r>
            <a:r>
              <a:rPr lang="en-US" altLang="vi-VN" sz="1800" b="1" dirty="0" err="1" smtClean="0"/>
              <a:t>liên</a:t>
            </a:r>
            <a:r>
              <a:rPr lang="en-US" altLang="vi-VN" sz="1800" b="1" dirty="0" smtClean="0"/>
              <a:t> </a:t>
            </a:r>
            <a:r>
              <a:rPr lang="en-US" altLang="vi-VN" sz="1800" b="1" dirty="0" err="1" smtClean="0"/>
              <a:t>thông</a:t>
            </a:r>
            <a:r>
              <a:rPr lang="en-US" altLang="vi-VN" sz="1800" b="1" dirty="0" smtClean="0"/>
              <a:t> </a:t>
            </a:r>
            <a:r>
              <a:rPr lang="en-US" altLang="vi-VN" sz="1800" b="1" dirty="0" err="1" smtClean="0"/>
              <a:t>của</a:t>
            </a:r>
            <a:r>
              <a:rPr lang="en-US" altLang="vi-VN" sz="1800" b="1" dirty="0" smtClean="0"/>
              <a:t> G </a:t>
            </a:r>
            <a:r>
              <a:rPr lang="en-US" altLang="vi-VN" sz="1800" dirty="0" err="1" smtClean="0"/>
              <a:t>chứa</a:t>
            </a:r>
            <a:r>
              <a:rPr lang="en-US" altLang="vi-VN" sz="1800" dirty="0" smtClean="0"/>
              <a:t> v.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1800" dirty="0" smtClean="0"/>
          </a:p>
        </p:txBody>
      </p:sp>
      <p:sp>
        <p:nvSpPr>
          <p:cNvPr id="49157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3962400"/>
            <a:ext cx="78486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vi-VN" sz="1900" b="1" dirty="0" err="1"/>
              <a:t>Chú</a:t>
            </a:r>
            <a:r>
              <a:rPr lang="en-US" altLang="vi-VN" sz="1900" b="1" dirty="0"/>
              <a:t> ý</a:t>
            </a:r>
            <a:r>
              <a:rPr lang="en-US" altLang="vi-VN" sz="1900" dirty="0"/>
              <a:t>: </a:t>
            </a:r>
            <a:r>
              <a:rPr lang="en-US" altLang="vi-VN" sz="1900" dirty="0" err="1"/>
              <a:t>Nếu</a:t>
            </a:r>
            <a:r>
              <a:rPr lang="en-US" altLang="vi-VN" sz="1900" dirty="0"/>
              <a:t> v </a:t>
            </a:r>
            <a:r>
              <a:rPr lang="en-US" altLang="vi-VN" sz="1900" dirty="0" err="1"/>
              <a:t>và</a:t>
            </a:r>
            <a:r>
              <a:rPr lang="en-US" altLang="vi-VN" sz="1900" dirty="0"/>
              <a:t> u </a:t>
            </a:r>
            <a:r>
              <a:rPr lang="en-US" altLang="vi-VN" sz="1900" dirty="0" err="1"/>
              <a:t>liên</a:t>
            </a:r>
            <a:r>
              <a:rPr lang="en-US" altLang="vi-VN" sz="1900" dirty="0"/>
              <a:t> </a:t>
            </a:r>
            <a:r>
              <a:rPr lang="en-US" altLang="vi-VN" sz="1900" dirty="0" err="1"/>
              <a:t>thông</a:t>
            </a:r>
            <a:r>
              <a:rPr lang="en-US" altLang="vi-VN" sz="1900" dirty="0"/>
              <a:t> </a:t>
            </a:r>
            <a:r>
              <a:rPr lang="en-US" altLang="vi-VN" sz="1900" dirty="0" err="1"/>
              <a:t>trong</a:t>
            </a:r>
            <a:r>
              <a:rPr lang="en-US" altLang="vi-VN" sz="1900" dirty="0"/>
              <a:t> G </a:t>
            </a:r>
            <a:r>
              <a:rPr lang="en-US" altLang="vi-VN" sz="1900" dirty="0" err="1"/>
              <a:t>thì</a:t>
            </a:r>
            <a:r>
              <a:rPr lang="en-US" altLang="vi-VN" sz="1900" dirty="0"/>
              <a:t> </a:t>
            </a:r>
            <a:r>
              <a:rPr lang="en-US" altLang="vi-VN" sz="1900" dirty="0" err="1"/>
              <a:t>thành</a:t>
            </a:r>
            <a:r>
              <a:rPr lang="en-US" altLang="vi-VN" sz="1900" dirty="0"/>
              <a:t> </a:t>
            </a:r>
            <a:r>
              <a:rPr lang="en-US" altLang="vi-VN" sz="1900" dirty="0" err="1"/>
              <a:t>phần</a:t>
            </a:r>
            <a:r>
              <a:rPr lang="en-US" altLang="vi-VN" sz="1900" dirty="0"/>
              <a:t> </a:t>
            </a:r>
            <a:r>
              <a:rPr lang="en-US" altLang="vi-VN" sz="1900" dirty="0" err="1"/>
              <a:t>liên</a:t>
            </a:r>
            <a:r>
              <a:rPr lang="en-US" altLang="vi-VN" sz="1900" dirty="0"/>
              <a:t> </a:t>
            </a:r>
            <a:r>
              <a:rPr lang="en-US" altLang="vi-VN" sz="1900" dirty="0" err="1"/>
              <a:t>thông</a:t>
            </a:r>
            <a:r>
              <a:rPr lang="en-US" altLang="vi-VN" sz="1900" dirty="0"/>
              <a:t>    	     </a:t>
            </a:r>
            <a:r>
              <a:rPr lang="en-US" altLang="vi-VN" sz="1900" dirty="0" err="1"/>
              <a:t>của</a:t>
            </a:r>
            <a:r>
              <a:rPr lang="en-US" altLang="vi-VN" sz="1900" dirty="0"/>
              <a:t> G </a:t>
            </a:r>
            <a:r>
              <a:rPr lang="en-US" altLang="vi-VN" sz="1900" dirty="0" err="1"/>
              <a:t>chứa</a:t>
            </a:r>
            <a:r>
              <a:rPr lang="en-US" altLang="vi-VN" sz="1900" dirty="0"/>
              <a:t> v </a:t>
            </a:r>
            <a:r>
              <a:rPr lang="en-US" altLang="vi-VN" sz="1900" dirty="0" err="1"/>
              <a:t>cũng</a:t>
            </a:r>
            <a:r>
              <a:rPr lang="en-US" altLang="vi-VN" sz="1900" dirty="0"/>
              <a:t> </a:t>
            </a:r>
            <a:r>
              <a:rPr lang="en-US" altLang="vi-VN" sz="1900" dirty="0" err="1"/>
              <a:t>là</a:t>
            </a:r>
            <a:r>
              <a:rPr lang="en-US" altLang="vi-VN" sz="1900" dirty="0"/>
              <a:t> </a:t>
            </a:r>
            <a:r>
              <a:rPr lang="en-US" altLang="vi-VN" sz="1900" dirty="0" err="1"/>
              <a:t>thành</a:t>
            </a:r>
            <a:r>
              <a:rPr lang="en-US" altLang="vi-VN" sz="1900" dirty="0"/>
              <a:t> </a:t>
            </a:r>
            <a:r>
              <a:rPr lang="en-US" altLang="vi-VN" sz="1900" dirty="0" err="1"/>
              <a:t>phần</a:t>
            </a:r>
            <a:r>
              <a:rPr lang="en-US" altLang="vi-VN" sz="1900" dirty="0"/>
              <a:t> </a:t>
            </a:r>
            <a:r>
              <a:rPr lang="en-US" altLang="vi-VN" sz="1900" dirty="0" err="1"/>
              <a:t>liên</a:t>
            </a:r>
            <a:r>
              <a:rPr lang="en-US" altLang="vi-VN" sz="1900" dirty="0"/>
              <a:t> </a:t>
            </a:r>
            <a:r>
              <a:rPr lang="en-US" altLang="vi-VN" sz="1900" dirty="0" err="1"/>
              <a:t>thông</a:t>
            </a:r>
            <a:r>
              <a:rPr lang="en-US" altLang="vi-VN" sz="1900" dirty="0"/>
              <a:t> </a:t>
            </a:r>
            <a:r>
              <a:rPr lang="en-US" altLang="vi-VN" sz="1900" dirty="0" err="1"/>
              <a:t>của</a:t>
            </a:r>
            <a:r>
              <a:rPr lang="en-US" altLang="vi-VN" sz="1900" dirty="0"/>
              <a:t> G </a:t>
            </a:r>
            <a:r>
              <a:rPr lang="en-US" altLang="vi-VN" sz="1900" dirty="0" err="1"/>
              <a:t>chứa</a:t>
            </a:r>
            <a:r>
              <a:rPr lang="en-US" altLang="vi-VN" sz="1900" dirty="0"/>
              <a:t> u.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38200" y="4724400"/>
            <a:ext cx="2424113" cy="1295400"/>
            <a:chOff x="1676400" y="4724400"/>
            <a:chExt cx="2423749" cy="1295321"/>
          </a:xfrm>
        </p:grpSpPr>
        <p:grpSp>
          <p:nvGrpSpPr>
            <p:cNvPr id="49165" name="Group 13"/>
            <p:cNvGrpSpPr>
              <a:grpSpLocks/>
            </p:cNvGrpSpPr>
            <p:nvPr/>
          </p:nvGrpSpPr>
          <p:grpSpPr bwMode="auto">
            <a:xfrm>
              <a:off x="1676400" y="4724400"/>
              <a:ext cx="2423749" cy="1295321"/>
              <a:chOff x="1676400" y="4724400"/>
              <a:chExt cx="2423749" cy="1295321"/>
            </a:xfrm>
          </p:grpSpPr>
          <p:pic>
            <p:nvPicPr>
              <p:cNvPr id="49167" name="Picture 6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>
                <a:off x="3109415" y="4771946"/>
                <a:ext cx="990734" cy="1247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8" name="Picture 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76400" y="4724400"/>
                <a:ext cx="1228725" cy="11525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69" name="Picture 10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14323" y="4872520"/>
                <a:ext cx="123825" cy="133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9170" name="Picture 1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26383" y="5800146"/>
                <a:ext cx="123825" cy="133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9166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6153" y="4858665"/>
              <a:ext cx="123825" cy="133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4724623"/>
            <a:ext cx="12763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5638800" y="4795838"/>
            <a:ext cx="2593975" cy="1100137"/>
            <a:chOff x="5638800" y="4795838"/>
            <a:chExt cx="2594190" cy="1100137"/>
          </a:xfrm>
        </p:grpSpPr>
        <p:pic>
          <p:nvPicPr>
            <p:cNvPr id="21" name="Picture 1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8800" y="4800600"/>
              <a:ext cx="1171575" cy="1095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3844487">
              <a:off x="6825348" y="5257800"/>
              <a:ext cx="1085850" cy="16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9165" y="5357472"/>
              <a:ext cx="123825" cy="133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  <p:bldP spid="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C22B0D-963C-49A6-9289-D2F7ACC1C1F7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000" smtClean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Tính liên thông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7924800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z="2800" smtClean="0"/>
              <a:t>Tính liên thông trong đồ thị vô hướng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z="2800" smtClean="0"/>
              <a:t>Định lý 1.8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400" smtClean="0"/>
              <a:t>Đồ thị G=(V, E) là liên thông khi và chỉ khi G có duy nhất một thành phần liên thông.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vi-VN" sz="2400" smtClean="0"/>
              <a:t>    </a:t>
            </a:r>
            <a:r>
              <a:rPr lang="en-US" altLang="vi-VN" sz="2000" i="1" smtClean="0"/>
              <a:t>(Sv tự chứng minh)</a:t>
            </a:r>
          </a:p>
        </p:txBody>
      </p:sp>
      <p:sp>
        <p:nvSpPr>
          <p:cNvPr id="50181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4B5B43-B145-4F94-91D4-172D8D4ACFE7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000" smtClean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Tính liên thông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eaLnBrk="1" hangingPunct="1"/>
            <a:r>
              <a:rPr lang="en-US" altLang="vi-VN" dirty="0" err="1" smtClean="0"/>
              <a:t>Tính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liên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thông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trong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đồ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thị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vô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hướng</a:t>
            </a:r>
            <a:endParaRPr lang="en-US" altLang="vi-VN" dirty="0" smtClean="0"/>
          </a:p>
          <a:p>
            <a:pPr lvl="1" eaLnBrk="1" hangingPunct="1"/>
            <a:r>
              <a:rPr lang="en-US" altLang="vi-VN" dirty="0" err="1" smtClean="0"/>
              <a:t>Đỉnh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cắt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và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cầu</a:t>
            </a:r>
            <a:endParaRPr lang="en-US" altLang="vi-VN" dirty="0" smtClean="0"/>
          </a:p>
          <a:p>
            <a:pPr lvl="2" eaLnBrk="1" hangingPunct="1"/>
            <a:r>
              <a:rPr lang="en-US" altLang="vi-VN" sz="2500" i="1" dirty="0" smtClean="0"/>
              <a:t>u</a:t>
            </a:r>
            <a:r>
              <a:rPr lang="en-US" altLang="vi-VN" sz="2500" dirty="0" smtClean="0"/>
              <a:t> </a:t>
            </a:r>
            <a:r>
              <a:rPr lang="en-US" altLang="vi-VN" sz="2500" dirty="0" err="1" smtClean="0"/>
              <a:t>là</a:t>
            </a:r>
            <a:r>
              <a:rPr lang="en-US" altLang="vi-VN" sz="2500" dirty="0" smtClean="0"/>
              <a:t> </a:t>
            </a:r>
            <a:r>
              <a:rPr lang="en-US" altLang="vi-VN" sz="2500" i="1" dirty="0" err="1" smtClean="0"/>
              <a:t>đỉnh</a:t>
            </a:r>
            <a:r>
              <a:rPr lang="en-US" altLang="vi-VN" sz="2500" i="1" dirty="0" smtClean="0"/>
              <a:t> </a:t>
            </a:r>
            <a:r>
              <a:rPr lang="en-US" altLang="vi-VN" sz="2500" i="1" dirty="0" err="1" smtClean="0"/>
              <a:t>cắt</a:t>
            </a:r>
            <a:r>
              <a:rPr lang="en-US" altLang="vi-VN" sz="2500" dirty="0" smtClean="0"/>
              <a:t> (</a:t>
            </a:r>
            <a:r>
              <a:rPr lang="en-US" altLang="vi-VN" sz="2500" dirty="0" err="1" smtClean="0"/>
              <a:t>điểm</a:t>
            </a:r>
            <a:r>
              <a:rPr lang="en-US" altLang="vi-VN" sz="2500" dirty="0" smtClean="0"/>
              <a:t> </a:t>
            </a:r>
            <a:r>
              <a:rPr lang="en-US" altLang="vi-VN" sz="2500" dirty="0" err="1" smtClean="0"/>
              <a:t>khớp</a:t>
            </a:r>
            <a:r>
              <a:rPr lang="en-US" altLang="vi-VN" sz="2500" dirty="0" smtClean="0"/>
              <a:t>) </a:t>
            </a:r>
            <a:r>
              <a:rPr lang="en-US" altLang="vi-VN" sz="2500" dirty="0" smtClean="0">
                <a:sym typeface="Symbol" panose="05050102010706020507" pitchFamily="18" charset="2"/>
              </a:rPr>
              <a:t>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số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thành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phần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liên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thông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tăng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lên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nếu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bỏ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i="1" dirty="0" smtClean="0">
                <a:sym typeface="Symbol" panose="05050102010706020507" pitchFamily="18" charset="2"/>
              </a:rPr>
              <a:t>u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và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các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cạnh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liên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thuộc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với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nó</a:t>
            </a:r>
            <a:r>
              <a:rPr lang="en-US" altLang="vi-VN" sz="2500" dirty="0" smtClean="0">
                <a:sym typeface="Symbol" panose="05050102010706020507" pitchFamily="18" charset="2"/>
              </a:rPr>
              <a:t>.</a:t>
            </a:r>
          </a:p>
          <a:p>
            <a:pPr lvl="2" eaLnBrk="1" hangingPunct="1"/>
            <a:r>
              <a:rPr lang="en-US" altLang="vi-VN" sz="2500" i="1" dirty="0" smtClean="0"/>
              <a:t>e</a:t>
            </a:r>
            <a:r>
              <a:rPr lang="en-US" altLang="vi-VN" sz="2500" dirty="0" smtClean="0"/>
              <a:t> </a:t>
            </a:r>
            <a:r>
              <a:rPr lang="en-US" altLang="vi-VN" sz="2500" dirty="0" err="1" smtClean="0"/>
              <a:t>là</a:t>
            </a:r>
            <a:r>
              <a:rPr lang="en-US" altLang="vi-VN" sz="2500" dirty="0" smtClean="0"/>
              <a:t> </a:t>
            </a:r>
            <a:r>
              <a:rPr lang="en-US" altLang="vi-VN" sz="2500" dirty="0" err="1" smtClean="0"/>
              <a:t>cầu</a:t>
            </a:r>
            <a:r>
              <a:rPr lang="en-US" altLang="vi-VN" sz="2500" dirty="0" smtClean="0"/>
              <a:t> </a:t>
            </a:r>
            <a:r>
              <a:rPr lang="en-US" altLang="vi-VN" sz="2500" dirty="0" smtClean="0">
                <a:sym typeface="Symbol" panose="05050102010706020507" pitchFamily="18" charset="2"/>
              </a:rPr>
              <a:t>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số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thành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phần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liên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thông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tăng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lên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nếu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bỏ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dirty="0" err="1" smtClean="0">
                <a:sym typeface="Symbol" panose="05050102010706020507" pitchFamily="18" charset="2"/>
              </a:rPr>
              <a:t>cạnh</a:t>
            </a:r>
            <a:r>
              <a:rPr lang="en-US" altLang="vi-VN" sz="2500" dirty="0" smtClean="0">
                <a:sym typeface="Symbol" panose="05050102010706020507" pitchFamily="18" charset="2"/>
              </a:rPr>
              <a:t> </a:t>
            </a:r>
            <a:r>
              <a:rPr lang="en-US" altLang="vi-VN" sz="2500" i="1" dirty="0" smtClean="0">
                <a:sym typeface="Symbol" panose="05050102010706020507" pitchFamily="18" charset="2"/>
              </a:rPr>
              <a:t>e.</a:t>
            </a:r>
            <a:endParaRPr lang="en-US" altLang="vi-VN" sz="2500" dirty="0" smtClean="0">
              <a:sym typeface="Symbol" panose="05050102010706020507" pitchFamily="18" charset="2"/>
            </a:endParaRPr>
          </a:p>
        </p:txBody>
      </p:sp>
      <p:pic>
        <p:nvPicPr>
          <p:cNvPr id="5120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552950"/>
            <a:ext cx="594995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1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4AE62F-AB9C-4BC0-BA2F-460E59C24298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000" smtClean="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Tính liên thông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vi-VN" smtClean="0"/>
              <a:t>Tính liên thông trong đồ thị vô hướng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vi-VN" smtClean="0"/>
              <a:t>Định lý 1.9: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500" smtClean="0"/>
              <a:t>Đơn đồ thị </a:t>
            </a:r>
            <a:r>
              <a:rPr lang="en-US" altLang="vi-VN" sz="2500" i="1" smtClean="0"/>
              <a:t>G</a:t>
            </a:r>
            <a:r>
              <a:rPr lang="en-US" altLang="vi-VN" sz="2500" smtClean="0"/>
              <a:t> = (</a:t>
            </a:r>
            <a:r>
              <a:rPr lang="en-US" altLang="vi-VN" sz="2500" i="1" smtClean="0"/>
              <a:t>V</a:t>
            </a:r>
            <a:r>
              <a:rPr lang="en-US" altLang="vi-VN" sz="2500" smtClean="0"/>
              <a:t> , </a:t>
            </a:r>
            <a:r>
              <a:rPr lang="en-US" altLang="vi-VN" sz="2500" i="1" smtClean="0"/>
              <a:t>E</a:t>
            </a:r>
            <a:r>
              <a:rPr lang="en-US" altLang="vi-VN" sz="2500" smtClean="0"/>
              <a:t>) có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z="2200" smtClean="0"/>
              <a:t>|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| = </a:t>
            </a:r>
            <a:r>
              <a:rPr lang="en-US" altLang="vi-VN" sz="2200" i="1" smtClean="0"/>
              <a:t>n</a:t>
            </a:r>
            <a:r>
              <a:rPr lang="en-US" altLang="vi-VN" sz="2200" smtClean="0"/>
              <a:t> </a:t>
            </a:r>
            <a:r>
              <a:rPr lang="en-US" altLang="vi-VN" sz="2200" smtClean="0">
                <a:sym typeface="Symbol" panose="05050102010706020507" pitchFamily="18" charset="2"/>
              </a:rPr>
              <a:t> 2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vi-VN" sz="2200" smtClean="0">
                <a:sym typeface="Symbol" panose="05050102010706020507" pitchFamily="18" charset="2"/>
              </a:rPr>
              <a:t>deg(</a:t>
            </a:r>
            <a:r>
              <a:rPr lang="en-US" altLang="vi-VN" sz="2200" i="1" smtClean="0">
                <a:sym typeface="Symbol" panose="05050102010706020507" pitchFamily="18" charset="2"/>
              </a:rPr>
              <a:t>u</a:t>
            </a:r>
            <a:r>
              <a:rPr lang="en-US" altLang="vi-VN" sz="2200" smtClean="0">
                <a:sym typeface="Symbol" panose="05050102010706020507" pitchFamily="18" charset="2"/>
              </a:rPr>
              <a:t>) + deg(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) </a:t>
            </a:r>
            <a:r>
              <a:rPr lang="en-US" altLang="vi-VN" sz="2200" i="1" smtClean="0">
                <a:sym typeface="Symbol" panose="05050102010706020507" pitchFamily="18" charset="2"/>
              </a:rPr>
              <a:t> n, </a:t>
            </a:r>
            <a:r>
              <a:rPr lang="en-US" altLang="vi-VN" sz="2200" smtClean="0">
                <a:sym typeface="Symbol" panose="05050102010706020507" pitchFamily="18" charset="2"/>
              </a:rPr>
              <a:t></a:t>
            </a:r>
            <a:r>
              <a:rPr lang="en-US" altLang="vi-VN" sz="2200" i="1" smtClean="0">
                <a:sym typeface="Symbol" panose="05050102010706020507" pitchFamily="18" charset="2"/>
              </a:rPr>
              <a:t> u,v  V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vi-VN" sz="2500" smtClean="0">
                <a:sym typeface="Symbol" panose="05050102010706020507" pitchFamily="18" charset="2"/>
              </a:rPr>
              <a:t>thì </a:t>
            </a:r>
            <a:r>
              <a:rPr lang="en-US" altLang="vi-VN" sz="2500" i="1" smtClean="0">
                <a:sym typeface="Symbol" panose="05050102010706020507" pitchFamily="18" charset="2"/>
              </a:rPr>
              <a:t>G</a:t>
            </a:r>
            <a:r>
              <a:rPr lang="en-US" altLang="vi-VN" sz="2500" smtClean="0">
                <a:sym typeface="Symbol" panose="05050102010706020507" pitchFamily="18" charset="2"/>
              </a:rPr>
              <a:t> là đồ thị liên thông</a:t>
            </a:r>
          </a:p>
          <a:p>
            <a:pPr lvl="1" eaLnBrk="1" hangingPunct="1"/>
            <a:r>
              <a:rPr lang="en-US" altLang="vi-VN" sz="2200" smtClean="0"/>
              <a:t>Hệ quả: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vi-VN" sz="2200" smtClean="0"/>
              <a:t>Đơn đồ thị </a:t>
            </a:r>
            <a:r>
              <a:rPr lang="en-US" altLang="vi-VN" sz="2200" i="1" smtClean="0"/>
              <a:t>G</a:t>
            </a:r>
            <a:r>
              <a:rPr lang="en-US" altLang="vi-VN" sz="2200" smtClean="0"/>
              <a:t> = (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 , 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), |</a:t>
            </a:r>
            <a:r>
              <a:rPr lang="en-US" altLang="vi-VN" sz="2200" i="1" smtClean="0"/>
              <a:t>V</a:t>
            </a:r>
            <a:r>
              <a:rPr lang="en-US" altLang="vi-VN" sz="2200" smtClean="0"/>
              <a:t>| =</a:t>
            </a:r>
            <a:r>
              <a:rPr lang="en-US" altLang="vi-VN" sz="2200" i="1" smtClean="0"/>
              <a:t> n </a:t>
            </a:r>
            <a:r>
              <a:rPr lang="en-US" altLang="vi-VN" sz="2200" smtClean="0"/>
              <a:t>có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vi-VN" sz="2200" smtClean="0">
                <a:sym typeface="Symbol" panose="05050102010706020507" pitchFamily="18" charset="2"/>
              </a:rPr>
              <a:t>    deg(</a:t>
            </a:r>
            <a:r>
              <a:rPr lang="en-US" altLang="vi-VN" sz="2200" i="1" smtClean="0">
                <a:sym typeface="Symbol" panose="05050102010706020507" pitchFamily="18" charset="2"/>
              </a:rPr>
              <a:t>v</a:t>
            </a:r>
            <a:r>
              <a:rPr lang="en-US" altLang="vi-VN" sz="2200" smtClean="0">
                <a:sym typeface="Symbol" panose="05050102010706020507" pitchFamily="18" charset="2"/>
              </a:rPr>
              <a:t>) </a:t>
            </a:r>
            <a:r>
              <a:rPr lang="en-US" altLang="vi-VN" sz="2200" i="1" smtClean="0">
                <a:sym typeface="Symbol" panose="05050102010706020507" pitchFamily="18" charset="2"/>
              </a:rPr>
              <a:t> n/2, </a:t>
            </a:r>
            <a:r>
              <a:rPr lang="en-US" altLang="vi-VN" sz="2200" smtClean="0">
                <a:sym typeface="Symbol" panose="05050102010706020507" pitchFamily="18" charset="2"/>
              </a:rPr>
              <a:t></a:t>
            </a:r>
            <a:r>
              <a:rPr lang="en-US" altLang="vi-VN" sz="2200" i="1" smtClean="0">
                <a:sym typeface="Symbol" panose="05050102010706020507" pitchFamily="18" charset="2"/>
              </a:rPr>
              <a:t>v  V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vi-VN" sz="2200" smtClean="0">
                <a:sym typeface="Symbol" panose="05050102010706020507" pitchFamily="18" charset="2"/>
              </a:rPr>
              <a:t>thì </a:t>
            </a:r>
            <a:r>
              <a:rPr lang="en-US" altLang="vi-VN" sz="2200" i="1" smtClean="0">
                <a:sym typeface="Symbol" panose="05050102010706020507" pitchFamily="18" charset="2"/>
              </a:rPr>
              <a:t>G</a:t>
            </a:r>
            <a:r>
              <a:rPr lang="en-US" altLang="vi-VN" sz="2200" smtClean="0">
                <a:sym typeface="Symbol" panose="05050102010706020507" pitchFamily="18" charset="2"/>
              </a:rPr>
              <a:t> là đồ thị liên thông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2500" smtClean="0"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vi-VN" sz="2500" smtClean="0"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endParaRPr lang="en-US" altLang="vi-VN" sz="2200" smtClean="0">
              <a:sym typeface="Symbol" panose="05050102010706020507" pitchFamily="18" charset="2"/>
            </a:endParaRPr>
          </a:p>
        </p:txBody>
      </p:sp>
      <p:sp>
        <p:nvSpPr>
          <p:cNvPr id="52229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7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7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2E01DE-35FA-46C4-80F2-11FBA36A8852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000" smtClean="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Tính liên thông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vi-VN" dirty="0" err="1" smtClean="0"/>
              <a:t>Tính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liên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thông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trong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đồ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thị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vô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hướng</a:t>
            </a:r>
            <a:endParaRPr lang="en-US" altLang="vi-VN" dirty="0" smtClean="0"/>
          </a:p>
          <a:p>
            <a:pPr lvl="1" eaLnBrk="1" hangingPunct="1"/>
            <a:r>
              <a:rPr lang="en-US" altLang="vi-VN" dirty="0" err="1" smtClean="0"/>
              <a:t>Định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lý</a:t>
            </a:r>
            <a:r>
              <a:rPr lang="en-US" altLang="vi-VN" dirty="0" smtClean="0"/>
              <a:t> 1.10</a:t>
            </a:r>
          </a:p>
          <a:p>
            <a:pPr lvl="2" eaLnBrk="1" hangingPunct="1"/>
            <a:r>
              <a:rPr lang="en-US" altLang="vi-VN" i="1" dirty="0" err="1" smtClean="0"/>
              <a:t>Nếu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đồ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thị</a:t>
            </a:r>
            <a:r>
              <a:rPr lang="en-US" altLang="vi-VN" i="1" dirty="0" smtClean="0"/>
              <a:t> G </a:t>
            </a:r>
            <a:r>
              <a:rPr lang="en-US" altLang="vi-VN" i="1" dirty="0" err="1" smtClean="0"/>
              <a:t>có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đúng</a:t>
            </a:r>
            <a:r>
              <a:rPr lang="en-US" altLang="vi-VN" i="1" dirty="0" smtClean="0"/>
              <a:t> 2 </a:t>
            </a:r>
            <a:r>
              <a:rPr lang="en-US" altLang="vi-VN" i="1" dirty="0" err="1" smtClean="0"/>
              <a:t>đỉnh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bậc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lẻ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thì</a:t>
            </a:r>
            <a:r>
              <a:rPr lang="en-US" altLang="vi-VN" i="1" dirty="0" smtClean="0"/>
              <a:t> 2 </a:t>
            </a:r>
            <a:r>
              <a:rPr lang="en-US" altLang="vi-VN" i="1" dirty="0" err="1" smtClean="0"/>
              <a:t>đỉnh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này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phải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liên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thông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với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nhau</a:t>
            </a:r>
            <a:endParaRPr lang="en-US" altLang="vi-VN" i="1" dirty="0" smtClean="0"/>
          </a:p>
          <a:p>
            <a:pPr lvl="1" eaLnBrk="1" hangingPunct="1"/>
            <a:endParaRPr lang="en-US" altLang="vi-VN" dirty="0" smtClean="0"/>
          </a:p>
          <a:p>
            <a:pPr lvl="1" eaLnBrk="1" hangingPunct="1"/>
            <a:r>
              <a:rPr lang="en-US" altLang="vi-VN" dirty="0" err="1" smtClean="0"/>
              <a:t>Định</a:t>
            </a:r>
            <a:r>
              <a:rPr lang="en-US" altLang="vi-VN" dirty="0" smtClean="0"/>
              <a:t> </a:t>
            </a:r>
            <a:r>
              <a:rPr lang="en-US" altLang="vi-VN" dirty="0" err="1" smtClean="0"/>
              <a:t>lý</a:t>
            </a:r>
            <a:r>
              <a:rPr lang="en-US" altLang="vi-VN" dirty="0" smtClean="0"/>
              <a:t> 1.11</a:t>
            </a:r>
          </a:p>
          <a:p>
            <a:pPr lvl="2" eaLnBrk="1" hangingPunct="1"/>
            <a:r>
              <a:rPr lang="en-US" altLang="vi-VN" i="1" dirty="0" err="1" smtClean="0"/>
              <a:t>Đồ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thị</a:t>
            </a:r>
            <a:r>
              <a:rPr lang="en-US" altLang="vi-VN" i="1" dirty="0" smtClean="0"/>
              <a:t> G </a:t>
            </a:r>
            <a:r>
              <a:rPr lang="en-US" altLang="vi-VN" i="1" dirty="0" err="1" smtClean="0"/>
              <a:t>là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một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đồ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thị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lưỡng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phân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khi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và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chỉ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khi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mọi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chu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trình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của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nó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đều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có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độ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dài</a:t>
            </a:r>
            <a:r>
              <a:rPr lang="en-US" altLang="vi-VN" i="1" dirty="0" smtClean="0"/>
              <a:t> </a:t>
            </a:r>
            <a:r>
              <a:rPr lang="en-US" altLang="vi-VN" i="1" dirty="0" err="1" smtClean="0"/>
              <a:t>chẵn</a:t>
            </a:r>
            <a:endParaRPr lang="en-US" altLang="vi-VN" i="1" dirty="0" smtClean="0"/>
          </a:p>
          <a:p>
            <a:pPr lvl="1" eaLnBrk="1" hangingPunct="1"/>
            <a:endParaRPr lang="en-US" altLang="vi-VN" dirty="0" smtClean="0"/>
          </a:p>
        </p:txBody>
      </p:sp>
      <p:sp>
        <p:nvSpPr>
          <p:cNvPr id="54277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FFFFAC-2E08-45E3-A170-558E1D13BEBB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000" smtClean="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Tính liên thông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vi-VN" sz="2200" smtClean="0"/>
              <a:t>Tính liên thông trong đồ thị có hướng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vi-VN" sz="2000" smtClean="0"/>
              <a:t>Liên thông mạnh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vi-VN" sz="1900" smtClean="0"/>
              <a:t>Đồ thị có hướng G được gọi là liên thông mạnh nếu giữa 2 đỉnh u,v bất kỳ trong G luôn có đường đi </a:t>
            </a:r>
            <a:r>
              <a:rPr lang="en-US" altLang="vi-VN" sz="1900" smtClean="0">
                <a:sym typeface="Symbol" panose="05050102010706020507" pitchFamily="18" charset="2"/>
              </a:rPr>
              <a:t>từ v đến u và từ u đến v.</a:t>
            </a:r>
            <a:endParaRPr lang="en-US" altLang="vi-VN" sz="1900" smtClean="0"/>
          </a:p>
          <a:p>
            <a:pPr lvl="1" eaLnBrk="1" hangingPunct="1">
              <a:lnSpc>
                <a:spcPct val="80000"/>
              </a:lnSpc>
            </a:pPr>
            <a:r>
              <a:rPr lang="en-US" altLang="vi-VN" sz="2000" smtClean="0"/>
              <a:t>Liên thông yếu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vi-VN" sz="1900" smtClean="0"/>
              <a:t>Đồ thị có hướng G được gọi là liên thông yếu nếu đồ thị vô hướng tương ứng của nó là liên thông</a:t>
            </a:r>
          </a:p>
        </p:txBody>
      </p:sp>
      <p:sp>
        <p:nvSpPr>
          <p:cNvPr id="53253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  <p:pic>
        <p:nvPicPr>
          <p:cNvPr id="53254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5638800"/>
            <a:ext cx="2286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5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1431544">
            <a:off x="4476750" y="4970463"/>
            <a:ext cx="327025" cy="11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Ản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322" y="3973687"/>
            <a:ext cx="3971925" cy="1619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B0EFD3-1A52-40EA-8163-74787578F7E0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000" smtClean="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phép biến đổi đồ thị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vi-VN" sz="2600" smtClean="0"/>
              <a:t>Hợp của 2 đồ thị</a:t>
            </a:r>
          </a:p>
          <a:p>
            <a:pPr lvl="1" eaLnBrk="1" hangingPunct="1"/>
            <a:r>
              <a:rPr lang="en-US" altLang="vi-VN" sz="2200" smtClean="0"/>
              <a:t>G = (V, E)</a:t>
            </a:r>
          </a:p>
          <a:p>
            <a:pPr lvl="1" eaLnBrk="1" hangingPunct="1"/>
            <a:r>
              <a:rPr lang="en-US" altLang="vi-VN" sz="2200" smtClean="0"/>
              <a:t>G’ = (V’, E’)</a:t>
            </a:r>
          </a:p>
          <a:p>
            <a:pPr lvl="1" eaLnBrk="1" hangingPunct="1"/>
            <a:r>
              <a:rPr lang="en-US" altLang="vi-VN" sz="2200" smtClean="0"/>
              <a:t>G’’ = G </a:t>
            </a:r>
            <a:r>
              <a:rPr lang="en-US" altLang="vi-VN" sz="2200" smtClean="0">
                <a:sym typeface="Symbol" panose="05050102010706020507" pitchFamily="18" charset="2"/>
              </a:rPr>
              <a:t> G’ = (V’’, E’’)</a:t>
            </a:r>
          </a:p>
          <a:p>
            <a:pPr lvl="2" eaLnBrk="1" hangingPunct="1"/>
            <a:r>
              <a:rPr lang="en-US" altLang="vi-VN" sz="2100" smtClean="0">
                <a:sym typeface="Symbol" panose="05050102010706020507" pitchFamily="18" charset="2"/>
              </a:rPr>
              <a:t>V’’ = V  V’</a:t>
            </a:r>
          </a:p>
          <a:p>
            <a:pPr lvl="2" eaLnBrk="1" hangingPunct="1"/>
            <a:r>
              <a:rPr lang="en-US" altLang="vi-VN" sz="2100" smtClean="0">
                <a:sym typeface="Symbol" panose="05050102010706020507" pitchFamily="18" charset="2"/>
              </a:rPr>
              <a:t>E’’ = E  E’</a:t>
            </a:r>
          </a:p>
        </p:txBody>
      </p:sp>
      <p:pic>
        <p:nvPicPr>
          <p:cNvPr id="55301" name="Picture 11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2016125"/>
            <a:ext cx="4038600" cy="1533525"/>
          </a:xfrm>
          <a:noFill/>
        </p:spPr>
      </p:pic>
      <p:pic>
        <p:nvPicPr>
          <p:cNvPr id="55302" name="Picture 14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05438" y="4127500"/>
            <a:ext cx="2524125" cy="1876425"/>
          </a:xfrm>
        </p:spPr>
      </p:pic>
      <p:sp>
        <p:nvSpPr>
          <p:cNvPr id="55303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BD483A-A1CD-4C07-95AB-F324838E6DD6}" type="slidenum">
              <a:rPr lang="en-US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000" smtClean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vi-VN" smtClean="0"/>
              <a:t>Một số phép biến đổi đồ thị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29600" cy="2928937"/>
          </a:xfrm>
        </p:spPr>
        <p:txBody>
          <a:bodyPr/>
          <a:lstStyle/>
          <a:p>
            <a:pPr eaLnBrk="1" hangingPunct="1"/>
            <a:r>
              <a:rPr lang="en-US" altLang="vi-VN" sz="2400" smtClean="0"/>
              <a:t>Phép phân chia sơ cấp</a:t>
            </a:r>
          </a:p>
          <a:p>
            <a:pPr lvl="1" eaLnBrk="1" hangingPunct="1"/>
            <a:r>
              <a:rPr lang="en-US" altLang="vi-VN" sz="2200" smtClean="0"/>
              <a:t>Phép thay thế cạnh </a:t>
            </a:r>
            <a:r>
              <a:rPr lang="en-US" altLang="vi-VN" sz="2200" i="1" smtClean="0"/>
              <a:t>e</a:t>
            </a:r>
            <a:r>
              <a:rPr lang="en-US" altLang="vi-VN" sz="2200" smtClean="0"/>
              <a:t> = </a:t>
            </a:r>
            <a:r>
              <a:rPr lang="en-US" altLang="vi-VN" sz="2200" i="1" smtClean="0"/>
              <a:t>uv</a:t>
            </a:r>
            <a:r>
              <a:rPr lang="en-US" altLang="vi-VN" sz="2200" smtClean="0"/>
              <a:t> của G bởi một đỉnh mới </a:t>
            </a:r>
            <a:r>
              <a:rPr lang="en-US" altLang="vi-VN" sz="2200" i="1" smtClean="0"/>
              <a:t>w</a:t>
            </a:r>
            <a:r>
              <a:rPr lang="en-US" altLang="vi-VN" sz="2200" smtClean="0"/>
              <a:t> cùng với 2 cạnh </a:t>
            </a:r>
            <a:r>
              <a:rPr lang="en-US" altLang="vi-VN" sz="2200" i="1" smtClean="0"/>
              <a:t>uw</a:t>
            </a:r>
            <a:r>
              <a:rPr lang="en-US" altLang="vi-VN" sz="2200" smtClean="0"/>
              <a:t> và </a:t>
            </a:r>
            <a:r>
              <a:rPr lang="en-US" altLang="vi-VN" sz="2200" i="1" smtClean="0"/>
              <a:t>vw</a:t>
            </a:r>
          </a:p>
          <a:p>
            <a:pPr lvl="1" eaLnBrk="1" hangingPunct="1">
              <a:buClr>
                <a:schemeClr val="tx2"/>
              </a:buClr>
            </a:pPr>
            <a:r>
              <a:rPr lang="en-US" altLang="vi-VN" sz="2400" smtClean="0"/>
              <a:t>Đồng phôi</a:t>
            </a:r>
          </a:p>
          <a:p>
            <a:pPr lvl="1" eaLnBrk="1" hangingPunct="1"/>
            <a:r>
              <a:rPr lang="en-US" altLang="vi-VN" sz="2200" smtClean="0"/>
              <a:t>G và G’ gọi là đồng phôi nếu chúng có thể nhận được từ cùng một đồ thị bằng một dãy các phép phân chia sơ cấp</a:t>
            </a:r>
          </a:p>
          <a:p>
            <a:pPr lvl="1" eaLnBrk="1" hangingPunct="1"/>
            <a:r>
              <a:rPr lang="en-US" altLang="vi-VN" sz="2200" smtClean="0"/>
              <a:t>Hai đồ thị đồng phôi chưa chắc đẳng cấu với nhau</a:t>
            </a:r>
          </a:p>
        </p:txBody>
      </p:sp>
      <p:pic>
        <p:nvPicPr>
          <p:cNvPr id="56325" name="Picture 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4476750"/>
            <a:ext cx="3262313" cy="1700213"/>
          </a:xfrm>
        </p:spPr>
      </p:pic>
      <p:sp>
        <p:nvSpPr>
          <p:cNvPr id="56326" name="TextBox 9"/>
          <p:cNvSpPr txBox="1">
            <a:spLocks noChangeArrowheads="1"/>
          </p:cNvSpPr>
          <p:nvPr/>
        </p:nvSpPr>
        <p:spPr bwMode="auto">
          <a:xfrm>
            <a:off x="457200" y="6207125"/>
            <a:ext cx="320040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vi-V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2629</TotalTime>
  <Words>2638</Words>
  <Application>Microsoft Office PowerPoint</Application>
  <PresentationFormat>Trình chiếu Trên màn hình (4:3)</PresentationFormat>
  <Paragraphs>394</Paragraphs>
  <Slides>45</Slides>
  <Notes>7</Notes>
  <HiddenSlides>0</HiddenSlides>
  <MMClips>0</MMClips>
  <ScaleCrop>false</ScaleCrop>
  <HeadingPairs>
    <vt:vector size="8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Máy chủ nhúng OLE</vt:lpstr>
      </vt:variant>
      <vt:variant>
        <vt:i4>1</vt:i4>
      </vt:variant>
      <vt:variant>
        <vt:lpstr>Tiêu đề Bản chiếu</vt:lpstr>
      </vt:variant>
      <vt:variant>
        <vt:i4>45</vt:i4>
      </vt:variant>
    </vt:vector>
  </HeadingPairs>
  <TitlesOfParts>
    <vt:vector size="50" baseType="lpstr">
      <vt:lpstr>Arial</vt:lpstr>
      <vt:lpstr>Symbol</vt:lpstr>
      <vt:lpstr>Wingdings</vt:lpstr>
      <vt:lpstr>Network</vt:lpstr>
      <vt:lpstr>Equation</vt:lpstr>
      <vt:lpstr> CHƯƠNG 5: CÁC KHÁI NIỆM CƠ BẢN CỦA LÝ THUYẾT ĐỒ THỊ </vt:lpstr>
      <vt:lpstr>Các khái niệm cơ bản</vt:lpstr>
      <vt:lpstr>Các khái niệm cơ bản</vt:lpstr>
      <vt:lpstr>Các khái niệm cơ bản</vt:lpstr>
      <vt:lpstr>Biểu diễn đồ thị</vt:lpstr>
      <vt:lpstr>Biểu diễn đồ thị</vt:lpstr>
      <vt:lpstr>Biểu diễn đồ thị</vt:lpstr>
      <vt:lpstr>Biểu diễn đồ thị</vt:lpstr>
      <vt:lpstr>Biểu diễn đồ thị</vt:lpstr>
      <vt:lpstr>Biểu diễn đồ thị</vt:lpstr>
      <vt:lpstr>Biểu diễn đồ thị</vt:lpstr>
      <vt:lpstr>Các khái niệm cơ bản</vt:lpstr>
      <vt:lpstr>Các khái niệm cơ bản</vt:lpstr>
      <vt:lpstr>Các khái niệm cơ bản</vt:lpstr>
      <vt:lpstr>Các khái niệm cơ bản</vt:lpstr>
      <vt:lpstr>Các khái niệm cơ bản</vt:lpstr>
      <vt:lpstr>Các khái niệm cơ bản</vt:lpstr>
      <vt:lpstr>Một số đồ thị đặc biệt</vt:lpstr>
      <vt:lpstr>Một số đồ thị đặc biệt</vt:lpstr>
      <vt:lpstr>Một số đồ thị đặc biệt</vt:lpstr>
      <vt:lpstr>Một số đồ thị đặc biệt</vt:lpstr>
      <vt:lpstr>Một số đồ thị đặc biệt</vt:lpstr>
      <vt:lpstr>Một số đồ thị đặc biệt</vt:lpstr>
      <vt:lpstr>Một số đồ thị đặc biệt</vt:lpstr>
      <vt:lpstr>Sự đẳng cấu giữa các đồ thị</vt:lpstr>
      <vt:lpstr>Sự đẳng cấu giữa các đồ thị</vt:lpstr>
      <vt:lpstr>Sự đẳng cấu giữa các đồ thị</vt:lpstr>
      <vt:lpstr>Sự đẳng cấu giữa các đồ thị</vt:lpstr>
      <vt:lpstr>Đồ thị có hướng</vt:lpstr>
      <vt:lpstr>Đồ thị có hướng</vt:lpstr>
      <vt:lpstr>Đồ thị có hướng</vt:lpstr>
      <vt:lpstr>Đồ thị có hướng</vt:lpstr>
      <vt:lpstr>Đường đi và chu trình</vt:lpstr>
      <vt:lpstr>Đường đi và chu trình</vt:lpstr>
      <vt:lpstr>Đường đi và chu trình</vt:lpstr>
      <vt:lpstr>Đường đi và chu trình</vt:lpstr>
      <vt:lpstr>Tính liên thông</vt:lpstr>
      <vt:lpstr>Tính liên thông</vt:lpstr>
      <vt:lpstr>Tính liên thông</vt:lpstr>
      <vt:lpstr>Tính liên thông</vt:lpstr>
      <vt:lpstr>Tính liên thông</vt:lpstr>
      <vt:lpstr>Tính liên thông</vt:lpstr>
      <vt:lpstr>Tính liên thông</vt:lpstr>
      <vt:lpstr>Một số phép biến đổi đồ thị</vt:lpstr>
      <vt:lpstr>Một số phép biến đổi đồ thị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TOÁN RỜI RẠC  ỨNG DỤNG TRONG TIN HỌC</dc:title>
  <dc:creator>Huy</dc:creator>
  <cp:lastModifiedBy>Van Le Huynh My</cp:lastModifiedBy>
  <cp:revision>138</cp:revision>
  <cp:lastPrinted>2021-05-24T17:51:46Z</cp:lastPrinted>
  <dcterms:created xsi:type="dcterms:W3CDTF">2006-09-12T03:22:24Z</dcterms:created>
  <dcterms:modified xsi:type="dcterms:W3CDTF">2021-05-24T18:00:23Z</dcterms:modified>
</cp:coreProperties>
</file>